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du titre"/>
          <p:cNvSpPr txBox="1"/>
          <p:nvPr>
            <p:ph type="title"/>
          </p:nvPr>
        </p:nvSpPr>
        <p:spPr>
          <a:xfrm>
            <a:off x="1824780" y="769937"/>
            <a:ext cx="974344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Texte du titre</a:t>
            </a:r>
          </a:p>
        </p:txBody>
      </p:sp>
      <p:sp>
        <p:nvSpPr>
          <p:cNvPr id="3" name="Texte niveau 1…"/>
          <p:cNvSpPr txBox="1"/>
          <p:nvPr>
            <p:ph type="body" idx="1"/>
          </p:nvPr>
        </p:nvSpPr>
        <p:spPr>
          <a:xfrm>
            <a:off x="6797994" y="2438400"/>
            <a:ext cx="4770227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" name="Numéro de diapositive"/>
          <p:cNvSpPr txBox="1"/>
          <p:nvPr>
            <p:ph type="sldNum" sz="quarter" idx="2"/>
          </p:nvPr>
        </p:nvSpPr>
        <p:spPr>
          <a:xfrm>
            <a:off x="8469877" y="6232198"/>
            <a:ext cx="258623" cy="248304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lovable.dev/" TargetMode="External"/><Relationship Id="rId3" Type="http://schemas.openxmlformats.org/officeDocument/2006/relationships/hyperlink" Target="https://bolt.new/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566927" y="1135748"/>
            <a:ext cx="1005840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400">
                <a:solidFill>
                  <a:srgbClr val="2E6B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IDDIC 2026   ·   IA &amp; INNOVATION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566927" y="1519490"/>
            <a:ext cx="10058401" cy="1295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JOUR 4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566926" y="3209564"/>
            <a:ext cx="11057842" cy="530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8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Convaincre.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566928" y="4370456"/>
            <a:ext cx="8961120" cy="4945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600">
                <a:solidFill>
                  <a:srgbClr val="6E6E6E"/>
                </a:solidFill>
              </a:defRPr>
            </a:lvl1pPr>
          </a:lstStyle>
          <a:p>
            <a:pPr/>
            <a:r>
              <a:t>Dernière ligne droite : aligner le modèle économique, structurer un pitch et apprendre à raconter le chemin parcouru, du vertige de départ jusqu'au prototype.</a:t>
            </a:r>
          </a:p>
        </p:txBody>
      </p:sp>
      <p:sp>
        <p:nvSpPr>
          <p:cNvPr id="24" name="Shape 4"/>
          <p:cNvSpPr/>
          <p:nvPr/>
        </p:nvSpPr>
        <p:spPr>
          <a:xfrm>
            <a:off x="566926" y="5303520"/>
            <a:ext cx="5943603" cy="45720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" name="Text 5"/>
          <p:cNvSpPr txBox="1"/>
          <p:nvPr/>
        </p:nvSpPr>
        <p:spPr>
          <a:xfrm>
            <a:off x="566926" y="5464347"/>
            <a:ext cx="5943603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50" sz="1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LIVRABLE DU JOUR — M4 · BUSINESS PLAN, PITCH &amp; BMC FINALISÉ</a:t>
            </a:r>
          </a:p>
        </p:txBody>
      </p:sp>
      <p:pic>
        <p:nvPicPr>
          <p:cNvPr id="2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6927" y="6382510"/>
            <a:ext cx="868682" cy="223116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Text 6"/>
          <p:cNvSpPr txBox="1"/>
          <p:nvPr/>
        </p:nvSpPr>
        <p:spPr>
          <a:xfrm>
            <a:off x="8515807" y="6428738"/>
            <a:ext cx="3108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pc="200" sz="900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IDDIC 2026  ·  BREAKING AI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>
            <a:off x="566927" y="457200"/>
            <a:ext cx="1234442" cy="384048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" name="Text 1"/>
          <p:cNvSpPr txBox="1"/>
          <p:nvPr/>
        </p:nvSpPr>
        <p:spPr>
          <a:xfrm>
            <a:off x="566927" y="556674"/>
            <a:ext cx="1234443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00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JOUR 4</a:t>
            </a:r>
          </a:p>
        </p:txBody>
      </p:sp>
      <p:sp>
        <p:nvSpPr>
          <p:cNvPr id="31" name="Text 2"/>
          <p:cNvSpPr txBox="1"/>
          <p:nvPr/>
        </p:nvSpPr>
        <p:spPr>
          <a:xfrm>
            <a:off x="1984248" y="562815"/>
            <a:ext cx="731520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 FIL DU JOUR</a:t>
            </a:r>
          </a:p>
        </p:txBody>
      </p:sp>
      <p:sp>
        <p:nvSpPr>
          <p:cNvPr id="32" name="Text 3"/>
          <p:cNvSpPr txBox="1"/>
          <p:nvPr/>
        </p:nvSpPr>
        <p:spPr>
          <a:xfrm>
            <a:off x="566926" y="1024127"/>
            <a:ext cx="11057842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Ce que vous produisez aujourd'hui</a:t>
            </a:r>
          </a:p>
        </p:txBody>
      </p:sp>
      <p:sp>
        <p:nvSpPr>
          <p:cNvPr id="33" name="Shape 4"/>
          <p:cNvSpPr/>
          <p:nvPr/>
        </p:nvSpPr>
        <p:spPr>
          <a:xfrm>
            <a:off x="566927" y="1874520"/>
            <a:ext cx="7452361" cy="768098"/>
          </a:xfrm>
          <a:prstGeom prst="roundRect">
            <a:avLst>
              <a:gd name="adj" fmla="val 5952"/>
            </a:avLst>
          </a:prstGeom>
          <a:solidFill>
            <a:srgbClr val="F4F5F8"/>
          </a:solidFill>
          <a:ln w="12700">
            <a:solidFill>
              <a:srgbClr val="DCDFE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" name="Shape 5"/>
          <p:cNvSpPr/>
          <p:nvPr/>
        </p:nvSpPr>
        <p:spPr>
          <a:xfrm>
            <a:off x="713230" y="2020822"/>
            <a:ext cx="475490" cy="475490"/>
          </a:xfrm>
          <a:prstGeom prst="roundRect">
            <a:avLst>
              <a:gd name="adj" fmla="val 19231"/>
            </a:avLst>
          </a:prstGeom>
          <a:solidFill>
            <a:srgbClr val="2E6B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" name="Text 6"/>
          <p:cNvSpPr txBox="1"/>
          <p:nvPr/>
        </p:nvSpPr>
        <p:spPr>
          <a:xfrm>
            <a:off x="713230" y="2110528"/>
            <a:ext cx="475490" cy="296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6" name="Text 7"/>
          <p:cNvSpPr txBox="1"/>
          <p:nvPr/>
        </p:nvSpPr>
        <p:spPr>
          <a:xfrm>
            <a:off x="1353311" y="2048578"/>
            <a:ext cx="649224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Business plan (Fichier séparé) </a:t>
            </a:r>
          </a:p>
        </p:txBody>
      </p:sp>
      <p:sp>
        <p:nvSpPr>
          <p:cNvPr id="37" name="Text 8"/>
          <p:cNvSpPr txBox="1"/>
          <p:nvPr/>
        </p:nvSpPr>
        <p:spPr>
          <a:xfrm>
            <a:off x="1353311" y="2344727"/>
            <a:ext cx="6492243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E6E6E"/>
                </a:solidFill>
              </a:defRPr>
            </a:lvl1pPr>
          </a:lstStyle>
          <a:p>
            <a:pPr/>
            <a:r>
              <a:t>Poser les briques chiffrées, en cohérence avec votre BMC.</a:t>
            </a:r>
          </a:p>
        </p:txBody>
      </p:sp>
      <p:sp>
        <p:nvSpPr>
          <p:cNvPr id="38" name="Shape 9"/>
          <p:cNvSpPr/>
          <p:nvPr/>
        </p:nvSpPr>
        <p:spPr>
          <a:xfrm>
            <a:off x="566927" y="2734055"/>
            <a:ext cx="7452361" cy="768098"/>
          </a:xfrm>
          <a:prstGeom prst="roundRect">
            <a:avLst>
              <a:gd name="adj" fmla="val 5952"/>
            </a:avLst>
          </a:prstGeom>
          <a:solidFill>
            <a:srgbClr val="F4F5F8"/>
          </a:solidFill>
          <a:ln w="12700">
            <a:solidFill>
              <a:srgbClr val="DCDFE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" name="Shape 10"/>
          <p:cNvSpPr/>
          <p:nvPr/>
        </p:nvSpPr>
        <p:spPr>
          <a:xfrm>
            <a:off x="713230" y="2880360"/>
            <a:ext cx="475490" cy="475490"/>
          </a:xfrm>
          <a:prstGeom prst="roundRect">
            <a:avLst>
              <a:gd name="adj" fmla="val 19231"/>
            </a:avLst>
          </a:prstGeom>
          <a:solidFill>
            <a:srgbClr val="2E6B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" name="Text 11"/>
          <p:cNvSpPr txBox="1"/>
          <p:nvPr/>
        </p:nvSpPr>
        <p:spPr>
          <a:xfrm>
            <a:off x="713230" y="2970066"/>
            <a:ext cx="475490" cy="296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1" name="Text 12"/>
          <p:cNvSpPr txBox="1"/>
          <p:nvPr/>
        </p:nvSpPr>
        <p:spPr>
          <a:xfrm>
            <a:off x="1353311" y="2908113"/>
            <a:ext cx="649224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 structure du pitch</a:t>
            </a:r>
          </a:p>
        </p:txBody>
      </p:sp>
      <p:sp>
        <p:nvSpPr>
          <p:cNvPr id="42" name="Text 13"/>
          <p:cNvSpPr txBox="1"/>
          <p:nvPr/>
        </p:nvSpPr>
        <p:spPr>
          <a:xfrm>
            <a:off x="1353311" y="3204262"/>
            <a:ext cx="6492243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E6E6E"/>
                </a:solidFill>
              </a:defRPr>
            </a:lvl1pPr>
          </a:lstStyle>
          <a:p>
            <a:pPr/>
            <a:r>
              <a:t>Trois temps : le problème, pourquoi vous, la solution.</a:t>
            </a:r>
          </a:p>
        </p:txBody>
      </p:sp>
      <p:sp>
        <p:nvSpPr>
          <p:cNvPr id="43" name="Shape 14"/>
          <p:cNvSpPr/>
          <p:nvPr/>
        </p:nvSpPr>
        <p:spPr>
          <a:xfrm>
            <a:off x="566927" y="3593591"/>
            <a:ext cx="7452361" cy="768098"/>
          </a:xfrm>
          <a:prstGeom prst="roundRect">
            <a:avLst>
              <a:gd name="adj" fmla="val 5952"/>
            </a:avLst>
          </a:prstGeom>
          <a:solidFill>
            <a:srgbClr val="F4F5F8"/>
          </a:solidFill>
          <a:ln w="12700">
            <a:solidFill>
              <a:srgbClr val="DCDFE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" name="Shape 15"/>
          <p:cNvSpPr/>
          <p:nvPr/>
        </p:nvSpPr>
        <p:spPr>
          <a:xfrm>
            <a:off x="713230" y="3739896"/>
            <a:ext cx="475490" cy="475490"/>
          </a:xfrm>
          <a:prstGeom prst="roundRect">
            <a:avLst>
              <a:gd name="adj" fmla="val 19231"/>
            </a:avLst>
          </a:prstGeom>
          <a:solidFill>
            <a:srgbClr val="2E6B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" name="Text 16"/>
          <p:cNvSpPr txBox="1"/>
          <p:nvPr/>
        </p:nvSpPr>
        <p:spPr>
          <a:xfrm>
            <a:off x="713230" y="3829601"/>
            <a:ext cx="475490" cy="296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6" name="Text 17"/>
          <p:cNvSpPr txBox="1"/>
          <p:nvPr/>
        </p:nvSpPr>
        <p:spPr>
          <a:xfrm>
            <a:off x="1353311" y="3767650"/>
            <a:ext cx="649224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 BMC finalisé &amp; revu</a:t>
            </a:r>
          </a:p>
        </p:txBody>
      </p:sp>
      <p:sp>
        <p:nvSpPr>
          <p:cNvPr id="47" name="Text 18"/>
          <p:cNvSpPr txBox="1"/>
          <p:nvPr/>
        </p:nvSpPr>
        <p:spPr>
          <a:xfrm>
            <a:off x="1353311" y="4063798"/>
            <a:ext cx="6492243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E6E6E"/>
                </a:solidFill>
              </a:defRPr>
            </a:lvl1pPr>
          </a:lstStyle>
          <a:p>
            <a:pPr/>
            <a:r>
              <a:t>Le canvas complet, cohérent, validé avec le coach.</a:t>
            </a:r>
          </a:p>
        </p:txBody>
      </p:sp>
      <p:sp>
        <p:nvSpPr>
          <p:cNvPr id="48" name="Shape 24"/>
          <p:cNvSpPr/>
          <p:nvPr/>
        </p:nvSpPr>
        <p:spPr>
          <a:xfrm>
            <a:off x="566927" y="4423664"/>
            <a:ext cx="7452361" cy="768098"/>
          </a:xfrm>
          <a:prstGeom prst="roundRect">
            <a:avLst>
              <a:gd name="adj" fmla="val 5952"/>
            </a:avLst>
          </a:prstGeom>
          <a:solidFill>
            <a:srgbClr val="F4F5F8"/>
          </a:solidFill>
          <a:ln w="12700">
            <a:solidFill>
              <a:srgbClr val="DCDFE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" name="Shape 25"/>
          <p:cNvSpPr/>
          <p:nvPr/>
        </p:nvSpPr>
        <p:spPr>
          <a:xfrm>
            <a:off x="713230" y="4569967"/>
            <a:ext cx="475490" cy="475490"/>
          </a:xfrm>
          <a:prstGeom prst="roundRect">
            <a:avLst>
              <a:gd name="adj" fmla="val 19231"/>
            </a:avLst>
          </a:prstGeom>
          <a:solidFill>
            <a:srgbClr val="2E6B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" name="Text 26"/>
          <p:cNvSpPr txBox="1"/>
          <p:nvPr/>
        </p:nvSpPr>
        <p:spPr>
          <a:xfrm>
            <a:off x="713230" y="4659672"/>
            <a:ext cx="475490" cy="296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1" name="Text 27"/>
          <p:cNvSpPr txBox="1"/>
          <p:nvPr/>
        </p:nvSpPr>
        <p:spPr>
          <a:xfrm>
            <a:off x="1353311" y="4597721"/>
            <a:ext cx="649224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 bilan IA de la semaine</a:t>
            </a:r>
          </a:p>
        </p:txBody>
      </p:sp>
      <p:sp>
        <p:nvSpPr>
          <p:cNvPr id="52" name="Text 28"/>
          <p:cNvSpPr txBox="1"/>
          <p:nvPr/>
        </p:nvSpPr>
        <p:spPr>
          <a:xfrm>
            <a:off x="1353311" y="4893870"/>
            <a:ext cx="6492243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E6E6E"/>
                </a:solidFill>
              </a:defRPr>
            </a:lvl1pPr>
          </a:lstStyle>
          <a:p>
            <a:pPr/>
            <a:r>
              <a:t>Ce que l'IA vous a appris sur votre propre façon de travailler.</a:t>
            </a:r>
          </a:p>
        </p:txBody>
      </p:sp>
      <p:sp>
        <p:nvSpPr>
          <p:cNvPr id="53" name="Shape 29"/>
          <p:cNvSpPr/>
          <p:nvPr/>
        </p:nvSpPr>
        <p:spPr>
          <a:xfrm>
            <a:off x="8385047" y="1874520"/>
            <a:ext cx="3239721" cy="4206242"/>
          </a:xfrm>
          <a:prstGeom prst="roundRect">
            <a:avLst>
              <a:gd name="adj" fmla="val 1693"/>
            </a:avLst>
          </a:prstGeom>
          <a:solidFill>
            <a:srgbClr val="10131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5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59368" y="2185416"/>
            <a:ext cx="566930" cy="566930"/>
          </a:xfrm>
          <a:prstGeom prst="rect">
            <a:avLst/>
          </a:prstGeom>
          <a:ln w="12700">
            <a:miter lim="400000"/>
          </a:ln>
        </p:spPr>
      </p:pic>
      <p:sp>
        <p:nvSpPr>
          <p:cNvPr id="55" name="Text 30"/>
          <p:cNvSpPr txBox="1"/>
          <p:nvPr/>
        </p:nvSpPr>
        <p:spPr>
          <a:xfrm>
            <a:off x="8659368" y="2961893"/>
            <a:ext cx="273680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2E6B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+ EN FIN DE JOURNÉE</a:t>
            </a:r>
          </a:p>
        </p:txBody>
      </p:sp>
      <p:sp>
        <p:nvSpPr>
          <p:cNvPr id="56" name="Text 31"/>
          <p:cNvSpPr txBox="1"/>
          <p:nvPr/>
        </p:nvSpPr>
        <p:spPr>
          <a:xfrm>
            <a:off x="8659368" y="3216607"/>
            <a:ext cx="2736801" cy="333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 Journal IA</a:t>
            </a:r>
          </a:p>
        </p:txBody>
      </p:sp>
      <p:sp>
        <p:nvSpPr>
          <p:cNvPr id="57" name="Text 32"/>
          <p:cNvSpPr txBox="1"/>
          <p:nvPr/>
        </p:nvSpPr>
        <p:spPr>
          <a:xfrm>
            <a:off x="8659368" y="4171890"/>
            <a:ext cx="2691081" cy="876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300">
                <a:solidFill>
                  <a:srgbClr val="C7CCD8"/>
                </a:solidFill>
              </a:defRPr>
            </a:lvl1pPr>
          </a:lstStyle>
          <a:p>
            <a:pPr/>
            <a:r>
              <a:t>Le prototype abouti se fera en intersession, avec des outils comme Lovable. Aujourd'hui, on prend du recul sur toute la semaine avec l'IA.</a:t>
            </a:r>
          </a:p>
        </p:txBody>
      </p:sp>
      <p:pic>
        <p:nvPicPr>
          <p:cNvPr id="5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6927" y="6382510"/>
            <a:ext cx="868682" cy="223116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Text 33"/>
          <p:cNvSpPr txBox="1"/>
          <p:nvPr/>
        </p:nvSpPr>
        <p:spPr>
          <a:xfrm>
            <a:off x="8515807" y="6428738"/>
            <a:ext cx="3108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pc="200" sz="900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IDDIC 2026  ·  BREAKING AI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2"/>
          <p:cNvSpPr txBox="1"/>
          <p:nvPr/>
        </p:nvSpPr>
        <p:spPr>
          <a:xfrm>
            <a:off x="1865376" y="553672"/>
            <a:ext cx="73152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TEMPLATE 1 / 4</a:t>
            </a:r>
          </a:p>
        </p:txBody>
      </p:sp>
      <p:sp>
        <p:nvSpPr>
          <p:cNvPr id="62" name="Text 3"/>
          <p:cNvSpPr txBox="1"/>
          <p:nvPr/>
        </p:nvSpPr>
        <p:spPr>
          <a:xfrm>
            <a:off x="566926" y="1005838"/>
            <a:ext cx="110578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Business plan simplifié</a:t>
            </a:r>
          </a:p>
        </p:txBody>
      </p:sp>
      <p:pic>
        <p:nvPicPr>
          <p:cNvPr id="6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6927" y="6382510"/>
            <a:ext cx="868682" cy="223116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Text 25"/>
          <p:cNvSpPr txBox="1"/>
          <p:nvPr/>
        </p:nvSpPr>
        <p:spPr>
          <a:xfrm>
            <a:off x="8515807" y="6428738"/>
            <a:ext cx="3108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pc="200" sz="900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IDDIC 2026  ·  BREAKING AI</a:t>
            </a:r>
          </a:p>
        </p:txBody>
      </p:sp>
      <p:sp>
        <p:nvSpPr>
          <p:cNvPr id="65" name="Shape 0"/>
          <p:cNvSpPr/>
          <p:nvPr/>
        </p:nvSpPr>
        <p:spPr>
          <a:xfrm>
            <a:off x="566927" y="457200"/>
            <a:ext cx="1234442" cy="384048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" name="Text 1"/>
          <p:cNvSpPr txBox="1"/>
          <p:nvPr/>
        </p:nvSpPr>
        <p:spPr>
          <a:xfrm>
            <a:off x="566927" y="556674"/>
            <a:ext cx="1234443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00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JOUR 4</a:t>
            </a:r>
          </a:p>
        </p:txBody>
      </p:sp>
      <p:pic>
        <p:nvPicPr>
          <p:cNvPr id="67" name="vidéo-collée.png" descr="vidéo-collé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41418" y="1589766"/>
            <a:ext cx="6894302" cy="496913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2"/>
          <p:cNvSpPr txBox="1"/>
          <p:nvPr/>
        </p:nvSpPr>
        <p:spPr>
          <a:xfrm>
            <a:off x="1865376" y="553672"/>
            <a:ext cx="73152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TEMPLATE 2 / 4</a:t>
            </a:r>
          </a:p>
        </p:txBody>
      </p:sp>
      <p:sp>
        <p:nvSpPr>
          <p:cNvPr id="70" name="Text 3"/>
          <p:cNvSpPr txBox="1"/>
          <p:nvPr/>
        </p:nvSpPr>
        <p:spPr>
          <a:xfrm>
            <a:off x="566926" y="1005838"/>
            <a:ext cx="110578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 structure du pitch</a:t>
            </a:r>
          </a:p>
        </p:txBody>
      </p:sp>
      <p:sp>
        <p:nvSpPr>
          <p:cNvPr id="71" name="Text 4"/>
          <p:cNvSpPr txBox="1"/>
          <p:nvPr/>
        </p:nvSpPr>
        <p:spPr>
          <a:xfrm>
            <a:off x="566927" y="1755648"/>
            <a:ext cx="1087496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500">
                <a:solidFill>
                  <a:srgbClr val="6E6E6E"/>
                </a:solidFill>
              </a:defRPr>
            </a:lvl1pPr>
          </a:lstStyle>
          <a:p>
            <a:pPr/>
            <a:r>
              <a:t>Trois temps, une histoire</a:t>
            </a:r>
          </a:p>
        </p:txBody>
      </p:sp>
      <p:sp>
        <p:nvSpPr>
          <p:cNvPr id="72" name="Shape 5"/>
          <p:cNvSpPr/>
          <p:nvPr/>
        </p:nvSpPr>
        <p:spPr>
          <a:xfrm>
            <a:off x="566927" y="2194560"/>
            <a:ext cx="3503068" cy="3749041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" name="Shape 6"/>
          <p:cNvSpPr/>
          <p:nvPr/>
        </p:nvSpPr>
        <p:spPr>
          <a:xfrm>
            <a:off x="731519" y="2359150"/>
            <a:ext cx="457202" cy="45720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" name="Text 7"/>
          <p:cNvSpPr txBox="1"/>
          <p:nvPr/>
        </p:nvSpPr>
        <p:spPr>
          <a:xfrm>
            <a:off x="731519" y="2445855"/>
            <a:ext cx="457202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5" name="Text 8"/>
          <p:cNvSpPr txBox="1"/>
          <p:nvPr/>
        </p:nvSpPr>
        <p:spPr>
          <a:xfrm>
            <a:off x="1316735" y="2489060"/>
            <a:ext cx="258866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 PROBLÈME</a:t>
            </a:r>
          </a:p>
        </p:txBody>
      </p:sp>
      <p:sp>
        <p:nvSpPr>
          <p:cNvPr id="76" name="Text 9"/>
          <p:cNvSpPr txBox="1"/>
          <p:nvPr/>
        </p:nvSpPr>
        <p:spPr>
          <a:xfrm>
            <a:off x="749808" y="2944366"/>
            <a:ext cx="3137307" cy="30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i="1" sz="1100">
                <a:solidFill>
                  <a:srgbClr val="6E6E6E"/>
                </a:solidFill>
              </a:defRPr>
            </a:lvl1pPr>
          </a:lstStyle>
          <a:p>
            <a:pPr/>
            <a:r>
              <a:t>On dramatise. On plante le décor, on fait ressentir la douleur. Le jury doit se dire : « aïe, c'est vrai. »</a:t>
            </a:r>
          </a:p>
        </p:txBody>
      </p:sp>
      <p:sp>
        <p:nvSpPr>
          <p:cNvPr id="77" name="Shape 13"/>
          <p:cNvSpPr/>
          <p:nvPr/>
        </p:nvSpPr>
        <p:spPr>
          <a:xfrm>
            <a:off x="4344313" y="2194560"/>
            <a:ext cx="3503068" cy="3749041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" name="Shape 14"/>
          <p:cNvSpPr/>
          <p:nvPr/>
        </p:nvSpPr>
        <p:spPr>
          <a:xfrm>
            <a:off x="4508906" y="2359150"/>
            <a:ext cx="457202" cy="45720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" name="Text 15"/>
          <p:cNvSpPr txBox="1"/>
          <p:nvPr/>
        </p:nvSpPr>
        <p:spPr>
          <a:xfrm>
            <a:off x="4508906" y="2445855"/>
            <a:ext cx="457202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0" name="Text 16"/>
          <p:cNvSpPr txBox="1"/>
          <p:nvPr/>
        </p:nvSpPr>
        <p:spPr>
          <a:xfrm>
            <a:off x="5094120" y="2489060"/>
            <a:ext cx="2588669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POURQUOI NOUS</a:t>
            </a:r>
          </a:p>
        </p:txBody>
      </p:sp>
      <p:sp>
        <p:nvSpPr>
          <p:cNvPr id="81" name="Text 17"/>
          <p:cNvSpPr txBox="1"/>
          <p:nvPr/>
        </p:nvSpPr>
        <p:spPr>
          <a:xfrm>
            <a:off x="4527193" y="2944366"/>
            <a:ext cx="3137307" cy="30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i="1" sz="1100">
                <a:solidFill>
                  <a:srgbClr val="6E6E6E"/>
                </a:solidFill>
              </a:defRPr>
            </a:lvl1pPr>
          </a:lstStyle>
          <a:p>
            <a:pPr/>
            <a:r>
              <a:t>Notre légitimité. Ce qu'on a vu sur le terrain, ce qui nous rend crédibles pour résoudre ça.</a:t>
            </a:r>
          </a:p>
        </p:txBody>
      </p:sp>
      <p:sp>
        <p:nvSpPr>
          <p:cNvPr id="82" name="Shape 21"/>
          <p:cNvSpPr/>
          <p:nvPr/>
        </p:nvSpPr>
        <p:spPr>
          <a:xfrm>
            <a:off x="8121701" y="2194560"/>
            <a:ext cx="3503068" cy="3749041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" name="Shape 22"/>
          <p:cNvSpPr/>
          <p:nvPr/>
        </p:nvSpPr>
        <p:spPr>
          <a:xfrm>
            <a:off x="8286291" y="2359150"/>
            <a:ext cx="457202" cy="45720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" name="Text 23"/>
          <p:cNvSpPr txBox="1"/>
          <p:nvPr/>
        </p:nvSpPr>
        <p:spPr>
          <a:xfrm>
            <a:off x="8286291" y="2445855"/>
            <a:ext cx="457202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5" name="Text 24"/>
          <p:cNvSpPr txBox="1"/>
          <p:nvPr/>
        </p:nvSpPr>
        <p:spPr>
          <a:xfrm>
            <a:off x="8871508" y="2489060"/>
            <a:ext cx="258866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 SOLUTION</a:t>
            </a:r>
          </a:p>
        </p:txBody>
      </p:sp>
      <p:pic>
        <p:nvPicPr>
          <p:cNvPr id="8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6927" y="6382510"/>
            <a:ext cx="868682" cy="223116"/>
          </a:xfrm>
          <a:prstGeom prst="rect">
            <a:avLst/>
          </a:prstGeom>
          <a:ln w="12700">
            <a:miter lim="400000"/>
          </a:ln>
        </p:spPr>
      </p:pic>
      <p:sp>
        <p:nvSpPr>
          <p:cNvPr id="87" name="Text 29"/>
          <p:cNvSpPr txBox="1"/>
          <p:nvPr/>
        </p:nvSpPr>
        <p:spPr>
          <a:xfrm>
            <a:off x="8515807" y="6428738"/>
            <a:ext cx="3108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pc="200" sz="900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IDDIC 2026  ·  BREAKING AI</a:t>
            </a:r>
          </a:p>
        </p:txBody>
      </p:sp>
      <p:sp>
        <p:nvSpPr>
          <p:cNvPr id="88" name="Shape 0"/>
          <p:cNvSpPr/>
          <p:nvPr/>
        </p:nvSpPr>
        <p:spPr>
          <a:xfrm>
            <a:off x="566927" y="457200"/>
            <a:ext cx="1234442" cy="384048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" name="Text 1"/>
          <p:cNvSpPr txBox="1"/>
          <p:nvPr/>
        </p:nvSpPr>
        <p:spPr>
          <a:xfrm>
            <a:off x="566927" y="556674"/>
            <a:ext cx="1234443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00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JOUR 4</a:t>
            </a:r>
          </a:p>
        </p:txBody>
      </p:sp>
      <p:sp>
        <p:nvSpPr>
          <p:cNvPr id="90" name="Text 8"/>
          <p:cNvSpPr txBox="1"/>
          <p:nvPr/>
        </p:nvSpPr>
        <p:spPr>
          <a:xfrm>
            <a:off x="932688" y="3982069"/>
            <a:ext cx="2771546" cy="528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Le vertige de départ (</a:t>
            </a:r>
            <a:r>
              <a:rPr b="0"/>
              <a:t>ce qui vous a surpris et donner envie de creuser ce sujet) </a:t>
            </a:r>
          </a:p>
        </p:txBody>
      </p:sp>
      <p:sp>
        <p:nvSpPr>
          <p:cNvPr id="91" name="Text 14"/>
          <p:cNvSpPr txBox="1"/>
          <p:nvPr/>
        </p:nvSpPr>
        <p:spPr>
          <a:xfrm>
            <a:off x="932687" y="4744764"/>
            <a:ext cx="277154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 terrain</a:t>
            </a:r>
          </a:p>
        </p:txBody>
      </p:sp>
      <p:sp>
        <p:nvSpPr>
          <p:cNvPr id="92" name="Text 20"/>
          <p:cNvSpPr txBox="1"/>
          <p:nvPr/>
        </p:nvSpPr>
        <p:spPr>
          <a:xfrm>
            <a:off x="932687" y="5295937"/>
            <a:ext cx="277154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 besoin principal découvert</a:t>
            </a:r>
          </a:p>
        </p:txBody>
      </p:sp>
      <p:sp>
        <p:nvSpPr>
          <p:cNvPr id="93" name="Text 8"/>
          <p:cNvSpPr txBox="1"/>
          <p:nvPr/>
        </p:nvSpPr>
        <p:spPr>
          <a:xfrm>
            <a:off x="4703877" y="3982069"/>
            <a:ext cx="2771546" cy="528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Votre histoire de groupe </a:t>
            </a:r>
            <a:r>
              <a:rPr b="0"/>
              <a:t>(comment l’équipe a évoluée au fur et à mesure de l’IDDIC) </a:t>
            </a:r>
          </a:p>
        </p:txBody>
      </p:sp>
      <p:sp>
        <p:nvSpPr>
          <p:cNvPr id="94" name="Text 32"/>
          <p:cNvSpPr txBox="1"/>
          <p:nvPr/>
        </p:nvSpPr>
        <p:spPr>
          <a:xfrm>
            <a:off x="8475066" y="4080089"/>
            <a:ext cx="2771549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Détails slide suivante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2"/>
          <p:cNvSpPr txBox="1"/>
          <p:nvPr/>
        </p:nvSpPr>
        <p:spPr>
          <a:xfrm>
            <a:off x="1865376" y="553672"/>
            <a:ext cx="73152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TEMPLATE 2 / 4</a:t>
            </a:r>
          </a:p>
        </p:txBody>
      </p:sp>
      <p:sp>
        <p:nvSpPr>
          <p:cNvPr id="97" name="Text 3"/>
          <p:cNvSpPr txBox="1"/>
          <p:nvPr/>
        </p:nvSpPr>
        <p:spPr>
          <a:xfrm>
            <a:off x="566925" y="1005838"/>
            <a:ext cx="11057844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 structure du pitch</a:t>
            </a:r>
          </a:p>
        </p:txBody>
      </p:sp>
      <p:sp>
        <p:nvSpPr>
          <p:cNvPr id="98" name="Shape 21"/>
          <p:cNvSpPr/>
          <p:nvPr/>
        </p:nvSpPr>
        <p:spPr>
          <a:xfrm>
            <a:off x="554530" y="1698764"/>
            <a:ext cx="8731099" cy="424483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" name="Shape 22"/>
          <p:cNvSpPr/>
          <p:nvPr/>
        </p:nvSpPr>
        <p:spPr>
          <a:xfrm>
            <a:off x="920291" y="1851149"/>
            <a:ext cx="457203" cy="45720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" name="Text 23"/>
          <p:cNvSpPr txBox="1"/>
          <p:nvPr/>
        </p:nvSpPr>
        <p:spPr>
          <a:xfrm>
            <a:off x="920291" y="1937854"/>
            <a:ext cx="457203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01" name="Text 24"/>
          <p:cNvSpPr txBox="1"/>
          <p:nvPr/>
        </p:nvSpPr>
        <p:spPr>
          <a:xfrm>
            <a:off x="1505508" y="1981060"/>
            <a:ext cx="2588669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 SOLUTION</a:t>
            </a:r>
          </a:p>
        </p:txBody>
      </p:sp>
      <p:pic>
        <p:nvPicPr>
          <p:cNvPr id="10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6927" y="6382510"/>
            <a:ext cx="868682" cy="223117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ext 29"/>
          <p:cNvSpPr txBox="1"/>
          <p:nvPr/>
        </p:nvSpPr>
        <p:spPr>
          <a:xfrm>
            <a:off x="8515807" y="6428737"/>
            <a:ext cx="310896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pc="200" sz="900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IDDIC 2026  ·  BREAKING AI</a:t>
            </a:r>
          </a:p>
        </p:txBody>
      </p:sp>
      <p:sp>
        <p:nvSpPr>
          <p:cNvPr id="104" name="Shape 0"/>
          <p:cNvSpPr/>
          <p:nvPr/>
        </p:nvSpPr>
        <p:spPr>
          <a:xfrm>
            <a:off x="566927" y="457200"/>
            <a:ext cx="1234443" cy="384048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" name="Text 1"/>
          <p:cNvSpPr txBox="1"/>
          <p:nvPr/>
        </p:nvSpPr>
        <p:spPr>
          <a:xfrm>
            <a:off x="566926" y="556674"/>
            <a:ext cx="123444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00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JOUR 4</a:t>
            </a:r>
          </a:p>
        </p:txBody>
      </p:sp>
      <p:sp>
        <p:nvSpPr>
          <p:cNvPr id="106" name="Shape 7"/>
          <p:cNvSpPr/>
          <p:nvPr/>
        </p:nvSpPr>
        <p:spPr>
          <a:xfrm>
            <a:off x="1073717" y="2928612"/>
            <a:ext cx="2266114" cy="2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7" name="Text 8"/>
          <p:cNvSpPr txBox="1"/>
          <p:nvPr/>
        </p:nvSpPr>
        <p:spPr>
          <a:xfrm>
            <a:off x="1073717" y="3056628"/>
            <a:ext cx="2266115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111111"/>
                </a:solidFill>
              </a:defRPr>
            </a:pPr>
            <a:r>
              <a:t>Proposition de valeur</a:t>
            </a:r>
          </a:p>
          <a:p>
            <a:pPr>
              <a:defRPr i="1" sz="1100">
                <a:solidFill>
                  <a:srgbClr val="6E6E6E"/>
                </a:solidFill>
              </a:defRPr>
            </a:pPr>
            <a:r>
              <a:t>ce que vous apportez, le problème que vous résolvez.</a:t>
            </a:r>
          </a:p>
        </p:txBody>
      </p:sp>
      <p:sp>
        <p:nvSpPr>
          <p:cNvPr id="108" name="Text 10"/>
          <p:cNvSpPr txBox="1"/>
          <p:nvPr/>
        </p:nvSpPr>
        <p:spPr>
          <a:xfrm>
            <a:off x="3906757" y="2605892"/>
            <a:ext cx="2266114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LES CLIENTS</a:t>
            </a:r>
          </a:p>
        </p:txBody>
      </p:sp>
      <p:sp>
        <p:nvSpPr>
          <p:cNvPr id="109" name="Shape 11"/>
          <p:cNvSpPr/>
          <p:nvPr/>
        </p:nvSpPr>
        <p:spPr>
          <a:xfrm>
            <a:off x="3906757" y="2928612"/>
            <a:ext cx="2266114" cy="2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0" name="Text 12"/>
          <p:cNvSpPr txBox="1"/>
          <p:nvPr/>
        </p:nvSpPr>
        <p:spPr>
          <a:xfrm>
            <a:off x="3906757" y="3056628"/>
            <a:ext cx="2266114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111111"/>
                </a:solidFill>
              </a:defRPr>
            </a:pPr>
            <a:r>
              <a:t>Segments</a:t>
            </a:r>
          </a:p>
          <a:p>
            <a:pPr>
              <a:defRPr i="1" sz="1100">
                <a:solidFill>
                  <a:srgbClr val="6E6E6E"/>
                </a:solidFill>
              </a:defRPr>
            </a:pPr>
            <a:r>
              <a:t>à qui vous vous adressez.</a:t>
            </a:r>
          </a:p>
        </p:txBody>
      </p:sp>
      <p:sp>
        <p:nvSpPr>
          <p:cNvPr id="111" name="Text 16"/>
          <p:cNvSpPr txBox="1"/>
          <p:nvPr/>
        </p:nvSpPr>
        <p:spPr>
          <a:xfrm>
            <a:off x="1073717" y="4217841"/>
            <a:ext cx="2266114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LES COULISSES</a:t>
            </a:r>
          </a:p>
        </p:txBody>
      </p:sp>
      <p:sp>
        <p:nvSpPr>
          <p:cNvPr id="112" name="Shape 17"/>
          <p:cNvSpPr/>
          <p:nvPr/>
        </p:nvSpPr>
        <p:spPr>
          <a:xfrm>
            <a:off x="1073717" y="4540561"/>
            <a:ext cx="2266114" cy="2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3" name="Text 18"/>
          <p:cNvSpPr txBox="1"/>
          <p:nvPr/>
        </p:nvSpPr>
        <p:spPr>
          <a:xfrm>
            <a:off x="1073717" y="4668577"/>
            <a:ext cx="2266114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111111"/>
                </a:solidFill>
              </a:defRPr>
            </a:pPr>
            <a:r>
              <a:t>Activités clés</a:t>
            </a:r>
          </a:p>
          <a:p>
            <a:pPr>
              <a:defRPr i="1" sz="1100">
                <a:solidFill>
                  <a:srgbClr val="6E6E6E"/>
                </a:solidFill>
              </a:defRPr>
            </a:pPr>
            <a:r>
              <a:t>ce que vous devez faire.</a:t>
            </a:r>
          </a:p>
        </p:txBody>
      </p:sp>
      <p:sp>
        <p:nvSpPr>
          <p:cNvPr id="114" name="Text 24"/>
          <p:cNvSpPr txBox="1"/>
          <p:nvPr/>
        </p:nvSpPr>
        <p:spPr>
          <a:xfrm>
            <a:off x="3906757" y="4682681"/>
            <a:ext cx="2266114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111111"/>
                </a:solidFill>
              </a:defRPr>
            </a:pPr>
            <a:r>
              <a:t>Sources de revenus</a:t>
            </a:r>
          </a:p>
          <a:p>
            <a:pPr>
              <a:defRPr i="1" sz="1100">
                <a:solidFill>
                  <a:srgbClr val="6E6E6E"/>
                </a:solidFill>
              </a:defRPr>
            </a:pPr>
            <a:r>
              <a:t>comment vous gagnez.</a:t>
            </a:r>
          </a:p>
        </p:txBody>
      </p:sp>
      <p:sp>
        <p:nvSpPr>
          <p:cNvPr id="115" name="Text 25"/>
          <p:cNvSpPr txBox="1"/>
          <p:nvPr/>
        </p:nvSpPr>
        <p:spPr>
          <a:xfrm>
            <a:off x="3906757" y="5130738"/>
            <a:ext cx="2266114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111111"/>
                </a:solidFill>
              </a:defRPr>
            </a:pPr>
            <a:r>
              <a:t>Structure de coûts</a:t>
            </a:r>
          </a:p>
          <a:p>
            <a:pPr>
              <a:defRPr i="1" sz="1100">
                <a:solidFill>
                  <a:srgbClr val="6E6E6E"/>
                </a:solidFill>
              </a:defRPr>
            </a:pPr>
            <a:r>
              <a:t>ce que ça vous coûte.</a:t>
            </a:r>
          </a:p>
        </p:txBody>
      </p:sp>
      <p:sp>
        <p:nvSpPr>
          <p:cNvPr id="116" name="Text 6"/>
          <p:cNvSpPr txBox="1"/>
          <p:nvPr/>
        </p:nvSpPr>
        <p:spPr>
          <a:xfrm>
            <a:off x="1073717" y="2605892"/>
            <a:ext cx="2266115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L'OFFRE</a:t>
            </a:r>
          </a:p>
        </p:txBody>
      </p:sp>
      <p:sp>
        <p:nvSpPr>
          <p:cNvPr id="117" name="Text 16"/>
          <p:cNvSpPr txBox="1"/>
          <p:nvPr/>
        </p:nvSpPr>
        <p:spPr>
          <a:xfrm>
            <a:off x="3906757" y="4234179"/>
            <a:ext cx="2266114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MODÈLE ÉCONOMIQUE</a:t>
            </a:r>
          </a:p>
        </p:txBody>
      </p:sp>
      <p:sp>
        <p:nvSpPr>
          <p:cNvPr id="118" name="Shape 17"/>
          <p:cNvSpPr/>
          <p:nvPr/>
        </p:nvSpPr>
        <p:spPr>
          <a:xfrm>
            <a:off x="3906757" y="4556899"/>
            <a:ext cx="2266114" cy="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9" name="Text 10"/>
          <p:cNvSpPr txBox="1"/>
          <p:nvPr/>
        </p:nvSpPr>
        <p:spPr>
          <a:xfrm>
            <a:off x="9572837" y="2522091"/>
            <a:ext cx="2266114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VOTRE PROTOTYPE</a:t>
            </a:r>
          </a:p>
        </p:txBody>
      </p:sp>
      <p:sp>
        <p:nvSpPr>
          <p:cNvPr id="120" name="Shape 11"/>
          <p:cNvSpPr/>
          <p:nvPr/>
        </p:nvSpPr>
        <p:spPr>
          <a:xfrm>
            <a:off x="9572837" y="2844811"/>
            <a:ext cx="2266114" cy="2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1" name="Text 12"/>
          <p:cNvSpPr txBox="1"/>
          <p:nvPr/>
        </p:nvSpPr>
        <p:spPr>
          <a:xfrm>
            <a:off x="9572837" y="2972827"/>
            <a:ext cx="2266114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111111"/>
                </a:solidFill>
              </a:defRPr>
            </a:pPr>
            <a:r>
              <a:t>Démonstration</a:t>
            </a:r>
          </a:p>
          <a:p>
            <a:pPr>
              <a:defRPr i="1" sz="1100">
                <a:solidFill>
                  <a:srgbClr val="6E6E6E"/>
                </a:solidFill>
              </a:defRPr>
            </a:pPr>
            <a:r>
              <a:rPr>
                <a:solidFill>
                  <a:srgbClr val="111111"/>
                </a:solidFill>
              </a:rPr>
              <a:t>Montrer en direct ce que vous avez imaginez comme solution </a:t>
            </a:r>
          </a:p>
        </p:txBody>
      </p:sp>
      <p:sp>
        <p:nvSpPr>
          <p:cNvPr id="122" name="Text 10"/>
          <p:cNvSpPr txBox="1"/>
          <p:nvPr/>
        </p:nvSpPr>
        <p:spPr>
          <a:xfrm>
            <a:off x="9608426" y="4182348"/>
            <a:ext cx="247582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VOTRE BUSINESS PLAN</a:t>
            </a:r>
          </a:p>
        </p:txBody>
      </p:sp>
      <p:sp>
        <p:nvSpPr>
          <p:cNvPr id="123" name="Shape 11"/>
          <p:cNvSpPr/>
          <p:nvPr/>
        </p:nvSpPr>
        <p:spPr>
          <a:xfrm>
            <a:off x="9608426" y="4505067"/>
            <a:ext cx="2266114" cy="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4" name="Text 12"/>
          <p:cNvSpPr txBox="1"/>
          <p:nvPr/>
        </p:nvSpPr>
        <p:spPr>
          <a:xfrm>
            <a:off x="9608426" y="4633083"/>
            <a:ext cx="2266114" cy="464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111111"/>
                </a:solidFill>
              </a:defRPr>
            </a:pPr>
            <a:r>
              <a:t>A imprimer à part </a:t>
            </a:r>
          </a:p>
        </p:txBody>
      </p:sp>
      <p:sp>
        <p:nvSpPr>
          <p:cNvPr id="125" name="Text 10"/>
          <p:cNvSpPr txBox="1"/>
          <p:nvPr/>
        </p:nvSpPr>
        <p:spPr>
          <a:xfrm>
            <a:off x="6739797" y="2504292"/>
            <a:ext cx="2266114" cy="400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PIVOTS &amp; HÉSITATIONS</a:t>
            </a:r>
          </a:p>
        </p:txBody>
      </p:sp>
      <p:sp>
        <p:nvSpPr>
          <p:cNvPr id="126" name="Shape 11"/>
          <p:cNvSpPr/>
          <p:nvPr/>
        </p:nvSpPr>
        <p:spPr>
          <a:xfrm>
            <a:off x="6739797" y="2928612"/>
            <a:ext cx="2266114" cy="2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7" name="Text 12"/>
          <p:cNvSpPr txBox="1"/>
          <p:nvPr/>
        </p:nvSpPr>
        <p:spPr>
          <a:xfrm>
            <a:off x="6739797" y="3056628"/>
            <a:ext cx="2266114" cy="629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111111"/>
                </a:solidFill>
              </a:defRPr>
            </a:pPr>
            <a:r>
              <a:t>Parcours entrepreneurial </a:t>
            </a:r>
          </a:p>
          <a:p>
            <a:pPr>
              <a:defRPr i="1" sz="1100">
                <a:solidFill>
                  <a:srgbClr val="6E6E6E"/>
                </a:solidFill>
              </a:defRPr>
            </a:pPr>
            <a:r>
              <a:t>Qu’est ce qui vous a fait changer d’avis, vos moments de doute et comment vous avez réagi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2"/>
          <p:cNvSpPr txBox="1"/>
          <p:nvPr/>
        </p:nvSpPr>
        <p:spPr>
          <a:xfrm>
            <a:off x="1865376" y="553672"/>
            <a:ext cx="73152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TEMPLATE 3 / 4</a:t>
            </a:r>
          </a:p>
        </p:txBody>
      </p:sp>
      <p:sp>
        <p:nvSpPr>
          <p:cNvPr id="130" name="Text 3"/>
          <p:cNvSpPr txBox="1"/>
          <p:nvPr/>
        </p:nvSpPr>
        <p:spPr>
          <a:xfrm>
            <a:off x="566926" y="1005838"/>
            <a:ext cx="110578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 BMC finalisé &amp; revu avec le coach</a:t>
            </a:r>
          </a:p>
        </p:txBody>
      </p:sp>
      <p:sp>
        <p:nvSpPr>
          <p:cNvPr id="131" name="Shape 5"/>
          <p:cNvSpPr/>
          <p:nvPr/>
        </p:nvSpPr>
        <p:spPr>
          <a:xfrm>
            <a:off x="566928" y="2194560"/>
            <a:ext cx="5368900" cy="260604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" name="Text 6"/>
          <p:cNvSpPr txBox="1"/>
          <p:nvPr/>
        </p:nvSpPr>
        <p:spPr>
          <a:xfrm>
            <a:off x="749808" y="2404109"/>
            <a:ext cx="5003140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11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NOTRE CHECK DE COHÉRENCE</a:t>
            </a:r>
          </a:p>
        </p:txBody>
      </p:sp>
      <p:sp>
        <p:nvSpPr>
          <p:cNvPr id="133" name="Shape 7"/>
          <p:cNvSpPr/>
          <p:nvPr/>
        </p:nvSpPr>
        <p:spPr>
          <a:xfrm>
            <a:off x="768095" y="2743200"/>
            <a:ext cx="219457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Text 8"/>
          <p:cNvSpPr txBox="1"/>
          <p:nvPr/>
        </p:nvSpPr>
        <p:spPr>
          <a:xfrm>
            <a:off x="1097278" y="2792783"/>
            <a:ext cx="465567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5000"/>
              </a:lnSpc>
              <a:defRPr sz="1200">
                <a:solidFill>
                  <a:srgbClr val="111111"/>
                </a:solidFill>
              </a:defRPr>
            </a:lvl1pPr>
          </a:lstStyle>
          <a:p>
            <a:pPr/>
            <a:r>
              <a:t>Les 9 cases du canvas sont remplies</a:t>
            </a:r>
          </a:p>
        </p:txBody>
      </p:sp>
      <p:sp>
        <p:nvSpPr>
          <p:cNvPr id="135" name="Shape 9"/>
          <p:cNvSpPr/>
          <p:nvPr/>
        </p:nvSpPr>
        <p:spPr>
          <a:xfrm>
            <a:off x="768095" y="3163822"/>
            <a:ext cx="219457" cy="21945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Text 10"/>
          <p:cNvSpPr txBox="1"/>
          <p:nvPr/>
        </p:nvSpPr>
        <p:spPr>
          <a:xfrm>
            <a:off x="1097278" y="3213406"/>
            <a:ext cx="465567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5000"/>
              </a:lnSpc>
              <a:defRPr sz="1200">
                <a:solidFill>
                  <a:srgbClr val="111111"/>
                </a:solidFill>
              </a:defRPr>
            </a:lvl1pPr>
          </a:lstStyle>
          <a:p>
            <a:pPr/>
            <a:r>
              <a:t>La proposition de valeur répond à un besoin qu'on a vraiment observé</a:t>
            </a:r>
          </a:p>
        </p:txBody>
      </p:sp>
      <p:sp>
        <p:nvSpPr>
          <p:cNvPr id="137" name="Shape 11"/>
          <p:cNvSpPr/>
          <p:nvPr/>
        </p:nvSpPr>
        <p:spPr>
          <a:xfrm>
            <a:off x="768095" y="3584447"/>
            <a:ext cx="219457" cy="21945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" name="Text 12"/>
          <p:cNvSpPr txBox="1"/>
          <p:nvPr/>
        </p:nvSpPr>
        <p:spPr>
          <a:xfrm>
            <a:off x="1097278" y="3634030"/>
            <a:ext cx="465567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5000"/>
              </a:lnSpc>
              <a:defRPr sz="1200">
                <a:solidFill>
                  <a:srgbClr val="111111"/>
                </a:solidFill>
              </a:defRPr>
            </a:lvl1pPr>
          </a:lstStyle>
          <a:p>
            <a:pPr/>
            <a:r>
              <a:t>Les revenus sont cohérents avec nos segments de clientèle</a:t>
            </a:r>
          </a:p>
        </p:txBody>
      </p:sp>
      <p:sp>
        <p:nvSpPr>
          <p:cNvPr id="139" name="Shape 13"/>
          <p:cNvSpPr/>
          <p:nvPr/>
        </p:nvSpPr>
        <p:spPr>
          <a:xfrm>
            <a:off x="768095" y="4005071"/>
            <a:ext cx="219457" cy="21945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" name="Text 14"/>
          <p:cNvSpPr txBox="1"/>
          <p:nvPr/>
        </p:nvSpPr>
        <p:spPr>
          <a:xfrm>
            <a:off x="1097278" y="4054654"/>
            <a:ext cx="465567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5000"/>
              </a:lnSpc>
              <a:defRPr sz="1200">
                <a:solidFill>
                  <a:srgbClr val="111111"/>
                </a:solidFill>
              </a:defRPr>
            </a:lvl1pPr>
          </a:lstStyle>
          <a:p>
            <a:pPr/>
            <a:r>
              <a:t>On sait dire QUI paie, COMBIEN et POURQUOI il accepterait</a:t>
            </a:r>
          </a:p>
        </p:txBody>
      </p:sp>
      <p:sp>
        <p:nvSpPr>
          <p:cNvPr id="141" name="Shape 17"/>
          <p:cNvSpPr/>
          <p:nvPr/>
        </p:nvSpPr>
        <p:spPr>
          <a:xfrm>
            <a:off x="6255868" y="2194560"/>
            <a:ext cx="5368900" cy="260604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" name="Text 18"/>
          <p:cNvSpPr txBox="1"/>
          <p:nvPr/>
        </p:nvSpPr>
        <p:spPr>
          <a:xfrm>
            <a:off x="6438748" y="2385821"/>
            <a:ext cx="500314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20" sz="11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CE QUE LE COACH A CHALLENGÉ</a:t>
            </a:r>
          </a:p>
        </p:txBody>
      </p:sp>
      <p:pic>
        <p:nvPicPr>
          <p:cNvPr id="14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6927" y="6382510"/>
            <a:ext cx="868682" cy="223116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Text 20"/>
          <p:cNvSpPr txBox="1"/>
          <p:nvPr/>
        </p:nvSpPr>
        <p:spPr>
          <a:xfrm>
            <a:off x="8515807" y="6428738"/>
            <a:ext cx="3108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pc="200" sz="900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IDDIC 2026  ·  BREAKING AI</a:t>
            </a:r>
          </a:p>
        </p:txBody>
      </p:sp>
      <p:sp>
        <p:nvSpPr>
          <p:cNvPr id="145" name="Shape 0"/>
          <p:cNvSpPr/>
          <p:nvPr/>
        </p:nvSpPr>
        <p:spPr>
          <a:xfrm>
            <a:off x="566927" y="457200"/>
            <a:ext cx="1234442" cy="384048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Text 1"/>
          <p:cNvSpPr txBox="1"/>
          <p:nvPr/>
        </p:nvSpPr>
        <p:spPr>
          <a:xfrm>
            <a:off x="566927" y="556674"/>
            <a:ext cx="1234443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00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JOUR 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6927" y="6382510"/>
            <a:ext cx="868682" cy="223116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Text 15"/>
          <p:cNvSpPr txBox="1"/>
          <p:nvPr/>
        </p:nvSpPr>
        <p:spPr>
          <a:xfrm>
            <a:off x="8515807" y="6428738"/>
            <a:ext cx="3108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pc="200" sz="900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IDDIC 2026  ·  BREAKING AI</a:t>
            </a:r>
          </a:p>
        </p:txBody>
      </p:sp>
      <p:sp>
        <p:nvSpPr>
          <p:cNvPr id="150" name="Shape 0"/>
          <p:cNvSpPr/>
          <p:nvPr/>
        </p:nvSpPr>
        <p:spPr>
          <a:xfrm>
            <a:off x="566927" y="457200"/>
            <a:ext cx="1234442" cy="384048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" name="Text 1"/>
          <p:cNvSpPr txBox="1"/>
          <p:nvPr/>
        </p:nvSpPr>
        <p:spPr>
          <a:xfrm>
            <a:off x="566927" y="556674"/>
            <a:ext cx="1234443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00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JOUR 4</a:t>
            </a:r>
          </a:p>
        </p:txBody>
      </p:sp>
      <p:sp>
        <p:nvSpPr>
          <p:cNvPr id="152" name="Text 2"/>
          <p:cNvSpPr txBox="1"/>
          <p:nvPr/>
        </p:nvSpPr>
        <p:spPr>
          <a:xfrm>
            <a:off x="5046390" y="2508062"/>
            <a:ext cx="6771753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 Journal IA - 1 réponse par équipe </a:t>
            </a:r>
          </a:p>
        </p:txBody>
      </p:sp>
      <p:sp>
        <p:nvSpPr>
          <p:cNvPr id="153" name="Text 3"/>
          <p:cNvSpPr txBox="1"/>
          <p:nvPr/>
        </p:nvSpPr>
        <p:spPr>
          <a:xfrm>
            <a:off x="5070604" y="3351239"/>
            <a:ext cx="3289957" cy="646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6E6E6E"/>
                </a:solidFill>
              </a:defRPr>
            </a:lvl1pPr>
          </a:lstStyle>
          <a:p>
            <a:pPr/>
            <a:r>
              <a:t>Il est temps de faire le bilan sur l’usage de l’IA lors de cette édition de l’IDDIC et d’identifier les moments clés. </a:t>
            </a:r>
          </a:p>
        </p:txBody>
      </p:sp>
      <p:sp>
        <p:nvSpPr>
          <p:cNvPr id="154" name="Shape 25"/>
          <p:cNvSpPr/>
          <p:nvPr/>
        </p:nvSpPr>
        <p:spPr>
          <a:xfrm>
            <a:off x="587720" y="2100027"/>
            <a:ext cx="3270908" cy="42033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55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6781" y="2358662"/>
            <a:ext cx="274322" cy="274322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Text 26"/>
          <p:cNvSpPr txBox="1"/>
          <p:nvPr/>
        </p:nvSpPr>
        <p:spPr>
          <a:xfrm>
            <a:off x="1121291" y="2507348"/>
            <a:ext cx="2602317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79" sz="11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 QUESTIONNAIRE INDIVIDUEL </a:t>
            </a:r>
          </a:p>
        </p:txBody>
      </p:sp>
      <p:sp>
        <p:nvSpPr>
          <p:cNvPr id="157" name="Text 2"/>
          <p:cNvSpPr txBox="1"/>
          <p:nvPr/>
        </p:nvSpPr>
        <p:spPr>
          <a:xfrm>
            <a:off x="566926" y="877959"/>
            <a:ext cx="6496421" cy="851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Deux questionnaires doivent être complétés à la fin du jour 4</a:t>
            </a:r>
          </a:p>
        </p:txBody>
      </p:sp>
      <p:sp>
        <p:nvSpPr>
          <p:cNvPr id="158" name="Text 2"/>
          <p:cNvSpPr txBox="1"/>
          <p:nvPr/>
        </p:nvSpPr>
        <p:spPr>
          <a:xfrm>
            <a:off x="1865376" y="553672"/>
            <a:ext cx="6400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QUESTIONNAIRES</a:t>
            </a:r>
          </a:p>
        </p:txBody>
      </p:sp>
      <p:sp>
        <p:nvSpPr>
          <p:cNvPr id="159" name="Text 26"/>
          <p:cNvSpPr txBox="1"/>
          <p:nvPr/>
        </p:nvSpPr>
        <p:spPr>
          <a:xfrm>
            <a:off x="698355" y="5616839"/>
            <a:ext cx="3011871" cy="605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pc="79" sz="11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INDIQUEZ VOTRE NUMERO DE SUIVI DU PREMIER QUESTIONNAIRE.</a:t>
            </a:r>
            <a:br/>
            <a:br/>
            <a:r>
              <a:t>Mettre 0000 si vous ne le retrouvez pas </a:t>
            </a:r>
          </a:p>
        </p:txBody>
      </p:sp>
      <p:sp>
        <p:nvSpPr>
          <p:cNvPr id="160" name="Text 3"/>
          <p:cNvSpPr txBox="1"/>
          <p:nvPr/>
        </p:nvSpPr>
        <p:spPr>
          <a:xfrm>
            <a:off x="827100" y="2765726"/>
            <a:ext cx="279214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6E6E6E"/>
                </a:solidFill>
              </a:defRPr>
            </a:lvl1pPr>
          </a:lstStyle>
          <a:p>
            <a:pPr/>
            <a:r>
              <a:t>A remplir une seule fois par étudiant</a:t>
            </a:r>
          </a:p>
        </p:txBody>
      </p:sp>
      <p:pic>
        <p:nvPicPr>
          <p:cNvPr id="161" name="vidéo-collée.png" descr="vidéo-collé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623207" y="3142666"/>
            <a:ext cx="3108962" cy="3052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" name="vidéo-collée.png" descr="vidéo-collé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76800" y="3065634"/>
            <a:ext cx="2454980" cy="24325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14"/>
          <p:cNvSpPr txBox="1"/>
          <p:nvPr/>
        </p:nvSpPr>
        <p:spPr>
          <a:xfrm>
            <a:off x="925207" y="1514568"/>
            <a:ext cx="10618929" cy="545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4999"/>
              </a:lnSpc>
              <a:defRPr b="1">
                <a:solidFill>
                  <a:srgbClr val="111111"/>
                </a:solidFill>
              </a:defRPr>
            </a:pPr>
            <a:r>
              <a:t>ET MAINTENANT  : </a:t>
            </a:r>
            <a:r>
              <a:rPr b="0"/>
              <a:t>Vous avez quelques semaines pour construite un prototype abouti avec des outils comme Lovable (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https://lovable.dev/</a:t>
            </a:r>
            <a:r>
              <a:rPr b="0"/>
              <a:t>) ou Bolt (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https://bolt.new/</a:t>
            </a:r>
            <a:r>
              <a:rPr b="0"/>
              <a:t>)...</a:t>
            </a:r>
          </a:p>
        </p:txBody>
      </p:sp>
      <p:pic>
        <p:nvPicPr>
          <p:cNvPr id="165" name="Image 0" descr="Image 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66927" y="6382510"/>
            <a:ext cx="868682" cy="223116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Text 15"/>
          <p:cNvSpPr txBox="1"/>
          <p:nvPr/>
        </p:nvSpPr>
        <p:spPr>
          <a:xfrm>
            <a:off x="8515807" y="6428738"/>
            <a:ext cx="3108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pc="200" sz="900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IDDIC 2026  ·  BREAKING AI</a:t>
            </a:r>
          </a:p>
        </p:txBody>
      </p:sp>
      <p:sp>
        <p:nvSpPr>
          <p:cNvPr id="167" name="Ligne"/>
          <p:cNvSpPr/>
          <p:nvPr/>
        </p:nvSpPr>
        <p:spPr>
          <a:xfrm flipV="1">
            <a:off x="679615" y="1514568"/>
            <a:ext cx="1" cy="545828"/>
          </a:xfrm>
          <a:prstGeom prst="line">
            <a:avLst/>
          </a:prstGeom>
          <a:ln w="88900">
            <a:solidFill>
              <a:srgbClr val="3E6AF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Shape 0"/>
          <p:cNvSpPr/>
          <p:nvPr/>
        </p:nvSpPr>
        <p:spPr>
          <a:xfrm>
            <a:off x="566927" y="457200"/>
            <a:ext cx="2817204" cy="384048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Text 1"/>
          <p:cNvSpPr txBox="1"/>
          <p:nvPr/>
        </p:nvSpPr>
        <p:spPr>
          <a:xfrm>
            <a:off x="566927" y="556674"/>
            <a:ext cx="2817204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00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EN ATTENDANT LE PITCH</a:t>
            </a:r>
          </a:p>
        </p:txBody>
      </p:sp>
      <p:pic>
        <p:nvPicPr>
          <p:cNvPr id="170" name="vidéo-collée.png" descr="vidéo-collé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686457" y="2511327"/>
            <a:ext cx="6806386" cy="37445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