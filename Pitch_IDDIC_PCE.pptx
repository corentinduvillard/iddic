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84ae92fb-60b8-db91-3ee7-023a32d247d5}">
          <p14:sldIdLst>
            <p14:sldId id="256"/>
          </p14:sldIdLst>
        </p14:section>
        <p14:section name="Le problème" id="{5623b95b-25d6-be7e-f423-edc932b96e89}">
          <p14:sldIdLst>
            <p14:sldId id="257"/>
          </p14:sldIdLst>
        </p14:section>
        <p14:section name="Pourquoi nous" id="{5ff549de-9d22-b444-54e8-e9aae2b18c84}">
          <p14:sldIdLst>
            <p14:sldId id="258"/>
          </p14:sldIdLst>
        </p14:section>
        <p14:section name="La solution" id="{d85d406c-26bd-b2ba-e0dc-bf7135bdf0d3}">
          <p14:sldIdLst>
            <p14:sldId id="259"/>
            <p14:sldId id="260"/>
          </p14:sldIdLst>
        </p14:section>
        <p14:section name="Modèle économique" id="{caadb0ea-4a3b-17f8-042f-a990d449fe44}">
          <p14:sldIdLst>
            <p14:sldId id="261"/>
          </p14:sldIdLst>
        </p14:section>
        <p14:section name="Conclusion" id="{0c8fe2be-ad88-4d49-335c-6adee25988c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A28"/>
                </a:solidFill>
                <a:latin typeface="+mn-lt"/>
              </a:defRPr>
            </a:pPr>
            <a:r>
              <a:rPr sz="1400" b="0" i="0" u="none" strike="noStrike">
                <a:solidFill>
                  <a:srgbClr val="2B2A28"/>
                </a:solidFill>
                <a:latin typeface="+mn-lt"/>
              </a:rPr>
              <a:t>Prévisionnel (hypothèses)</a:t>
            </a:r>
          </a:p>
        </c:rich>
      </c:tx>
      <c:layout/>
      <c:overlay val="0"/>
    </c:title>
    <c:autoTitleDeleted val="0"/>
    <c:plotArea>
      <c:layout/>
      <c:barChart>
        <c:barDir val="col"/>
        <c:grouping val="clustered"/>
        <c:varyColors val="0"/>
        <c:ser>
          <c:idx val="0"/>
          <c:order val="0"/>
          <c:tx>
            <c:strRef>
              <c:f>Sheet1!$B$1</c:f>
              <c:strCache>
                <c:ptCount val="1"/>
                <c:pt idx="0">
                  <c:v>Chiffre d'affaires</c:v>
                </c:pt>
              </c:strCache>
            </c:strRef>
          </c:tx>
          <c:spPr>
            <a:solidFill>
              <a:srgbClr val="1B1A19"/>
            </a:solidFill>
            <a:effectLst/>
          </c:spPr>
          <c:invertIfNegative val="0"/>
          <c:dLbls>
            <c:numFmt formatCode="# ##0 €" sourceLinked="0"/>
            <c:txPr>
              <a:bodyPr/>
              <a:lstStyle/>
              <a:p>
                <a:pPr>
                  <a:defRPr b="0" i="0" strike="noStrike" sz="1100" u="none">
                    <a:solidFill>
                      <a:srgbClr val="2B2A28"/>
                    </a:solidFill>
                    <a:latin typeface="+mn-lt"/>
                  </a:defRPr>
                </a:pPr>
              </a:p>
            </c:txPr>
            <c:showLegendKey val="0"/>
            <c:showVal val="1"/>
            <c:showCatName val="0"/>
            <c:showSerName val="0"/>
            <c:showPercent val="0"/>
            <c:showBubbleSize val="0"/>
            <c:showLeaderLines val="0"/>
          </c:dLbls>
          <c:cat>
            <c:multiLvlStrRef>
              <c:f>Sheet1!$A$2:$A$4</c:f>
              <c:multiLvlStrCache>
                <c:ptCount val="3"/>
                <c:lvl>
                  <c:pt idx="0">
                    <c:v>Année 1</c:v>
                  </c:pt>
                  <c:pt idx="1">
                    <c:v>Année 2</c:v>
                  </c:pt>
                  <c:pt idx="2">
                    <c:v>Année 3</c:v>
                  </c:pt>
                </c:lvl>
              </c:multiLvlStrCache>
            </c:multiLvlStrRef>
          </c:cat>
          <c:val>
            <c:numRef>
              <c:f>Sheet1!$B$2:$B$4</c:f>
              <c:numCache>
                <c:formatCode>General</c:formatCode>
                <c:ptCount val="3"/>
                <c:pt idx="0">
                  <c:v>54000</c:v>
                </c:pt>
                <c:pt idx="1">
                  <c:v>170100</c:v>
                </c:pt>
                <c:pt idx="2">
                  <c:v>357210</c:v>
                </c:pt>
              </c:numCache>
            </c:numRef>
          </c:val>
        </c:ser>
        <c:ser>
          <c:idx val="1"/>
          <c:order val="1"/>
          <c:tx>
            <c:strRef>
              <c:f>Sheet1!$C$1</c:f>
              <c:strCache>
                <c:ptCount val="1"/>
                <c:pt idx="0">
                  <c:v>Résultat d'exploitation</c:v>
                </c:pt>
              </c:strCache>
            </c:strRef>
          </c:tx>
          <c:spPr>
            <a:solidFill>
              <a:srgbClr val="C8442B"/>
            </a:solidFill>
            <a:effectLst/>
          </c:spPr>
          <c:invertIfNegative val="0"/>
          <c:dLbls>
            <c:numFmt formatCode="# ##0 €" sourceLinked="0"/>
            <c:txPr>
              <a:bodyPr/>
              <a:lstStyle/>
              <a:p>
                <a:pPr>
                  <a:defRPr b="0" i="0" strike="noStrike" sz="1100" u="none">
                    <a:solidFill>
                      <a:srgbClr val="2B2A28"/>
                    </a:solidFill>
                    <a:latin typeface="+mn-lt"/>
                  </a:defRPr>
                </a:pPr>
              </a:p>
            </c:txPr>
            <c:showLegendKey val="0"/>
            <c:showVal val="1"/>
            <c:showCatName val="0"/>
            <c:showSerName val="0"/>
            <c:showPercent val="0"/>
            <c:showBubbleSize val="0"/>
            <c:showLeaderLines val="0"/>
          </c:dLbls>
          <c:cat>
            <c:multiLvlStrRef>
              <c:f>Sheet1!$A$2:$A$4</c:f>
              <c:multiLvlStrCache>
                <c:ptCount val="3"/>
                <c:lvl>
                  <c:pt idx="0">
                    <c:v>Année 1</c:v>
                  </c:pt>
                  <c:pt idx="1">
                    <c:v>Année 2</c:v>
                  </c:pt>
                  <c:pt idx="2">
                    <c:v>Année 3</c:v>
                  </c:pt>
                </c:lvl>
              </c:multiLvlStrCache>
            </c:multiLvlStrRef>
          </c:cat>
          <c:val>
            <c:numRef>
              <c:f>Sheet1!$C$2:$C$4</c:f>
              <c:numCache>
                <c:formatCode>General</c:formatCode>
                <c:ptCount val="3"/>
                <c:pt idx="0">
                  <c:v>-30700</c:v>
                </c:pt>
                <c:pt idx="1">
                  <c:v>13250</c:v>
                </c:pt>
                <c:pt idx="2">
                  <c:v>34785</c:v>
                </c:pt>
              </c:numCache>
            </c:numRef>
          </c:val>
        </c:ser>
        <c:dLbls>
          <c:numFmt formatCode="# ##0 €" sourceLinked="0"/>
          <c:txPr>
            <a:bodyPr/>
            <a:lstStyle/>
            <a:p>
              <a:pPr>
                <a:defRPr b="0" i="0" strike="noStrike" sz="1100" u="none">
                  <a:solidFill>
                    <a:srgbClr val="2B2A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86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2A2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[0:00 - 0:20] Demain, seras-tu augmenté ou diminué par l'IA ? C'est la question de départ de cet IDDIC. Nous, on l'a posée à ceux qui vivent de leur créativité. Et leur réponse nous a surpris.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[0:20 - 1:00] Ce qu'on a entendu sur le terrain, mot pour mot. « L'IA, ça fait cheap. » « Les réseaux sont inondés de contenus générés par l'IA. » « Le commun des mortels pense qu'avec l'IA tout est possible et rapide. » Conséquence : le créatif passe son temps à justifier ses délais et ses prix, et son client ne voit plus ce qu'il paie.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[1:00 - 1:30] Pourquoi nous ? Parce qu'on est entourés de créatifs : un photographe, une tatoueuse, des designers, un directeur artistique. On pensait qu'ils avaient besoin d'apprendre l'IA. Le terrain nous a corrigés : ils l'utilisent déjà. Leur vrai problème, c'est de prouver la valeur de leur travail humain. On a pivoté là-dessus. On est quatre : un DAF, un commercial, une personne marketing et communication, et un vérificateur.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[1:30 - 2:00] Notre réponse : PCE, Processus Créatif Éthique. Trois briques. Un label : le créatif dépose son processus, un jury l'examine et le certifie. Un devis pédagogique : il montre au client la part de réflexion humaine et la part d'exécution, avec ou sans IA. Et une vérification gratuite pour tout acheteur. L'IA reste un outil, la vision reste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[2:00 - 2:45] Démo en direct sur le prototype : on ouvre un devis certifié, puis une œuvre certifiée, et on montre la vérification côté acheteur. (Prototype HTML à finaliser avec le devis et l'œuvre.)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[2:45 - 3:15] Qui paie ? Le créatif, par un abonnement autour de 9 euros par mois. La vérification reste gratuite pour l'acheteur, c'est ce qui fait circuler le label. Nos tests nous ont appris que le client final paie à peine plus cher : le créatif absorbe le coût. Donc notre prix doit rester bas, et la valeur vendue, c'est la différenciation. Sur nos hypothèses, l'exploitation devient positive dès l'année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[3:15 - 3:45] On ne vous dit pas que tout est validé. Il nous reste à prouver trois choses : que les clients choisissent un créatif certifié, que les créatifs acceptent de partager leur processus sans le vivre comme du flicage, et que les acheteurs viennent vérifier. C'est le travail de l'intersession, avec le prototype. Demain, avec PCE, le créatif ne sera pas diminué par l'IA : sa touche humaine sera visible.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BRE">
    <p:bg>
      <p:bgPr>
        <a:solidFill>
          <a:srgbClr val="1B1A1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4980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731520" y="6355080"/>
            <a:ext cx="3657600" cy="274320"/>
          </a:xfrm>
          <a:prstGeom prst="rect">
            <a:avLst/>
          </a:prstGeom>
          <a:noFill/>
          <a:ln/>
        </p:spPr>
        <p:txBody>
          <a:bodyPr wrap="square" lIns="0" tIns="0" rIns="0" bIns="0" rtlCol="0" anchor="ctr"/>
          <a:lstStyle/>
          <a:p>
            <a:pPr indent="0" marL="0">
              <a:buNone/>
            </a:pPr>
            <a:r>
              <a:rPr lang="en-US" sz="1000" dirty="0">
                <a:solidFill>
                  <a:schemeClr val="accent2"/>
                </a:solidFill>
              </a:rPr>
              <a:t>IDDIC 2026  ·  PCE</a:t>
            </a:r>
            <a:endParaRPr lang="en-US" sz="1000" dirty="0"/>
          </a:p>
        </p:txBody>
      </p:sp>
      <p:sp>
        <p:nvSpPr>
          <p:cNvPr id="25" name="Slide Number Placeholder 0"/>
          <p:cNvSpPr>
            <a:spLocks noGrp="1"/>
          </p:cNvSpPr>
          <p:nvPr>
            <p:ph type="sldNum" sz="quarter" idx="4294967295"/>
          </p:nvPr>
        </p:nvSpPr>
        <p:spPr>
          <a:xfrm>
            <a:off x="1106424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498080" cy="1463040"/>
          </a:xfrm>
          <a:prstGeom prst="rect">
            <a:avLst/>
          </a:prstGeom>
          <a:noFill/>
          <a:ln/>
        </p:spPr>
        <p:txBody>
          <a:bodyPr wrap="square" lIns="0" tIns="0" rIns="0" bIns="0" rtlCol="0" anchor="t"/>
          <a:lstStyle/>
          <a:p>
            <a:pPr algn="l" indent="0" marL="0">
              <a:buNone/>
            </a:pPr>
            <a:r>
              <a:rPr lang="en-US" sz="4400" b="1" dirty="0">
                <a:solidFill>
                  <a:schemeClr val="bg1"/>
                </a:solidFill>
              </a:rPr>
              <a:t>Demain, seras-tu augmenté ou diminué ?</a:t>
            </a:r>
            <a:endParaRPr lang="en-US" sz="4400" dirty="0"/>
          </a:p>
        </p:txBody>
      </p:sp>
      <p:sp>
        <p:nvSpPr>
          <p:cNvPr id="3" name="Text 1"/>
          <p:cNvSpPr txBox="1"/>
          <p:nvPr/>
        </p:nvSpPr>
        <p:spPr>
          <a:xfrm>
            <a:off x="731520" y="3749040"/>
            <a:ext cx="7498080" cy="1097280"/>
          </a:xfrm>
          <a:prstGeom prst="rect">
            <a:avLst/>
          </a:prstGeom>
          <a:noFill/>
          <a:ln/>
        </p:spPr>
        <p:txBody>
          <a:bodyPr wrap="square" lIns="0" tIns="0" rIns="0" bIns="0" rtlCol="0" anchor="ctr"/>
          <a:lstStyle/>
          <a:p>
            <a:pPr indent="0" marL="0">
              <a:buNone/>
            </a:pPr>
            <a:r>
              <a:rPr lang="en-US" sz="2000" i="1" dirty="0">
                <a:solidFill>
                  <a:schemeClr val="accent6"/>
                </a:solidFill>
              </a:rPr>
              <a:t>Comment permettre aux créatifs de certifier leur « touche humaine » pour ne pas voir leur métier dévalorisé par l'IA ?</a:t>
            </a:r>
            <a:endParaRPr lang="en-US" sz="2000" dirty="0"/>
          </a:p>
        </p:txBody>
      </p:sp>
      <p:sp>
        <p:nvSpPr>
          <p:cNvPr id="4" name="Sceau"/>
          <p:cNvSpPr/>
          <p:nvPr/>
        </p:nvSpPr>
        <p:spPr>
          <a:xfrm>
            <a:off x="8869680" y="1828800"/>
            <a:ext cx="2651760" cy="2651760"/>
          </a:xfrm>
          <a:prstGeom prst="ellipse">
            <a:avLst/>
          </a:prstGeom>
          <a:solidFill>
            <a:schemeClr val="accent1"/>
          </a:solidFill>
          <a:ln w="12700">
            <a:solidFill>
              <a:schemeClr val="accent1"/>
            </a:solidFill>
            <a:prstDash val="solid"/>
          </a:ln>
        </p:spPr>
      </p:sp>
      <p:sp>
        <p:nvSpPr>
          <p:cNvPr id="5" name="Sceau contour"/>
          <p:cNvSpPr/>
          <p:nvPr/>
        </p:nvSpPr>
        <p:spPr>
          <a:xfrm>
            <a:off x="9055303" y="2014423"/>
            <a:ext cx="2280514" cy="2280514"/>
          </a:xfrm>
          <a:prstGeom prst="ellipse">
            <a:avLst/>
          </a:prstGeom>
          <a:ln w="19050">
            <a:solidFill>
              <a:schemeClr val="bg1"/>
            </a:solidFill>
            <a:prstDash val="dash"/>
          </a:ln>
        </p:spPr>
      </p:sp>
      <p:sp>
        <p:nvSpPr>
          <p:cNvPr id="6" name="Text 4"/>
          <p:cNvSpPr txBox="1"/>
          <p:nvPr/>
        </p:nvSpPr>
        <p:spPr>
          <a:xfrm>
            <a:off x="8869680" y="1828800"/>
            <a:ext cx="2651760" cy="26517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PCE</a:t>
            </a:r>
            <a:endParaRPr lang="en-US" sz="2000" dirty="0"/>
          </a:p>
          <a:p>
            <a:pPr algn="ctr" indent="0" marL="0">
              <a:buNone/>
            </a:pPr>
            <a:r>
              <a:rPr lang="en-US" sz="2000" b="1" dirty="0">
                <a:solidFill>
                  <a:schemeClr val="bg1"/>
                </a:solidFill>
                <a:latin typeface="Cambria" pitchFamily="34" charset="0"/>
                <a:ea typeface="Cambria" pitchFamily="34" charset="-122"/>
                <a:cs typeface="Cambria" pitchFamily="34" charset="-120"/>
              </a:rPr>
              <a:t>Processus</a:t>
            </a:r>
            <a:endParaRPr lang="en-US" sz="2000" dirty="0"/>
          </a:p>
          <a:p>
            <a:pPr algn="ctr" indent="0" marL="0">
              <a:buNone/>
            </a:pPr>
            <a:r>
              <a:rPr lang="en-US" sz="2000" b="1" dirty="0">
                <a:solidFill>
                  <a:schemeClr val="bg1"/>
                </a:solidFill>
                <a:latin typeface="Cambria" pitchFamily="34" charset="0"/>
                <a:ea typeface="Cambria" pitchFamily="34" charset="-122"/>
                <a:cs typeface="Cambria" pitchFamily="34" charset="-120"/>
              </a:rPr>
              <a:t>Créatif</a:t>
            </a:r>
            <a:endParaRPr lang="en-US" sz="2000" dirty="0"/>
          </a:p>
          <a:p>
            <a:pPr algn="ctr" indent="0" marL="0">
              <a:buNone/>
            </a:pPr>
            <a:r>
              <a:rPr lang="en-US" sz="2000" b="1" dirty="0">
                <a:solidFill>
                  <a:schemeClr val="bg1"/>
                </a:solidFill>
                <a:latin typeface="Cambria" pitchFamily="34" charset="0"/>
                <a:ea typeface="Cambria" pitchFamily="34" charset="-122"/>
                <a:cs typeface="Cambria" pitchFamily="34" charset="-120"/>
              </a:rPr>
              <a:t>Éthique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Le travail humain ne se voit plus</a:t>
            </a:r>
            <a:endParaRPr lang="en-US" sz="3600" dirty="0"/>
          </a:p>
        </p:txBody>
      </p:sp>
      <p:sp>
        <p:nvSpPr>
          <p:cNvPr id="3" name="Carte verbatim 1"/>
          <p:cNvSpPr/>
          <p:nvPr/>
        </p:nvSpPr>
        <p:spPr>
          <a:xfrm>
            <a:off x="731520" y="1737360"/>
            <a:ext cx="3383280" cy="2743200"/>
          </a:xfrm>
          <a:prstGeom prst="rect">
            <a:avLst/>
          </a:prstGeom>
          <a:solidFill>
            <a:schemeClr val="bg2"/>
          </a:solidFill>
          <a:ln w="12700">
            <a:solidFill>
              <a:schemeClr val="bg2"/>
            </a:solidFill>
            <a:prstDash val="solid"/>
          </a:ln>
        </p:spPr>
      </p:sp>
      <p:sp>
        <p:nvSpPr>
          <p:cNvPr id="4" name="Text 2"/>
          <p:cNvSpPr txBox="1"/>
          <p:nvPr/>
        </p:nvSpPr>
        <p:spPr>
          <a:xfrm>
            <a:off x="1005840" y="1920240"/>
            <a:ext cx="2834640" cy="1828800"/>
          </a:xfrm>
          <a:prstGeom prst="rect">
            <a:avLst/>
          </a:prstGeom>
          <a:noFill/>
          <a:ln/>
        </p:spPr>
        <p:txBody>
          <a:bodyPr wrap="square" lIns="0" tIns="0" rIns="0" bIns="0" rtlCol="0" anchor="t"/>
          <a:lstStyle/>
          <a:p>
            <a:pPr indent="0" marL="0">
              <a:buNone/>
            </a:pPr>
            <a:r>
              <a:rPr lang="en-US" sz="2000" i="1" dirty="0">
                <a:solidFill>
                  <a:schemeClr val="tx1"/>
                </a:solidFill>
                <a:latin typeface="Cambria" pitchFamily="34" charset="0"/>
                <a:ea typeface="Cambria" pitchFamily="34" charset="-122"/>
                <a:cs typeface="Cambria" pitchFamily="34" charset="-120"/>
              </a:rPr>
              <a:t>« L'IA, ça fait cheap. »</a:t>
            </a:r>
            <a:endParaRPr lang="en-US" sz="2000" dirty="0"/>
          </a:p>
        </p:txBody>
      </p:sp>
      <p:sp>
        <p:nvSpPr>
          <p:cNvPr id="5" name="Text 3"/>
          <p:cNvSpPr txBox="1"/>
          <p:nvPr/>
        </p:nvSpPr>
        <p:spPr>
          <a:xfrm>
            <a:off x="1005840" y="3886200"/>
            <a:ext cx="2834640" cy="365760"/>
          </a:xfrm>
          <a:prstGeom prst="rect">
            <a:avLst/>
          </a:prstGeom>
          <a:noFill/>
          <a:ln/>
        </p:spPr>
        <p:txBody>
          <a:bodyPr wrap="square" lIns="0" tIns="0" rIns="0" bIns="0" rtlCol="0" anchor="ctr"/>
          <a:lstStyle/>
          <a:p>
            <a:pPr indent="0" marL="0">
              <a:buNone/>
            </a:pPr>
            <a:r>
              <a:rPr lang="en-US" sz="1200" b="1" dirty="0">
                <a:solidFill>
                  <a:schemeClr val="accent1"/>
                </a:solidFill>
              </a:rPr>
              <a:t>Pâtissière, 27 ans</a:t>
            </a:r>
            <a:endParaRPr lang="en-US" sz="1200" dirty="0"/>
          </a:p>
        </p:txBody>
      </p:sp>
      <p:sp>
        <p:nvSpPr>
          <p:cNvPr id="6" name="Carte verbatim 2"/>
          <p:cNvSpPr/>
          <p:nvPr/>
        </p:nvSpPr>
        <p:spPr>
          <a:xfrm>
            <a:off x="4389120" y="1737360"/>
            <a:ext cx="3383280" cy="2743200"/>
          </a:xfrm>
          <a:prstGeom prst="rect">
            <a:avLst/>
          </a:prstGeom>
          <a:solidFill>
            <a:schemeClr val="bg2"/>
          </a:solidFill>
          <a:ln w="12700">
            <a:solidFill>
              <a:schemeClr val="bg2"/>
            </a:solidFill>
            <a:prstDash val="solid"/>
          </a:ln>
        </p:spPr>
      </p:sp>
      <p:sp>
        <p:nvSpPr>
          <p:cNvPr id="7" name="Text 5"/>
          <p:cNvSpPr txBox="1"/>
          <p:nvPr/>
        </p:nvSpPr>
        <p:spPr>
          <a:xfrm>
            <a:off x="4663440" y="1920240"/>
            <a:ext cx="2834640" cy="1828800"/>
          </a:xfrm>
          <a:prstGeom prst="rect">
            <a:avLst/>
          </a:prstGeom>
          <a:noFill/>
          <a:ln/>
        </p:spPr>
        <p:txBody>
          <a:bodyPr wrap="square" lIns="0" tIns="0" rIns="0" bIns="0" rtlCol="0" anchor="t"/>
          <a:lstStyle/>
          <a:p>
            <a:pPr indent="0" marL="0">
              <a:buNone/>
            </a:pPr>
            <a:r>
              <a:rPr lang="en-US" sz="2000" i="1" dirty="0">
                <a:solidFill>
                  <a:schemeClr val="tx1"/>
                </a:solidFill>
                <a:latin typeface="Cambria" pitchFamily="34" charset="0"/>
                <a:ea typeface="Cambria" pitchFamily="34" charset="-122"/>
                <a:cs typeface="Cambria" pitchFamily="34" charset="-120"/>
              </a:rPr>
              <a:t>« Les réseaux sont inondés de contenus générés par l'IA. »</a:t>
            </a:r>
            <a:endParaRPr lang="en-US" sz="2000" dirty="0"/>
          </a:p>
        </p:txBody>
      </p:sp>
      <p:sp>
        <p:nvSpPr>
          <p:cNvPr id="8" name="Text 6"/>
          <p:cNvSpPr txBox="1"/>
          <p:nvPr/>
        </p:nvSpPr>
        <p:spPr>
          <a:xfrm>
            <a:off x="4663440" y="3886200"/>
            <a:ext cx="2834640" cy="365760"/>
          </a:xfrm>
          <a:prstGeom prst="rect">
            <a:avLst/>
          </a:prstGeom>
          <a:noFill/>
          <a:ln/>
        </p:spPr>
        <p:txBody>
          <a:bodyPr wrap="square" lIns="0" tIns="0" rIns="0" bIns="0" rtlCol="0" anchor="ctr"/>
          <a:lstStyle/>
          <a:p>
            <a:pPr indent="0" marL="0">
              <a:buNone/>
            </a:pPr>
            <a:r>
              <a:rPr lang="en-US" sz="1200" b="1" dirty="0">
                <a:solidFill>
                  <a:schemeClr val="accent1"/>
                </a:solidFill>
              </a:rPr>
              <a:t>Tatoueuse, 23 ans</a:t>
            </a:r>
            <a:endParaRPr lang="en-US" sz="1200" dirty="0"/>
          </a:p>
        </p:txBody>
      </p:sp>
      <p:sp>
        <p:nvSpPr>
          <p:cNvPr id="9" name="Carte verbatim 3"/>
          <p:cNvSpPr/>
          <p:nvPr/>
        </p:nvSpPr>
        <p:spPr>
          <a:xfrm>
            <a:off x="8046720" y="1737360"/>
            <a:ext cx="3383280" cy="2743200"/>
          </a:xfrm>
          <a:prstGeom prst="rect">
            <a:avLst/>
          </a:prstGeom>
          <a:solidFill>
            <a:schemeClr val="bg2"/>
          </a:solidFill>
          <a:ln w="12700">
            <a:solidFill>
              <a:schemeClr val="bg2"/>
            </a:solidFill>
            <a:prstDash val="solid"/>
          </a:ln>
        </p:spPr>
      </p:sp>
      <p:sp>
        <p:nvSpPr>
          <p:cNvPr id="10" name="Text 8"/>
          <p:cNvSpPr txBox="1"/>
          <p:nvPr/>
        </p:nvSpPr>
        <p:spPr>
          <a:xfrm>
            <a:off x="8321040" y="1920240"/>
            <a:ext cx="2834640" cy="1828800"/>
          </a:xfrm>
          <a:prstGeom prst="rect">
            <a:avLst/>
          </a:prstGeom>
          <a:noFill/>
          <a:ln/>
        </p:spPr>
        <p:txBody>
          <a:bodyPr wrap="square" lIns="0" tIns="0" rIns="0" bIns="0" rtlCol="0" anchor="t"/>
          <a:lstStyle/>
          <a:p>
            <a:pPr indent="0" marL="0">
              <a:buNone/>
            </a:pPr>
            <a:r>
              <a:rPr lang="en-US" sz="2000" i="1" dirty="0">
                <a:solidFill>
                  <a:schemeClr val="tx1"/>
                </a:solidFill>
                <a:latin typeface="Cambria" pitchFamily="34" charset="0"/>
                <a:ea typeface="Cambria" pitchFamily="34" charset="-122"/>
                <a:cs typeface="Cambria" pitchFamily="34" charset="-120"/>
              </a:rPr>
              <a:t>« Le commun des mortels pense qu'avec l'IA tout est possible et rapide. »</a:t>
            </a:r>
            <a:endParaRPr lang="en-US" sz="2000" dirty="0"/>
          </a:p>
        </p:txBody>
      </p:sp>
      <p:sp>
        <p:nvSpPr>
          <p:cNvPr id="11" name="Text 9"/>
          <p:cNvSpPr txBox="1"/>
          <p:nvPr/>
        </p:nvSpPr>
        <p:spPr>
          <a:xfrm>
            <a:off x="8321040" y="3886200"/>
            <a:ext cx="2834640" cy="365760"/>
          </a:xfrm>
          <a:prstGeom prst="rect">
            <a:avLst/>
          </a:prstGeom>
          <a:noFill/>
          <a:ln/>
        </p:spPr>
        <p:txBody>
          <a:bodyPr wrap="square" lIns="0" tIns="0" rIns="0" bIns="0" rtlCol="0" anchor="ctr"/>
          <a:lstStyle/>
          <a:p>
            <a:pPr indent="0" marL="0">
              <a:buNone/>
            </a:pPr>
            <a:r>
              <a:rPr lang="en-US" sz="1200" b="1" dirty="0">
                <a:solidFill>
                  <a:schemeClr val="accent1"/>
                </a:solidFill>
              </a:rPr>
              <a:t>Directrice artistique freelance</a:t>
            </a:r>
            <a:endParaRPr lang="en-US" sz="1200" dirty="0"/>
          </a:p>
        </p:txBody>
      </p:sp>
      <p:sp>
        <p:nvSpPr>
          <p:cNvPr id="12" name="Text 10"/>
          <p:cNvSpPr txBox="1"/>
          <p:nvPr/>
        </p:nvSpPr>
        <p:spPr>
          <a:xfrm>
            <a:off x="731520" y="4937760"/>
            <a:ext cx="10698480" cy="731520"/>
          </a:xfrm>
          <a:prstGeom prst="rect">
            <a:avLst/>
          </a:prstGeom>
          <a:noFill/>
          <a:ln/>
        </p:spPr>
        <p:txBody>
          <a:bodyPr wrap="square" lIns="0" tIns="0" rIns="0" bIns="0" rtlCol="0" anchor="ctr"/>
          <a:lstStyle/>
          <a:p>
            <a:pPr indent="0" marL="0">
              <a:buNone/>
            </a:pPr>
            <a:r>
              <a:rPr lang="en-US" sz="1800" dirty="0">
                <a:solidFill>
                  <a:schemeClr val="tx1"/>
                </a:solidFill>
              </a:rPr>
              <a:t>Résultat : le créatif doit sans cesse justifier ses délais et ses tarifs, et son expertise est dévalorisée.</a:t>
            </a:r>
            <a:endParaRPr lang="en-US" sz="1800" dirty="0"/>
          </a:p>
        </p:txBody>
      </p:sp>
      <p:sp>
        <p:nvSpPr>
          <p:cNvPr id="25" name="Slide Number Placeholder 0"/>
          <p:cNvSpPr>
            <a:spLocks noGrp="1"/>
          </p:cNvSpPr>
          <p:nvPr>
            <p:ph type="sldNum" sz="quarter" idx="4294967295"/>
          </p:nvPr>
        </p:nvSpPr>
        <p:spPr>
          <a:xfrm>
            <a:off x="1106424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Ce que le terrain nous a appris</a:t>
            </a:r>
            <a:endParaRPr lang="en-US" sz="3600" dirty="0"/>
          </a:p>
        </p:txBody>
      </p:sp>
      <p:sp>
        <p:nvSpPr>
          <p:cNvPr id="3" name="Avant"/>
          <p:cNvSpPr/>
          <p:nvPr/>
        </p:nvSpPr>
        <p:spPr>
          <a:xfrm>
            <a:off x="731520" y="1737360"/>
            <a:ext cx="5120640" cy="1737360"/>
          </a:xfrm>
          <a:prstGeom prst="rect">
            <a:avLst/>
          </a:prstGeom>
          <a:solidFill>
            <a:schemeClr val="bg2"/>
          </a:solidFill>
          <a:ln w="12700">
            <a:solidFill>
              <a:schemeClr val="bg2"/>
            </a:solidFill>
            <a:prstDash val="solid"/>
          </a:ln>
        </p:spPr>
      </p:sp>
      <p:sp>
        <p:nvSpPr>
          <p:cNvPr id="4" name="Text 2"/>
          <p:cNvSpPr txBox="1"/>
          <p:nvPr/>
        </p:nvSpPr>
        <p:spPr>
          <a:xfrm>
            <a:off x="1005840" y="1874520"/>
            <a:ext cx="4572000" cy="1463040"/>
          </a:xfrm>
          <a:prstGeom prst="rect">
            <a:avLst/>
          </a:prstGeom>
          <a:noFill/>
          <a:ln/>
        </p:spPr>
        <p:txBody>
          <a:bodyPr wrap="square" lIns="0" tIns="0" rIns="0" bIns="0" rtlCol="0" anchor="t"/>
          <a:lstStyle/>
          <a:p>
            <a:pPr indent="0" marL="0">
              <a:buNone/>
            </a:pPr>
            <a:r>
              <a:rPr lang="en-US" sz="1400" b="1" dirty="0">
                <a:solidFill>
                  <a:schemeClr val="accent2"/>
                </a:solidFill>
              </a:rPr>
              <a:t>Au départ</a:t>
            </a:r>
            <a:endParaRPr lang="en-US" sz="1400" dirty="0"/>
          </a:p>
          <a:p>
            <a:pPr indent="0" marL="0">
              <a:buNone/>
            </a:pPr>
            <a:r>
              <a:rPr lang="en-US" sz="1800" dirty="0">
                <a:solidFill>
                  <a:schemeClr val="tx1"/>
                </a:solidFill>
              </a:rPr>
              <a:t>Aider les futurs designers à maîtriser les usages de l'IA.</a:t>
            </a:r>
            <a:endParaRPr lang="en-US" sz="1400" dirty="0"/>
          </a:p>
        </p:txBody>
      </p:sp>
      <p:sp>
        <p:nvSpPr>
          <p:cNvPr id="5" name="Apres"/>
          <p:cNvSpPr/>
          <p:nvPr/>
        </p:nvSpPr>
        <p:spPr>
          <a:xfrm>
            <a:off x="6309360" y="1737360"/>
            <a:ext cx="5120640" cy="1737360"/>
          </a:xfrm>
          <a:prstGeom prst="rect">
            <a:avLst/>
          </a:prstGeom>
          <a:solidFill>
            <a:schemeClr val="tx1"/>
          </a:solidFill>
          <a:ln w="12700">
            <a:solidFill>
              <a:schemeClr val="tx1"/>
            </a:solidFill>
            <a:prstDash val="solid"/>
          </a:ln>
        </p:spPr>
      </p:sp>
      <p:sp>
        <p:nvSpPr>
          <p:cNvPr id="6" name="Text 4"/>
          <p:cNvSpPr txBox="1"/>
          <p:nvPr/>
        </p:nvSpPr>
        <p:spPr>
          <a:xfrm>
            <a:off x="6583680" y="1874520"/>
            <a:ext cx="4572000" cy="1463040"/>
          </a:xfrm>
          <a:prstGeom prst="rect">
            <a:avLst/>
          </a:prstGeom>
          <a:noFill/>
          <a:ln/>
        </p:spPr>
        <p:txBody>
          <a:bodyPr wrap="square" lIns="0" tIns="0" rIns="0" bIns="0" rtlCol="0" anchor="t"/>
          <a:lstStyle/>
          <a:p>
            <a:pPr indent="0" marL="0">
              <a:buNone/>
            </a:pPr>
            <a:r>
              <a:rPr lang="en-US" sz="1400" b="1" dirty="0">
                <a:solidFill>
                  <a:schemeClr val="accent3"/>
                </a:solidFill>
              </a:rPr>
              <a:t>Sur le terrain</a:t>
            </a:r>
            <a:endParaRPr lang="en-US" sz="1400" dirty="0"/>
          </a:p>
          <a:p>
            <a:pPr indent="0" marL="0">
              <a:buNone/>
            </a:pPr>
            <a:r>
              <a:rPr lang="en-US" sz="1800" dirty="0">
                <a:solidFill>
                  <a:schemeClr val="bg1"/>
                </a:solidFill>
              </a:rPr>
              <a:t>Ils savent déjà utiliser l'IA. Leur vrai problème : prouver la valeur de leur travail humain.</a:t>
            </a:r>
            <a:endParaRPr lang="en-US" sz="1400" dirty="0"/>
          </a:p>
        </p:txBody>
      </p:sp>
      <p:sp>
        <p:nvSpPr>
          <p:cNvPr id="7" name="Text 5"/>
          <p:cNvSpPr txBox="1"/>
          <p:nvPr/>
        </p:nvSpPr>
        <p:spPr>
          <a:xfrm>
            <a:off x="5852160" y="2286000"/>
            <a:ext cx="457200" cy="548640"/>
          </a:xfrm>
          <a:prstGeom prst="rect">
            <a:avLst/>
          </a:prstGeom>
          <a:noFill/>
          <a:ln/>
        </p:spPr>
        <p:txBody>
          <a:bodyPr wrap="square" lIns="0" tIns="0" rIns="0" bIns="0" rtlCol="0" anchor="ctr"/>
          <a:lstStyle/>
          <a:p>
            <a:pPr algn="ctr" indent="0" marL="0">
              <a:buNone/>
            </a:pPr>
            <a:r>
              <a:rPr lang="en-US" sz="2800" dirty="0">
                <a:solidFill>
                  <a:schemeClr val="accent1"/>
                </a:solidFill>
              </a:rPr>
              <a:t>→</a:t>
            </a:r>
            <a:endParaRPr lang="en-US" sz="2800" dirty="0"/>
          </a:p>
        </p:txBody>
      </p:sp>
      <p:sp>
        <p:nvSpPr>
          <p:cNvPr id="8" name="Pastille DAF"/>
          <p:cNvSpPr/>
          <p:nvPr/>
        </p:nvSpPr>
        <p:spPr>
          <a:xfrm>
            <a:off x="731520" y="4023360"/>
            <a:ext cx="640080" cy="640080"/>
          </a:xfrm>
          <a:prstGeom prst="ellipse">
            <a:avLst/>
          </a:prstGeom>
          <a:solidFill>
            <a:schemeClr val="accent1"/>
          </a:solidFill>
          <a:ln w="12700">
            <a:solidFill>
              <a:schemeClr val="accent1"/>
            </a:solidFill>
            <a:prstDash val="solid"/>
          </a:ln>
        </p:spPr>
      </p:sp>
      <p:sp>
        <p:nvSpPr>
          <p:cNvPr id="9" name="Text 7"/>
          <p:cNvSpPr txBox="1"/>
          <p:nvPr/>
        </p:nvSpPr>
        <p:spPr>
          <a:xfrm>
            <a:off x="731520" y="4023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8"/>
          <p:cNvSpPr txBox="1"/>
          <p:nvPr/>
        </p:nvSpPr>
        <p:spPr>
          <a:xfrm>
            <a:off x="1508760" y="4023360"/>
            <a:ext cx="1828800" cy="640080"/>
          </a:xfrm>
          <a:prstGeom prst="rect">
            <a:avLst/>
          </a:prstGeom>
          <a:noFill/>
          <a:ln/>
        </p:spPr>
        <p:txBody>
          <a:bodyPr wrap="square" lIns="0" tIns="0" rIns="0" bIns="0" rtlCol="0" anchor="ctr"/>
          <a:lstStyle/>
          <a:p>
            <a:pPr indent="0" marL="0">
              <a:buNone/>
            </a:pPr>
            <a:r>
              <a:rPr lang="en-US" sz="1600" b="1" dirty="0">
                <a:solidFill>
                  <a:schemeClr val="tx1"/>
                </a:solidFill>
              </a:rPr>
              <a:t>DAF</a:t>
            </a:r>
            <a:endParaRPr lang="en-US" sz="1600" dirty="0"/>
          </a:p>
        </p:txBody>
      </p:sp>
      <p:sp>
        <p:nvSpPr>
          <p:cNvPr id="11" name="Pastille Commercial"/>
          <p:cNvSpPr/>
          <p:nvPr/>
        </p:nvSpPr>
        <p:spPr>
          <a:xfrm>
            <a:off x="3474720" y="4023360"/>
            <a:ext cx="640080" cy="640080"/>
          </a:xfrm>
          <a:prstGeom prst="ellipse">
            <a:avLst/>
          </a:prstGeom>
          <a:solidFill>
            <a:schemeClr val="accent1"/>
          </a:solidFill>
          <a:ln w="12700">
            <a:solidFill>
              <a:schemeClr val="accent1"/>
            </a:solidFill>
            <a:prstDash val="solid"/>
          </a:ln>
        </p:spPr>
      </p:sp>
      <p:sp>
        <p:nvSpPr>
          <p:cNvPr id="12" name="Text 10"/>
          <p:cNvSpPr txBox="1"/>
          <p:nvPr/>
        </p:nvSpPr>
        <p:spPr>
          <a:xfrm>
            <a:off x="3474720" y="4023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4251960" y="4023360"/>
            <a:ext cx="1828800" cy="640080"/>
          </a:xfrm>
          <a:prstGeom prst="rect">
            <a:avLst/>
          </a:prstGeom>
          <a:noFill/>
          <a:ln/>
        </p:spPr>
        <p:txBody>
          <a:bodyPr wrap="square" lIns="0" tIns="0" rIns="0" bIns="0" rtlCol="0" anchor="ctr"/>
          <a:lstStyle/>
          <a:p>
            <a:pPr indent="0" marL="0">
              <a:buNone/>
            </a:pPr>
            <a:r>
              <a:rPr lang="en-US" sz="1600" b="1" dirty="0">
                <a:solidFill>
                  <a:schemeClr val="tx1"/>
                </a:solidFill>
              </a:rPr>
              <a:t>Commercial</a:t>
            </a:r>
            <a:endParaRPr lang="en-US" sz="1600" dirty="0"/>
          </a:p>
        </p:txBody>
      </p:sp>
      <p:sp>
        <p:nvSpPr>
          <p:cNvPr id="14" name="Pastille Marketing &amp; com"/>
          <p:cNvSpPr/>
          <p:nvPr/>
        </p:nvSpPr>
        <p:spPr>
          <a:xfrm>
            <a:off x="6217920" y="4023360"/>
            <a:ext cx="640080" cy="640080"/>
          </a:xfrm>
          <a:prstGeom prst="ellipse">
            <a:avLst/>
          </a:prstGeom>
          <a:solidFill>
            <a:schemeClr val="accent1"/>
          </a:solidFill>
          <a:ln w="12700">
            <a:solidFill>
              <a:schemeClr val="accent1"/>
            </a:solidFill>
            <a:prstDash val="solid"/>
          </a:ln>
        </p:spPr>
      </p:sp>
      <p:sp>
        <p:nvSpPr>
          <p:cNvPr id="15" name="Text 13"/>
          <p:cNvSpPr txBox="1"/>
          <p:nvPr/>
        </p:nvSpPr>
        <p:spPr>
          <a:xfrm>
            <a:off x="6217920" y="4023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995160" y="4023360"/>
            <a:ext cx="1828800" cy="640080"/>
          </a:xfrm>
          <a:prstGeom prst="rect">
            <a:avLst/>
          </a:prstGeom>
          <a:noFill/>
          <a:ln/>
        </p:spPr>
        <p:txBody>
          <a:bodyPr wrap="square" lIns="0" tIns="0" rIns="0" bIns="0" rtlCol="0" anchor="ctr"/>
          <a:lstStyle/>
          <a:p>
            <a:pPr indent="0" marL="0">
              <a:buNone/>
            </a:pPr>
            <a:r>
              <a:rPr lang="en-US" sz="1600" b="1" dirty="0">
                <a:solidFill>
                  <a:schemeClr val="tx1"/>
                </a:solidFill>
              </a:rPr>
              <a:t>Marketing &amp; com</a:t>
            </a:r>
            <a:endParaRPr lang="en-US" sz="1600" dirty="0"/>
          </a:p>
        </p:txBody>
      </p:sp>
      <p:sp>
        <p:nvSpPr>
          <p:cNvPr id="17" name="Pastille Vérificateur"/>
          <p:cNvSpPr/>
          <p:nvPr/>
        </p:nvSpPr>
        <p:spPr>
          <a:xfrm>
            <a:off x="8961120" y="4023360"/>
            <a:ext cx="640080" cy="640080"/>
          </a:xfrm>
          <a:prstGeom prst="ellipse">
            <a:avLst/>
          </a:prstGeom>
          <a:solidFill>
            <a:schemeClr val="accent1"/>
          </a:solidFill>
          <a:ln w="12700">
            <a:solidFill>
              <a:schemeClr val="accent1"/>
            </a:solidFill>
            <a:prstDash val="solid"/>
          </a:ln>
        </p:spPr>
      </p:sp>
      <p:sp>
        <p:nvSpPr>
          <p:cNvPr id="18" name="Text 16"/>
          <p:cNvSpPr txBox="1"/>
          <p:nvPr/>
        </p:nvSpPr>
        <p:spPr>
          <a:xfrm>
            <a:off x="8961120" y="4023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7"/>
          <p:cNvSpPr txBox="1"/>
          <p:nvPr/>
        </p:nvSpPr>
        <p:spPr>
          <a:xfrm>
            <a:off x="9738360" y="4023360"/>
            <a:ext cx="1828800" cy="640080"/>
          </a:xfrm>
          <a:prstGeom prst="rect">
            <a:avLst/>
          </a:prstGeom>
          <a:noFill/>
          <a:ln/>
        </p:spPr>
        <p:txBody>
          <a:bodyPr wrap="square" lIns="0" tIns="0" rIns="0" bIns="0" rtlCol="0" anchor="ctr"/>
          <a:lstStyle/>
          <a:p>
            <a:pPr indent="0" marL="0">
              <a:buNone/>
            </a:pPr>
            <a:r>
              <a:rPr lang="en-US" sz="1600" b="1" dirty="0">
                <a:solidFill>
                  <a:schemeClr val="tx1"/>
                </a:solidFill>
              </a:rPr>
              <a:t>Vérificateur</a:t>
            </a:r>
            <a:endParaRPr lang="en-US" sz="1600" dirty="0"/>
          </a:p>
        </p:txBody>
      </p:sp>
      <p:sp>
        <p:nvSpPr>
          <p:cNvPr id="20" name="Text 18"/>
          <p:cNvSpPr txBox="1"/>
          <p:nvPr/>
        </p:nvSpPr>
        <p:spPr>
          <a:xfrm>
            <a:off x="731520" y="5029200"/>
            <a:ext cx="10698480" cy="731520"/>
          </a:xfrm>
          <a:prstGeom prst="rect">
            <a:avLst/>
          </a:prstGeom>
          <a:noFill/>
          <a:ln/>
        </p:spPr>
        <p:txBody>
          <a:bodyPr wrap="square" lIns="0" tIns="0" rIns="0" bIns="0" rtlCol="0" anchor="ctr"/>
          <a:lstStyle/>
          <a:p>
            <a:pPr indent="0" marL="0">
              <a:buNone/>
            </a:pPr>
            <a:r>
              <a:rPr lang="en-US" sz="1600" dirty="0">
                <a:solidFill>
                  <a:schemeClr val="accent2"/>
                </a:solidFill>
              </a:rPr>
              <a:t>Un entourage de créatifs : photographe, tatoueuse, designers, directeur artistique, imprimeur, DJ. Des interviews, puis 6 testeurs.</a:t>
            </a:r>
            <a:endParaRPr lang="en-US" sz="1600" dirty="0"/>
          </a:p>
        </p:txBody>
      </p:sp>
      <p:sp>
        <p:nvSpPr>
          <p:cNvPr id="25" name="Slide Number Placeholder 0"/>
          <p:cNvSpPr>
            <a:spLocks noGrp="1"/>
          </p:cNvSpPr>
          <p:nvPr>
            <p:ph type="sldNum" sz="quarter" idx="4294967295"/>
          </p:nvPr>
        </p:nvSpPr>
        <p:spPr>
          <a:xfrm>
            <a:off x="1106424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PCE : la certification du processus créatif</a:t>
            </a:r>
            <a:endParaRPr lang="en-US" sz="3600" dirty="0"/>
          </a:p>
        </p:txBody>
      </p:sp>
      <p:sp>
        <p:nvSpPr>
          <p:cNvPr id="3" name="Sceau"/>
          <p:cNvSpPr/>
          <p:nvPr/>
        </p:nvSpPr>
        <p:spPr>
          <a:xfrm>
            <a:off x="731520" y="1737360"/>
            <a:ext cx="2194560" cy="2194560"/>
          </a:xfrm>
          <a:prstGeom prst="ellipse">
            <a:avLst/>
          </a:prstGeom>
          <a:solidFill>
            <a:schemeClr val="accent1"/>
          </a:solidFill>
          <a:ln w="12700">
            <a:solidFill>
              <a:schemeClr val="accent1"/>
            </a:solidFill>
            <a:prstDash val="solid"/>
          </a:ln>
        </p:spPr>
      </p:sp>
      <p:sp>
        <p:nvSpPr>
          <p:cNvPr id="4" name="Sceau contour"/>
          <p:cNvSpPr/>
          <p:nvPr/>
        </p:nvSpPr>
        <p:spPr>
          <a:xfrm>
            <a:off x="885139" y="1890979"/>
            <a:ext cx="1887322" cy="1887322"/>
          </a:xfrm>
          <a:prstGeom prst="ellipse">
            <a:avLst/>
          </a:prstGeom>
          <a:ln w="19050">
            <a:solidFill>
              <a:schemeClr val="bg1"/>
            </a:solidFill>
            <a:prstDash val="dash"/>
          </a:ln>
        </p:spPr>
      </p:sp>
      <p:sp>
        <p:nvSpPr>
          <p:cNvPr id="5" name="Text 3"/>
          <p:cNvSpPr txBox="1"/>
          <p:nvPr/>
        </p:nvSpPr>
        <p:spPr>
          <a:xfrm>
            <a:off x="731520" y="1737360"/>
            <a:ext cx="2194560" cy="219456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PCE</a:t>
            </a:r>
            <a:endParaRPr lang="en-US" sz="3200" dirty="0"/>
          </a:p>
        </p:txBody>
      </p:sp>
      <p:sp>
        <p:nvSpPr>
          <p:cNvPr id="6" name="Text 4"/>
          <p:cNvSpPr txBox="1"/>
          <p:nvPr/>
        </p:nvSpPr>
        <p:spPr>
          <a:xfrm>
            <a:off x="3474720" y="1737360"/>
            <a:ext cx="7955280" cy="1188720"/>
          </a:xfrm>
          <a:prstGeom prst="rect">
            <a:avLst/>
          </a:prstGeom>
          <a:noFill/>
          <a:ln/>
        </p:spPr>
        <p:txBody>
          <a:bodyPr wrap="square" lIns="0" tIns="0" rIns="0" bIns="0" rtlCol="0" anchor="t"/>
          <a:lstStyle/>
          <a:p>
            <a:pPr indent="0" marL="0">
              <a:buNone/>
            </a:pPr>
            <a:r>
              <a:rPr lang="en-US" sz="2000" b="1" dirty="0">
                <a:solidFill>
                  <a:schemeClr val="accent1"/>
                </a:solidFill>
              </a:rPr>
              <a:t>Le label</a:t>
            </a:r>
            <a:endParaRPr lang="en-US" sz="2000" dirty="0"/>
          </a:p>
          <a:p>
            <a:pPr indent="0" marL="0">
              <a:buNone/>
            </a:pPr>
            <a:r>
              <a:rPr lang="en-US" sz="1600" dirty="0">
                <a:solidFill>
                  <a:schemeClr val="tx1"/>
                </a:solidFill>
              </a:rPr>
              <a:t>Le créatif dépose son processus. Un jury l'examine et attribue la certification.</a:t>
            </a:r>
            <a:endParaRPr lang="en-US" sz="2000" dirty="0"/>
          </a:p>
        </p:txBody>
      </p:sp>
      <p:sp>
        <p:nvSpPr>
          <p:cNvPr id="7" name="Text 5"/>
          <p:cNvSpPr txBox="1"/>
          <p:nvPr/>
        </p:nvSpPr>
        <p:spPr>
          <a:xfrm>
            <a:off x="3474720" y="3108960"/>
            <a:ext cx="7955280" cy="1188720"/>
          </a:xfrm>
          <a:prstGeom prst="rect">
            <a:avLst/>
          </a:prstGeom>
          <a:noFill/>
          <a:ln/>
        </p:spPr>
        <p:txBody>
          <a:bodyPr wrap="square" lIns="0" tIns="0" rIns="0" bIns="0" rtlCol="0" anchor="t"/>
          <a:lstStyle/>
          <a:p>
            <a:pPr indent="0" marL="0">
              <a:buNone/>
            </a:pPr>
            <a:r>
              <a:rPr lang="en-US" sz="2000" b="1" dirty="0">
                <a:solidFill>
                  <a:schemeClr val="accent1"/>
                </a:solidFill>
              </a:rPr>
              <a:t>Le devis pédagogique</a:t>
            </a:r>
            <a:endParaRPr lang="en-US" sz="2000" dirty="0"/>
          </a:p>
          <a:p>
            <a:pPr indent="0" marL="0">
              <a:buNone/>
            </a:pPr>
            <a:r>
              <a:rPr lang="en-US" sz="1600" dirty="0">
                <a:solidFill>
                  <a:schemeClr val="tx1"/>
                </a:solidFill>
              </a:rPr>
              <a:t>Il montre au client la part de réflexion humaine et la part d'exécution, avec ou sans IA.</a:t>
            </a:r>
            <a:endParaRPr lang="en-US" sz="2000" dirty="0"/>
          </a:p>
        </p:txBody>
      </p:sp>
      <p:sp>
        <p:nvSpPr>
          <p:cNvPr id="8" name="Text 6"/>
          <p:cNvSpPr txBox="1"/>
          <p:nvPr/>
        </p:nvSpPr>
        <p:spPr>
          <a:xfrm>
            <a:off x="3474720" y="4480560"/>
            <a:ext cx="7955280" cy="1188720"/>
          </a:xfrm>
          <a:prstGeom prst="rect">
            <a:avLst/>
          </a:prstGeom>
          <a:noFill/>
          <a:ln/>
        </p:spPr>
        <p:txBody>
          <a:bodyPr wrap="square" lIns="0" tIns="0" rIns="0" bIns="0" rtlCol="0" anchor="t"/>
          <a:lstStyle/>
          <a:p>
            <a:pPr indent="0" marL="0">
              <a:buNone/>
            </a:pPr>
            <a:r>
              <a:rPr lang="en-US" sz="2000" b="1" dirty="0">
                <a:solidFill>
                  <a:schemeClr val="accent1"/>
                </a:solidFill>
              </a:rPr>
              <a:t>La vérification</a:t>
            </a:r>
            <a:endParaRPr lang="en-US" sz="2000" dirty="0"/>
          </a:p>
          <a:p>
            <a:pPr indent="0" marL="0">
              <a:buNone/>
            </a:pPr>
            <a:r>
              <a:rPr lang="en-US" sz="1600" dirty="0">
                <a:solidFill>
                  <a:schemeClr val="tx1"/>
                </a:solidFill>
              </a:rPr>
              <a:t>Tout acheteur peut vérifier gratuitement qu'un créatif est certifié.</a:t>
            </a:r>
            <a:endParaRPr lang="en-US" sz="2000" dirty="0"/>
          </a:p>
        </p:txBody>
      </p:sp>
      <p:sp>
        <p:nvSpPr>
          <p:cNvPr id="9" name="Text 7"/>
          <p:cNvSpPr txBox="1"/>
          <p:nvPr/>
        </p:nvSpPr>
        <p:spPr>
          <a:xfrm>
            <a:off x="731520" y="5760720"/>
            <a:ext cx="10698480" cy="457200"/>
          </a:xfrm>
          <a:prstGeom prst="rect">
            <a:avLst/>
          </a:prstGeom>
          <a:noFill/>
          <a:ln/>
        </p:spPr>
        <p:txBody>
          <a:bodyPr wrap="square" lIns="0" tIns="0" rIns="0" bIns="0" rtlCol="0" anchor="ctr"/>
          <a:lstStyle/>
          <a:p>
            <a:pPr indent="0" marL="0">
              <a:buNone/>
            </a:pPr>
            <a:r>
              <a:rPr lang="en-US" sz="1600" i="1" dirty="0">
                <a:solidFill>
                  <a:schemeClr val="accent2"/>
                </a:solidFill>
              </a:rPr>
              <a:t>L'IA reste un outil d'exécution. La vision reste humaine.</a:t>
            </a:r>
            <a:endParaRPr lang="en-US" sz="1600" dirty="0"/>
          </a:p>
        </p:txBody>
      </p:sp>
      <p:sp>
        <p:nvSpPr>
          <p:cNvPr id="25" name="Slide Number Placeholder 0"/>
          <p:cNvSpPr>
            <a:spLocks noGrp="1"/>
          </p:cNvSpPr>
          <p:nvPr>
            <p:ph type="sldNum" sz="quarter" idx="4294967295"/>
          </p:nvPr>
        </p:nvSpPr>
        <p:spPr>
          <a:xfrm>
            <a:off x="1106424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498080" cy="1463040"/>
          </a:xfrm>
          <a:prstGeom prst="rect">
            <a:avLst/>
          </a:prstGeom>
          <a:noFill/>
          <a:ln/>
        </p:spPr>
        <p:txBody>
          <a:bodyPr wrap="square" lIns="0" tIns="0" rIns="0" bIns="0" rtlCol="0" anchor="t"/>
          <a:lstStyle/>
          <a:p>
            <a:pPr algn="l" indent="0" marL="0">
              <a:buNone/>
            </a:pPr>
            <a:r>
              <a:rPr lang="en-US" sz="4400" b="1" dirty="0">
                <a:solidFill>
                  <a:schemeClr val="bg1"/>
                </a:solidFill>
              </a:rPr>
              <a:t>Démonstration</a:t>
            </a:r>
            <a:endParaRPr lang="en-US" sz="4400" dirty="0"/>
          </a:p>
        </p:txBody>
      </p:sp>
      <p:sp>
        <p:nvSpPr>
          <p:cNvPr id="3" name="Text 1"/>
          <p:cNvSpPr txBox="1"/>
          <p:nvPr/>
        </p:nvSpPr>
        <p:spPr>
          <a:xfrm>
            <a:off x="731520" y="3108960"/>
            <a:ext cx="7498080" cy="914400"/>
          </a:xfrm>
          <a:prstGeom prst="rect">
            <a:avLst/>
          </a:prstGeom>
          <a:noFill/>
          <a:ln/>
        </p:spPr>
        <p:txBody>
          <a:bodyPr wrap="square" lIns="0" tIns="0" rIns="0" bIns="0" rtlCol="0" anchor="ctr"/>
          <a:lstStyle/>
          <a:p>
            <a:pPr indent="0" marL="0">
              <a:buNone/>
            </a:pPr>
            <a:r>
              <a:rPr lang="en-US" sz="2200" dirty="0">
                <a:solidFill>
                  <a:schemeClr val="accent6"/>
                </a:solidFill>
              </a:rPr>
              <a:t>Un devis certifié et une œuvre certifiée, du dépôt à la vérification.</a:t>
            </a:r>
            <a:endParaRPr lang="en-US" sz="2200" dirty="0"/>
          </a:p>
        </p:txBody>
      </p:sp>
      <p:sp>
        <p:nvSpPr>
          <p:cNvPr id="4" name="Sceau"/>
          <p:cNvSpPr/>
          <p:nvPr/>
        </p:nvSpPr>
        <p:spPr>
          <a:xfrm>
            <a:off x="8869680" y="1828800"/>
            <a:ext cx="2651760" cy="2651760"/>
          </a:xfrm>
          <a:prstGeom prst="ellipse">
            <a:avLst/>
          </a:prstGeom>
          <a:solidFill>
            <a:schemeClr val="accent1"/>
          </a:solidFill>
          <a:ln w="12700">
            <a:solidFill>
              <a:schemeClr val="accent1"/>
            </a:solidFill>
            <a:prstDash val="solid"/>
          </a:ln>
        </p:spPr>
      </p:sp>
      <p:sp>
        <p:nvSpPr>
          <p:cNvPr id="5" name="Sceau contour"/>
          <p:cNvSpPr/>
          <p:nvPr/>
        </p:nvSpPr>
        <p:spPr>
          <a:xfrm>
            <a:off x="9055303" y="2014423"/>
            <a:ext cx="2280514" cy="2280514"/>
          </a:xfrm>
          <a:prstGeom prst="ellipse">
            <a:avLst/>
          </a:prstGeom>
          <a:ln w="19050">
            <a:solidFill>
              <a:schemeClr val="bg1"/>
            </a:solidFill>
            <a:prstDash val="dash"/>
          </a:ln>
        </p:spPr>
      </p:sp>
      <p:sp>
        <p:nvSpPr>
          <p:cNvPr id="6" name="Text 4"/>
          <p:cNvSpPr txBox="1"/>
          <p:nvPr/>
        </p:nvSpPr>
        <p:spPr>
          <a:xfrm>
            <a:off x="8869680" y="1828800"/>
            <a:ext cx="2651760" cy="26517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Démo</a:t>
            </a:r>
            <a:endParaRPr lang="en-US" sz="2400" dirty="0"/>
          </a:p>
          <a:p>
            <a:pPr algn="ctr" indent="0" marL="0">
              <a:buNone/>
            </a:pPr>
            <a:r>
              <a:rPr lang="en-US" sz="2400" b="1" dirty="0">
                <a:solidFill>
                  <a:schemeClr val="bg1"/>
                </a:solidFill>
                <a:latin typeface="Cambria" pitchFamily="34" charset="0"/>
                <a:ea typeface="Cambria" pitchFamily="34" charset="-122"/>
                <a:cs typeface="Cambria" pitchFamily="34" charset="-120"/>
              </a:rPr>
              <a:t>en direct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Le créatif paie, l'acheteur vérifie gratuitement</a:t>
            </a:r>
            <a:endParaRPr lang="en-US" sz="3600" dirty="0"/>
          </a:p>
        </p:txBody>
      </p:sp>
      <p:sp>
        <p:nvSpPr>
          <p:cNvPr id="3" name="Text 1"/>
          <p:cNvSpPr txBox="1"/>
          <p:nvPr/>
        </p:nvSpPr>
        <p:spPr>
          <a:xfrm>
            <a:off x="731520" y="1645920"/>
            <a:ext cx="21031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9 €</a:t>
            </a:r>
            <a:endParaRPr lang="en-US" sz="4400" dirty="0"/>
          </a:p>
        </p:txBody>
      </p:sp>
      <p:sp>
        <p:nvSpPr>
          <p:cNvPr id="4" name="Text 2"/>
          <p:cNvSpPr txBox="1"/>
          <p:nvPr/>
        </p:nvSpPr>
        <p:spPr>
          <a:xfrm>
            <a:off x="731520" y="2377440"/>
            <a:ext cx="4206240" cy="457200"/>
          </a:xfrm>
          <a:prstGeom prst="rect">
            <a:avLst/>
          </a:prstGeom>
          <a:noFill/>
          <a:ln/>
        </p:spPr>
        <p:txBody>
          <a:bodyPr wrap="square" lIns="0" tIns="0" rIns="0" bIns="0" rtlCol="0" anchor="ctr"/>
          <a:lstStyle/>
          <a:p>
            <a:pPr indent="0" marL="0">
              <a:buNone/>
            </a:pPr>
            <a:r>
              <a:rPr lang="en-US" sz="1400" dirty="0">
                <a:solidFill>
                  <a:schemeClr val="accent2"/>
                </a:solidFill>
              </a:rPr>
              <a:t>par mois, soit 108 € HT par an pour le créatif</a:t>
            </a:r>
            <a:endParaRPr lang="en-US" sz="1400" dirty="0"/>
          </a:p>
        </p:txBody>
      </p:sp>
      <p:sp>
        <p:nvSpPr>
          <p:cNvPr id="5" name="Text 3"/>
          <p:cNvSpPr txBox="1"/>
          <p:nvPr/>
        </p:nvSpPr>
        <p:spPr>
          <a:xfrm>
            <a:off x="731520" y="2971800"/>
            <a:ext cx="21031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0 €</a:t>
            </a:r>
            <a:endParaRPr lang="en-US" sz="4400" dirty="0"/>
          </a:p>
        </p:txBody>
      </p:sp>
      <p:sp>
        <p:nvSpPr>
          <p:cNvPr id="6" name="Text 4"/>
          <p:cNvSpPr txBox="1"/>
          <p:nvPr/>
        </p:nvSpPr>
        <p:spPr>
          <a:xfrm>
            <a:off x="731520" y="3703320"/>
            <a:ext cx="4206240" cy="457200"/>
          </a:xfrm>
          <a:prstGeom prst="rect">
            <a:avLst/>
          </a:prstGeom>
          <a:noFill/>
          <a:ln/>
        </p:spPr>
        <p:txBody>
          <a:bodyPr wrap="square" lIns="0" tIns="0" rIns="0" bIns="0" rtlCol="0" anchor="ctr"/>
          <a:lstStyle/>
          <a:p>
            <a:pPr indent="0" marL="0">
              <a:buNone/>
            </a:pPr>
            <a:r>
              <a:rPr lang="en-US" sz="1400" dirty="0">
                <a:solidFill>
                  <a:schemeClr val="accent2"/>
                </a:solidFill>
              </a:rPr>
              <a:t>pour l'acheteur qui vérifie</a:t>
            </a:r>
            <a:endParaRPr lang="en-US" sz="1400" dirty="0"/>
          </a:p>
        </p:txBody>
      </p:sp>
      <p:sp>
        <p:nvSpPr>
          <p:cNvPr id="7" name="Text 5"/>
          <p:cNvSpPr txBox="1"/>
          <p:nvPr/>
        </p:nvSpPr>
        <p:spPr>
          <a:xfrm>
            <a:off x="731520" y="4297680"/>
            <a:ext cx="21031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An 2</a:t>
            </a:r>
            <a:endParaRPr lang="en-US" sz="4400" dirty="0"/>
          </a:p>
        </p:txBody>
      </p:sp>
      <p:sp>
        <p:nvSpPr>
          <p:cNvPr id="8" name="Text 6"/>
          <p:cNvSpPr txBox="1"/>
          <p:nvPr/>
        </p:nvSpPr>
        <p:spPr>
          <a:xfrm>
            <a:off x="731520" y="5029200"/>
            <a:ext cx="4206240" cy="457200"/>
          </a:xfrm>
          <a:prstGeom prst="rect">
            <a:avLst/>
          </a:prstGeom>
          <a:noFill/>
          <a:ln/>
        </p:spPr>
        <p:txBody>
          <a:bodyPr wrap="square" lIns="0" tIns="0" rIns="0" bIns="0" rtlCol="0" anchor="ctr"/>
          <a:lstStyle/>
          <a:p>
            <a:pPr indent="0" marL="0">
              <a:buNone/>
            </a:pPr>
            <a:r>
              <a:rPr lang="en-US" sz="1400" dirty="0">
                <a:solidFill>
                  <a:schemeClr val="accent2"/>
                </a:solidFill>
              </a:rPr>
              <a:t>premier résultat d'exploitation positif</a:t>
            </a:r>
            <a:endParaRPr lang="en-US" sz="1400" dirty="0"/>
          </a:p>
        </p:txBody>
      </p:sp>
      <p:graphicFrame>
        <p:nvGraphicFramePr>
          <p:cNvPr id="9" name="Chart 0" descr=""/>
          <p:cNvGraphicFramePr/>
          <p:nvPr/>
        </p:nvGraphicFramePr>
        <p:xfrm>
          <a:off x="5486400" y="155448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731520" y="5806440"/>
            <a:ext cx="10698480" cy="365760"/>
          </a:xfrm>
          <a:prstGeom prst="rect">
            <a:avLst/>
          </a:prstGeom>
          <a:noFill/>
          <a:ln/>
        </p:spPr>
        <p:txBody>
          <a:bodyPr wrap="square" lIns="0" tIns="0" rIns="0" bIns="0" rtlCol="0" anchor="ctr"/>
          <a:lstStyle/>
          <a:p>
            <a:pPr indent="0" marL="0">
              <a:buNone/>
            </a:pPr>
            <a:r>
              <a:rPr lang="en-US" sz="1100" dirty="0">
                <a:solidFill>
                  <a:schemeClr val="accent2"/>
                </a:solidFill>
              </a:rPr>
              <a:t>Hypothèses : 250 000 créatifs indépendants visés, 0,2 % de part de marché en année 1 puis 1,2 % en année 3.</a:t>
            </a:r>
            <a:endParaRPr lang="en-US" sz="1100" dirty="0"/>
          </a:p>
        </p:txBody>
      </p:sp>
      <p:sp>
        <p:nvSpPr>
          <p:cNvPr id="25" name="Slide Number Placeholder 0"/>
          <p:cNvSpPr>
            <a:spLocks noGrp="1"/>
          </p:cNvSpPr>
          <p:nvPr>
            <p:ph type="sldNum" sz="quarter" idx="4294967295"/>
          </p:nvPr>
        </p:nvSpPr>
        <p:spPr>
          <a:xfrm>
            <a:off x="1106424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498080" cy="1463040"/>
          </a:xfrm>
          <a:prstGeom prst="rect">
            <a:avLst/>
          </a:prstGeom>
          <a:noFill/>
          <a:ln/>
        </p:spPr>
        <p:txBody>
          <a:bodyPr wrap="square" lIns="0" tIns="0" rIns="0" bIns="0" rtlCol="0" anchor="t"/>
          <a:lstStyle/>
          <a:p>
            <a:pPr algn="l" indent="0" marL="0">
              <a:buNone/>
            </a:pPr>
            <a:r>
              <a:rPr lang="en-US" sz="4400" b="1" dirty="0">
                <a:solidFill>
                  <a:schemeClr val="bg1"/>
                </a:solidFill>
              </a:rPr>
              <a:t>Ce qu'il nous reste à prouver</a:t>
            </a:r>
            <a:endParaRPr lang="en-US" sz="4400" dirty="0"/>
          </a:p>
        </p:txBody>
      </p:sp>
      <p:sp>
        <p:nvSpPr>
          <p:cNvPr id="3" name="Text 1"/>
          <p:cNvSpPr txBox="1"/>
          <p:nvPr/>
        </p:nvSpPr>
        <p:spPr>
          <a:xfrm>
            <a:off x="731520" y="3931920"/>
            <a:ext cx="7680960" cy="1828800"/>
          </a:xfrm>
          <a:prstGeom prst="rect">
            <a:avLst/>
          </a:prstGeom>
          <a:noFill/>
          <a:ln/>
        </p:spPr>
        <p:txBody>
          <a:bodyPr wrap="square" lIns="0" tIns="0" rIns="0" bIns="0" rtlCol="0" anchor="ctr"/>
          <a:lstStyle/>
          <a:p>
            <a:pPr marL="342900" indent="-342900">
              <a:spcAft>
                <a:spcPts val="800"/>
              </a:spcAft>
              <a:buSzPct val="100000"/>
              <a:buChar char="•"/>
            </a:pPr>
            <a:r>
              <a:rPr lang="en-US" sz="1800" dirty="0">
                <a:solidFill>
                  <a:schemeClr val="accent6"/>
                </a:solidFill>
              </a:rPr>
              <a:t>Que les clients choisissent un créatif certifié plutôt qu'un autre</a:t>
            </a:r>
            <a:endParaRPr lang="en-US" sz="1800" dirty="0"/>
          </a:p>
          <a:p>
            <a:pPr marL="342900" indent="-342900">
              <a:spcAft>
                <a:spcPts val="800"/>
              </a:spcAft>
              <a:buSzPct val="100000"/>
              <a:buChar char="•"/>
            </a:pPr>
            <a:r>
              <a:rPr lang="en-US" sz="1800" dirty="0">
                <a:solidFill>
                  <a:schemeClr val="accent6"/>
                </a:solidFill>
              </a:rPr>
              <a:t>Que les créatifs acceptent de partager leur processus sans le vivre comme du flicage</a:t>
            </a:r>
            <a:endParaRPr lang="en-US" sz="1800" dirty="0"/>
          </a:p>
          <a:p>
            <a:pPr marL="342900" indent="-342900">
              <a:spcAft>
                <a:spcPts val="800"/>
              </a:spcAft>
              <a:buSzPct val="100000"/>
              <a:buChar char="•"/>
            </a:pPr>
            <a:r>
              <a:rPr lang="en-US" sz="1800" dirty="0">
                <a:solidFill>
                  <a:schemeClr val="accent6"/>
                </a:solidFill>
              </a:rPr>
              <a:t>Que les acheteurs viennent vérifier</a:t>
            </a:r>
            <a:endParaRPr lang="en-US" sz="1800" dirty="0"/>
          </a:p>
        </p:txBody>
      </p:sp>
      <p:sp>
        <p:nvSpPr>
          <p:cNvPr id="4" name="Sceau"/>
          <p:cNvSpPr/>
          <p:nvPr/>
        </p:nvSpPr>
        <p:spPr>
          <a:xfrm>
            <a:off x="8869680" y="1828800"/>
            <a:ext cx="2651760" cy="2651760"/>
          </a:xfrm>
          <a:prstGeom prst="ellipse">
            <a:avLst/>
          </a:prstGeom>
          <a:solidFill>
            <a:schemeClr val="accent1"/>
          </a:solidFill>
          <a:ln w="12700">
            <a:solidFill>
              <a:schemeClr val="accent1"/>
            </a:solidFill>
            <a:prstDash val="solid"/>
          </a:ln>
        </p:spPr>
      </p:sp>
      <p:sp>
        <p:nvSpPr>
          <p:cNvPr id="5" name="Sceau contour"/>
          <p:cNvSpPr/>
          <p:nvPr/>
        </p:nvSpPr>
        <p:spPr>
          <a:xfrm>
            <a:off x="9055303" y="2014423"/>
            <a:ext cx="2280514" cy="2280514"/>
          </a:xfrm>
          <a:prstGeom prst="ellipse">
            <a:avLst/>
          </a:prstGeom>
          <a:ln w="19050">
            <a:solidFill>
              <a:schemeClr val="bg1"/>
            </a:solidFill>
            <a:prstDash val="dash"/>
          </a:ln>
        </p:spPr>
      </p:sp>
      <p:sp>
        <p:nvSpPr>
          <p:cNvPr id="6" name="Text 4"/>
          <p:cNvSpPr txBox="1"/>
          <p:nvPr/>
        </p:nvSpPr>
        <p:spPr>
          <a:xfrm>
            <a:off x="8869680" y="1828800"/>
            <a:ext cx="2651760" cy="26517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Touche</a:t>
            </a:r>
            <a:endParaRPr lang="en-US" sz="2000" dirty="0"/>
          </a:p>
          <a:p>
            <a:pPr algn="ctr" indent="0" marL="0">
              <a:buNone/>
            </a:pPr>
            <a:r>
              <a:rPr lang="en-US" sz="2000" b="1" dirty="0">
                <a:solidFill>
                  <a:schemeClr val="bg1"/>
                </a:solidFill>
                <a:latin typeface="Cambria" pitchFamily="34" charset="0"/>
                <a:ea typeface="Cambria" pitchFamily="34" charset="-122"/>
                <a:cs typeface="Cambria" pitchFamily="34" charset="-120"/>
              </a:rPr>
              <a:t>humaine</a:t>
            </a:r>
            <a:endParaRPr lang="en-US" sz="2000" dirty="0"/>
          </a:p>
          <a:p>
            <a:pPr algn="ctr" indent="0" marL="0">
              <a:buNone/>
            </a:pPr>
            <a:r>
              <a:rPr lang="en-US" sz="2000" b="1" dirty="0">
                <a:solidFill>
                  <a:schemeClr val="bg1"/>
                </a:solidFill>
                <a:latin typeface="Cambria" pitchFamily="34" charset="0"/>
                <a:ea typeface="Cambria" pitchFamily="34" charset="-122"/>
                <a:cs typeface="Cambria" pitchFamily="34" charset="-120"/>
              </a:rPr>
              <a:t>certifiée</a:t>
            </a:r>
            <a:endParaRPr lang="en-US" sz="2000" dirty="0"/>
          </a:p>
        </p:txBody>
      </p:sp>
    </p:spTree>
  </p:cSld>
  <p:clrMapOvr>
    <a:masterClrMapping/>
  </p:clrMapOvr>
</p:sld>
</file>

<file path=ppt/theme/theme1.xml><?xml version="1.0" encoding="utf-8"?>
<a:theme xmlns:a="http://schemas.openxmlformats.org/drawingml/2006/main" name="PCE">
  <a:themeElements>
    <a:clrScheme name="PCE">
      <a:dk1>
        <a:srgbClr val="1B1A19"/>
      </a:dk1>
      <a:lt1>
        <a:srgbClr val="FFFFFF"/>
      </a:lt1>
      <a:dk2>
        <a:srgbClr val="2B2A28"/>
      </a:dk2>
      <a:lt2>
        <a:srgbClr val="F1EFEC"/>
      </a:lt2>
      <a:accent1>
        <a:srgbClr val="C8442B"/>
      </a:accent1>
      <a:accent2>
        <a:srgbClr val="6B6862"/>
      </a:accent2>
      <a:accent3>
        <a:srgbClr val="E9C9C1"/>
      </a:accent3>
      <a:accent4>
        <a:srgbClr val="1B1A19"/>
      </a:accent4>
      <a:accent5>
        <a:srgbClr val="8A847C"/>
      </a:accent5>
      <a:accent6>
        <a:srgbClr val="D9D5CF"/>
      </a:accent6>
      <a:hlink>
        <a:srgbClr val="C8442B"/>
      </a:hlink>
      <a:folHlink>
        <a:srgbClr val="6B6862"/>
      </a:folHlink>
    </a:clrScheme>
    <a:fontScheme name="P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PCE, IDDIC 2026</dc:title>
  <dc:subject>PptxGenJS Presentation</dc:subject>
  <dc:creator>PptxGenJS</dc:creator>
  <cp:lastModifiedBy>PptxGenJS</cp:lastModifiedBy>
  <cp:revision>1</cp:revision>
  <dcterms:created xsi:type="dcterms:W3CDTF">2026-10-15T07:49:49Z</dcterms:created>
  <dcterms:modified xsi:type="dcterms:W3CDTF">2026-10-15T07:49:49Z</dcterms:modified>
</cp:coreProperties>
</file>