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0"/>
  </p:notesMasterIdLst>
  <p:sldIdLst>
    <p:sldId id="256" r:id="rId2"/>
    <p:sldId id="257" r:id="rId3"/>
    <p:sldId id="258" r:id="rId4"/>
    <p:sldId id="259" r:id="rId5"/>
    <p:sldId id="263" r:id="rId6"/>
    <p:sldId id="260" r:id="rId7"/>
    <p:sldId id="261" r:id="rId8"/>
    <p:sldId id="262" r:id="rId9"/>
  </p:sldIdLst>
  <p:sldSz cx="121793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1pPr>
    <a:lvl2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2pPr>
    <a:lvl3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3pPr>
    <a:lvl4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4pPr>
    <a:lvl5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5pPr>
    <a:lvl6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6pPr>
    <a:lvl7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7pPr>
    <a:lvl8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8pPr>
    <a:lvl9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D4EA"/>
          </a:solidFill>
        </a:fill>
      </a:tcStyle>
    </a:wholeTbl>
    <a:band2H>
      <a:tcTxStyle/>
      <a:tcStyle>
        <a:tcBdr/>
        <a:fill>
          <a:solidFill>
            <a:srgbClr val="E8EBF5"/>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0E0E0"/>
          </a:solidFill>
        </a:fill>
      </a:tcStyle>
    </a:wholeTbl>
    <a:band2H>
      <a:tcTxStyle/>
      <a:tcStyle>
        <a:tcBdr/>
        <a:fill>
          <a:solidFill>
            <a:srgbClr val="F0F0F0"/>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4E2CE"/>
          </a:solidFill>
        </a:fill>
      </a:tcStyle>
    </a:wholeTbl>
    <a:band2H>
      <a:tcTxStyle/>
      <a:tcStyle>
        <a:tcBdr/>
        <a:fill>
          <a:solidFill>
            <a:srgbClr val="EBF1E8"/>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aj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Ref idx="maj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aj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aj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66" d="100"/>
          <a:sy n="66" d="100"/>
        </p:scale>
        <p:origin x="648" y="-2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7" name="Shape 17"/>
          <p:cNvSpPr>
            <a:spLocks noGrp="1" noRot="1" noChangeAspect="1"/>
          </p:cNvSpPr>
          <p:nvPr>
            <p:ph type="sldImg"/>
          </p:nvPr>
        </p:nvSpPr>
        <p:spPr>
          <a:xfrm>
            <a:off x="1143000" y="685800"/>
            <a:ext cx="4572000" cy="3429000"/>
          </a:xfrm>
          <a:prstGeom prst="rect">
            <a:avLst/>
          </a:prstGeom>
        </p:spPr>
        <p:txBody>
          <a:bodyPr/>
          <a:lstStyle/>
          <a:p>
            <a:endParaRPr/>
          </a:p>
        </p:txBody>
      </p:sp>
      <p:sp>
        <p:nvSpPr>
          <p:cNvPr id="18" name="Shape 18"/>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defRPr sz="1200">
        <a:latin typeface="+mn-lt"/>
        <a:ea typeface="+mn-ea"/>
        <a:cs typeface="+mn-cs"/>
        <a:sym typeface="Calibri"/>
      </a:defRPr>
    </a:lvl1pPr>
    <a:lvl2pPr indent="228600" latinLnBrk="0">
      <a:defRPr sz="1200">
        <a:latin typeface="+mn-lt"/>
        <a:ea typeface="+mn-ea"/>
        <a:cs typeface="+mn-cs"/>
        <a:sym typeface="Calibri"/>
      </a:defRPr>
    </a:lvl2pPr>
    <a:lvl3pPr indent="457200" latinLnBrk="0">
      <a:defRPr sz="1200">
        <a:latin typeface="+mn-lt"/>
        <a:ea typeface="+mn-ea"/>
        <a:cs typeface="+mn-cs"/>
        <a:sym typeface="Calibri"/>
      </a:defRPr>
    </a:lvl3pPr>
    <a:lvl4pPr indent="685800" latinLnBrk="0">
      <a:defRPr sz="1200">
        <a:latin typeface="+mn-lt"/>
        <a:ea typeface="+mn-ea"/>
        <a:cs typeface="+mn-cs"/>
        <a:sym typeface="Calibri"/>
      </a:defRPr>
    </a:lvl4pPr>
    <a:lvl5pPr indent="914400" latinLnBrk="0">
      <a:defRPr sz="1200">
        <a:latin typeface="+mn-lt"/>
        <a:ea typeface="+mn-ea"/>
        <a:cs typeface="+mn-cs"/>
        <a:sym typeface="Calibri"/>
      </a:defRPr>
    </a:lvl5pPr>
    <a:lvl6pPr indent="1143000" latinLnBrk="0">
      <a:defRPr sz="1200">
        <a:latin typeface="+mn-lt"/>
        <a:ea typeface="+mn-ea"/>
        <a:cs typeface="+mn-cs"/>
        <a:sym typeface="Calibri"/>
      </a:defRPr>
    </a:lvl6pPr>
    <a:lvl7pPr indent="1371600" latinLnBrk="0">
      <a:defRPr sz="1200">
        <a:latin typeface="+mn-lt"/>
        <a:ea typeface="+mn-ea"/>
        <a:cs typeface="+mn-cs"/>
        <a:sym typeface="Calibri"/>
      </a:defRPr>
    </a:lvl7pPr>
    <a:lvl8pPr indent="1600200" latinLnBrk="0">
      <a:defRPr sz="1200">
        <a:latin typeface="+mn-lt"/>
        <a:ea typeface="+mn-ea"/>
        <a:cs typeface="+mn-cs"/>
        <a:sym typeface="Calibri"/>
      </a:defRPr>
    </a:lvl8pPr>
    <a:lvl9pPr indent="1828800" latinLnBrk="0">
      <a:defRPr sz="1200">
        <a:latin typeface="+mn-lt"/>
        <a:ea typeface="+mn-ea"/>
        <a:cs typeface="+mn-cs"/>
        <a:sym typeface="Calibri"/>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x">
  <p:cSld name="DEFAULT">
    <p:spTree>
      <p:nvGrpSpPr>
        <p:cNvPr id="1" name=""/>
        <p:cNvGrpSpPr/>
        <p:nvPr/>
      </p:nvGrpSpPr>
      <p:grpSpPr>
        <a:xfrm>
          <a:off x="0" y="0"/>
          <a:ext cx="0" cy="0"/>
          <a:chOff x="0" y="0"/>
          <a:chExt cx="0" cy="0"/>
        </a:xfrm>
      </p:grpSpPr>
      <p:sp>
        <p:nvSpPr>
          <p:cNvPr id="11" name="Numéro de diapositive"/>
          <p:cNvSpPr txBox="1">
            <a:spLocks noGrp="1"/>
          </p:cNvSpPr>
          <p:nvPr>
            <p:ph type="sldNum" sz="quarter" idx="2"/>
          </p:nvPr>
        </p:nvSpPr>
        <p:spPr>
          <a:prstGeom prst="rect">
            <a:avLst/>
          </a:prstGeom>
        </p:spPr>
        <p:txBody>
          <a:bodyPr/>
          <a:lstStyle/>
          <a:p>
            <a:fld id="{86CB4B4D-7CA3-9044-876B-883B54F8677D}" type="slidenum">
              <a:t>‹N°›</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e du titre"/>
          <p:cNvSpPr txBox="1">
            <a:spLocks noGrp="1"/>
          </p:cNvSpPr>
          <p:nvPr>
            <p:ph type="title"/>
          </p:nvPr>
        </p:nvSpPr>
        <p:spPr>
          <a:xfrm>
            <a:off x="1824780" y="769937"/>
            <a:ext cx="9743441" cy="166846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8" tIns="45718" rIns="45718" bIns="45718" anchor="ctr"/>
          <a:lstStyle/>
          <a:p>
            <a:r>
              <a:t>Texte du titre</a:t>
            </a:r>
          </a:p>
        </p:txBody>
      </p:sp>
      <p:sp>
        <p:nvSpPr>
          <p:cNvPr id="3" name="Texte niveau 1…"/>
          <p:cNvSpPr txBox="1">
            <a:spLocks noGrp="1"/>
          </p:cNvSpPr>
          <p:nvPr>
            <p:ph type="body" idx="1"/>
          </p:nvPr>
        </p:nvSpPr>
        <p:spPr>
          <a:xfrm>
            <a:off x="6797994" y="2438400"/>
            <a:ext cx="4770227" cy="44196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8" tIns="45718" rIns="45718" bIns="45718"/>
          <a:lstStyle/>
          <a:p>
            <a:r>
              <a:t>Texte niveau 1</a:t>
            </a:r>
          </a:p>
          <a:p>
            <a:pPr lvl="1"/>
            <a:r>
              <a:t>Texte niveau 2</a:t>
            </a:r>
          </a:p>
          <a:p>
            <a:pPr lvl="2"/>
            <a:r>
              <a:t>Texte niveau 3</a:t>
            </a:r>
          </a:p>
          <a:p>
            <a:pPr lvl="3"/>
            <a:r>
              <a:t>Texte niveau 4</a:t>
            </a:r>
          </a:p>
          <a:p>
            <a:pPr lvl="4"/>
            <a:r>
              <a:t>Texte niveau 5</a:t>
            </a:r>
          </a:p>
        </p:txBody>
      </p:sp>
      <p:sp>
        <p:nvSpPr>
          <p:cNvPr id="4" name="Numéro de diapositive"/>
          <p:cNvSpPr txBox="1">
            <a:spLocks noGrp="1"/>
          </p:cNvSpPr>
          <p:nvPr>
            <p:ph type="sldNum" sz="quarter" idx="2"/>
          </p:nvPr>
        </p:nvSpPr>
        <p:spPr>
          <a:xfrm>
            <a:off x="8469877" y="6232199"/>
            <a:ext cx="258622" cy="248303"/>
          </a:xfrm>
          <a:prstGeom prst="rect">
            <a:avLst/>
          </a:prstGeom>
          <a:ln w="12700">
            <a:miter lim="400000"/>
          </a:ln>
        </p:spPr>
        <p:txBody>
          <a:bodyPr wrap="none" lIns="45718" tIns="45718" rIns="45718" bIns="45718" anchor="ctr">
            <a:spAutoFit/>
          </a:bodyPr>
          <a:lstStyle>
            <a:lvl1pPr algn="r">
              <a:defRPr sz="1200">
                <a:latin typeface="+mn-lt"/>
                <a:ea typeface="+mn-ea"/>
                <a:cs typeface="+mn-cs"/>
                <a:sym typeface="Calibri"/>
              </a:defRPr>
            </a:lvl1pPr>
          </a:lstStyle>
          <a:p>
            <a:fld id="{86CB4B4D-7CA3-9044-876B-883B54F8677D}" type="slidenum">
              <a:t>‹N°›</a:t>
            </a:fld>
            <a:endParaRPr/>
          </a:p>
        </p:txBody>
      </p:sp>
    </p:spTree>
  </p:cSld>
  <p:clrMap bg1="lt1" tx1="dk1" bg2="lt2" tx2="dk2" accent1="accent1" accent2="accent2" accent3="accent3" accent4="accent4" accent5="accent5" accent6="accent6" hlink="hlink" folHlink="folHlink"/>
  <p:sldLayoutIdLst>
    <p:sldLayoutId id="2147483649" r:id="rId1"/>
  </p:sldLayoutIdLst>
  <p:transition spd="med"/>
  <p:txStyles>
    <p:titleStyle>
      <a:lvl1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1pPr>
      <a:lvl2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2pPr>
      <a:lvl3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3pPr>
      <a:lvl4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4pPr>
      <a:lvl5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5pPr>
      <a:lvl6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6pPr>
      <a:lvl7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7pPr>
      <a:lvl8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8pPr>
      <a:lvl9pPr marL="0" marR="0" indent="0" algn="ctr" defTabSz="914400" rtl="0" latinLnBrk="0">
        <a:lnSpc>
          <a:spcPct val="100000"/>
        </a:lnSpc>
        <a:spcBef>
          <a:spcPts val="0"/>
        </a:spcBef>
        <a:spcAft>
          <a:spcPts val="0"/>
        </a:spcAft>
        <a:buClrTx/>
        <a:buSzTx/>
        <a:buFontTx/>
        <a:buNone/>
        <a:tabLst/>
        <a:defRPr sz="4400" b="0" i="0" u="none" strike="noStrike" cap="none" spc="0" baseline="0">
          <a:solidFill>
            <a:srgbClr val="000000"/>
          </a:solidFill>
          <a:uFillTx/>
          <a:latin typeface="Calibri Light"/>
          <a:ea typeface="Calibri Light"/>
          <a:cs typeface="Calibri Light"/>
          <a:sym typeface="Calibri Light"/>
        </a:defRPr>
      </a:lvl9pPr>
    </p:titleStyle>
    <p:bodyStyle>
      <a:lvl1pPr marL="342900" marR="0" indent="-342900"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000000"/>
          </a:solidFill>
          <a:uFillTx/>
          <a:latin typeface="+mn-lt"/>
          <a:ea typeface="+mn-ea"/>
          <a:cs typeface="+mn-cs"/>
          <a:sym typeface="Calibri"/>
        </a:defRPr>
      </a:lvl1pPr>
      <a:lvl2pPr marL="783771" marR="0" indent="-326571"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000000"/>
          </a:solidFill>
          <a:uFillTx/>
          <a:latin typeface="+mn-lt"/>
          <a:ea typeface="+mn-ea"/>
          <a:cs typeface="+mn-cs"/>
          <a:sym typeface="Calibri"/>
        </a:defRPr>
      </a:lvl2pPr>
      <a:lvl3pPr marL="1219200" marR="0" indent="-304800"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000000"/>
          </a:solidFill>
          <a:uFillTx/>
          <a:latin typeface="+mn-lt"/>
          <a:ea typeface="+mn-ea"/>
          <a:cs typeface="+mn-cs"/>
          <a:sym typeface="Calibri"/>
        </a:defRPr>
      </a:lvl3pPr>
      <a:lvl4pPr marL="1737360" marR="0" indent="-365760"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000000"/>
          </a:solidFill>
          <a:uFillTx/>
          <a:latin typeface="+mn-lt"/>
          <a:ea typeface="+mn-ea"/>
          <a:cs typeface="+mn-cs"/>
          <a:sym typeface="Calibri"/>
        </a:defRPr>
      </a:lvl4pPr>
      <a:lvl5pPr marL="2194560" marR="0" indent="-365760"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000000"/>
          </a:solidFill>
          <a:uFillTx/>
          <a:latin typeface="+mn-lt"/>
          <a:ea typeface="+mn-ea"/>
          <a:cs typeface="+mn-cs"/>
          <a:sym typeface="Calibri"/>
        </a:defRPr>
      </a:lvl5pPr>
      <a:lvl6pPr marL="2651760" marR="0" indent="-365760"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000000"/>
          </a:solidFill>
          <a:uFillTx/>
          <a:latin typeface="+mn-lt"/>
          <a:ea typeface="+mn-ea"/>
          <a:cs typeface="+mn-cs"/>
          <a:sym typeface="Calibri"/>
        </a:defRPr>
      </a:lvl6pPr>
      <a:lvl7pPr marL="3108960" marR="0" indent="-365760"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000000"/>
          </a:solidFill>
          <a:uFillTx/>
          <a:latin typeface="+mn-lt"/>
          <a:ea typeface="+mn-ea"/>
          <a:cs typeface="+mn-cs"/>
          <a:sym typeface="Calibri"/>
        </a:defRPr>
      </a:lvl7pPr>
      <a:lvl8pPr marL="3566159" marR="0" indent="-365759"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000000"/>
          </a:solidFill>
          <a:uFillTx/>
          <a:latin typeface="+mn-lt"/>
          <a:ea typeface="+mn-ea"/>
          <a:cs typeface="+mn-cs"/>
          <a:sym typeface="Calibri"/>
        </a:defRPr>
      </a:lvl8pPr>
      <a:lvl9pPr marL="4023359" marR="0" indent="-365759" algn="l" defTabSz="914400" rtl="0" latinLnBrk="0">
        <a:lnSpc>
          <a:spcPct val="100000"/>
        </a:lnSpc>
        <a:spcBef>
          <a:spcPts val="700"/>
        </a:spcBef>
        <a:spcAft>
          <a:spcPts val="0"/>
        </a:spcAft>
        <a:buClrTx/>
        <a:buSzPct val="100000"/>
        <a:buFont typeface="Arial"/>
        <a:buChar char="•"/>
        <a:tabLst/>
        <a:defRPr sz="3200" b="0" i="0" u="none" strike="noStrike" cap="none" spc="0" baseline="0">
          <a:solidFill>
            <a:srgbClr val="000000"/>
          </a:solidFill>
          <a:uFillTx/>
          <a:latin typeface="+mn-lt"/>
          <a:ea typeface="+mn-ea"/>
          <a:cs typeface="+mn-cs"/>
          <a:sym typeface="Calibri"/>
        </a:defRPr>
      </a:lvl9pPr>
    </p:bodyStyle>
    <p:otherStyle>
      <a:lvl1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1pPr>
      <a:lvl2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2pPr>
      <a:lvl3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3pPr>
      <a:lvl4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4pPr>
      <a:lvl5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5pPr>
      <a:lvl6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6pPr>
      <a:lvl7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7pPr>
      <a:lvl8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8pPr>
      <a:lvl9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ext 0"/>
          <p:cNvSpPr txBox="1"/>
          <p:nvPr/>
        </p:nvSpPr>
        <p:spPr>
          <a:xfrm>
            <a:off x="566927" y="1135748"/>
            <a:ext cx="10058401" cy="19738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400" b="1" spc="400">
                <a:solidFill>
                  <a:srgbClr val="2E6BFF"/>
                </a:solidFill>
                <a:latin typeface="Arial"/>
                <a:ea typeface="Arial"/>
                <a:cs typeface="Arial"/>
                <a:sym typeface="Arial"/>
              </a:defRPr>
            </a:lvl1pPr>
          </a:lstStyle>
          <a:p>
            <a:r>
              <a:t>IDDIC 2026   ·   IA &amp; INNOVATION</a:t>
            </a:r>
          </a:p>
        </p:txBody>
      </p:sp>
      <p:sp>
        <p:nvSpPr>
          <p:cNvPr id="21" name="Text 1"/>
          <p:cNvSpPr txBox="1"/>
          <p:nvPr/>
        </p:nvSpPr>
        <p:spPr>
          <a:xfrm>
            <a:off x="566927" y="2281490"/>
            <a:ext cx="10058401" cy="129527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9200" b="1">
                <a:solidFill>
                  <a:srgbClr val="111111"/>
                </a:solidFill>
                <a:latin typeface="Arial"/>
                <a:ea typeface="Arial"/>
                <a:cs typeface="Arial"/>
                <a:sym typeface="Arial"/>
              </a:defRPr>
            </a:lvl1pPr>
          </a:lstStyle>
          <a:p>
            <a:r>
              <a:t>JOUR 3</a:t>
            </a:r>
          </a:p>
        </p:txBody>
      </p:sp>
      <p:sp>
        <p:nvSpPr>
          <p:cNvPr id="22" name="Text 2"/>
          <p:cNvSpPr txBox="1"/>
          <p:nvPr/>
        </p:nvSpPr>
        <p:spPr>
          <a:xfrm>
            <a:off x="566926" y="3971564"/>
            <a:ext cx="11057842" cy="53031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p>
            <a:pPr>
              <a:defRPr sz="3800" b="1">
                <a:solidFill>
                  <a:srgbClr val="2E6BFF"/>
                </a:solidFill>
                <a:latin typeface="Arial"/>
                <a:ea typeface="Arial"/>
                <a:cs typeface="Arial"/>
                <a:sym typeface="Arial"/>
              </a:defRPr>
            </a:pPr>
            <a:r>
              <a:t>Tester </a:t>
            </a:r>
            <a:r>
              <a:rPr>
                <a:solidFill>
                  <a:srgbClr val="111111"/>
                </a:solidFill>
              </a:rPr>
              <a:t>avant de construire.</a:t>
            </a:r>
          </a:p>
        </p:txBody>
      </p:sp>
      <p:sp>
        <p:nvSpPr>
          <p:cNvPr id="23" name="Shape 4"/>
          <p:cNvSpPr/>
          <p:nvPr/>
        </p:nvSpPr>
        <p:spPr>
          <a:xfrm>
            <a:off x="566928" y="5303520"/>
            <a:ext cx="6126480" cy="457202"/>
          </a:xfrm>
          <a:prstGeom prst="rect">
            <a:avLst/>
          </a:prstGeom>
          <a:solidFill>
            <a:srgbClr val="FFFFFF"/>
          </a:solidFill>
          <a:ln w="22225">
            <a:solidFill>
              <a:srgbClr val="000000"/>
            </a:solidFill>
          </a:ln>
        </p:spPr>
        <p:txBody>
          <a:bodyPr lIns="45718" tIns="45718" rIns="45718" bIns="45718"/>
          <a:lstStyle/>
          <a:p>
            <a:pPr>
              <a:defRPr>
                <a:latin typeface="+mn-lt"/>
                <a:ea typeface="+mn-ea"/>
                <a:cs typeface="+mn-cs"/>
                <a:sym typeface="Calibri"/>
              </a:defRPr>
            </a:pPr>
            <a:endParaRPr/>
          </a:p>
        </p:txBody>
      </p:sp>
      <p:sp>
        <p:nvSpPr>
          <p:cNvPr id="24" name="Text 5"/>
          <p:cNvSpPr txBox="1"/>
          <p:nvPr/>
        </p:nvSpPr>
        <p:spPr>
          <a:xfrm>
            <a:off x="566928" y="5464347"/>
            <a:ext cx="6126480" cy="13554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defRPr sz="1000" b="1" spc="50">
                <a:solidFill>
                  <a:srgbClr val="111111"/>
                </a:solidFill>
                <a:latin typeface="Arial"/>
                <a:ea typeface="Arial"/>
                <a:cs typeface="Arial"/>
                <a:sym typeface="Arial"/>
              </a:defRPr>
            </a:lvl1pPr>
          </a:lstStyle>
          <a:p>
            <a:r>
              <a:t>LIVRABLE DU JOUR — M3 · HYPOTHÈSES TESTÉES &amp; VALEUR CONSOLIDÉE</a:t>
            </a:r>
          </a:p>
        </p:txBody>
      </p:sp>
      <p:pic>
        <p:nvPicPr>
          <p:cNvPr id="25" name="Image 0" descr="Image 0"/>
          <p:cNvPicPr>
            <a:picLocks noChangeAspect="1"/>
          </p:cNvPicPr>
          <p:nvPr/>
        </p:nvPicPr>
        <p:blipFill>
          <a:blip r:embed="rId2"/>
          <a:stretch>
            <a:fillRect/>
          </a:stretch>
        </p:blipFill>
        <p:spPr>
          <a:xfrm>
            <a:off x="566927" y="6382510"/>
            <a:ext cx="868682" cy="223116"/>
          </a:xfrm>
          <a:prstGeom prst="rect">
            <a:avLst/>
          </a:prstGeom>
          <a:ln w="12700">
            <a:miter lim="400000"/>
          </a:ln>
        </p:spPr>
      </p:pic>
      <p:sp>
        <p:nvSpPr>
          <p:cNvPr id="26" name="Text 6"/>
          <p:cNvSpPr txBox="1"/>
          <p:nvPr/>
        </p:nvSpPr>
        <p:spPr>
          <a:xfrm>
            <a:off x="8515807" y="6428738"/>
            <a:ext cx="310896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r">
              <a:defRPr sz="900" b="1" spc="200">
                <a:solidFill>
                  <a:srgbClr val="9A9A9A"/>
                </a:solidFill>
                <a:latin typeface="Arial"/>
                <a:ea typeface="Arial"/>
                <a:cs typeface="Arial"/>
                <a:sym typeface="Arial"/>
              </a:defRPr>
            </a:lvl1pPr>
          </a:lstStyle>
          <a:p>
            <a:r>
              <a:t>IDDIC 2026  ·  BREAKING AI</a:t>
            </a:r>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hape 0"/>
          <p:cNvSpPr/>
          <p:nvPr/>
        </p:nvSpPr>
        <p:spPr>
          <a:xfrm>
            <a:off x="566927" y="457200"/>
            <a:ext cx="1234442" cy="384048"/>
          </a:xfrm>
          <a:prstGeom prst="roundRect">
            <a:avLst>
              <a:gd name="adj" fmla="val 50000"/>
            </a:avLst>
          </a:prstGeom>
          <a:solidFill>
            <a:srgbClr val="2E6BFF"/>
          </a:solidFill>
          <a:ln w="12700">
            <a:miter lim="400000"/>
          </a:ln>
        </p:spPr>
        <p:txBody>
          <a:bodyPr lIns="45718" tIns="45718" rIns="45718" bIns="45718"/>
          <a:lstStyle/>
          <a:p>
            <a:pPr>
              <a:defRPr>
                <a:latin typeface="+mn-lt"/>
                <a:ea typeface="+mn-ea"/>
                <a:cs typeface="+mn-cs"/>
                <a:sym typeface="Calibri"/>
              </a:defRPr>
            </a:pPr>
            <a:endParaRPr/>
          </a:p>
        </p:txBody>
      </p:sp>
      <p:sp>
        <p:nvSpPr>
          <p:cNvPr id="29" name="Text 1"/>
          <p:cNvSpPr txBox="1"/>
          <p:nvPr/>
        </p:nvSpPr>
        <p:spPr>
          <a:xfrm>
            <a:off x="566927" y="556674"/>
            <a:ext cx="1234443" cy="1850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defRPr sz="1300" b="1" spc="200">
                <a:solidFill>
                  <a:srgbClr val="FFFFFF"/>
                </a:solidFill>
                <a:latin typeface="Arial"/>
                <a:ea typeface="Arial"/>
                <a:cs typeface="Arial"/>
                <a:sym typeface="Arial"/>
              </a:defRPr>
            </a:lvl1pPr>
          </a:lstStyle>
          <a:p>
            <a:r>
              <a:t>JOUR 3</a:t>
            </a:r>
          </a:p>
        </p:txBody>
      </p:sp>
      <p:sp>
        <p:nvSpPr>
          <p:cNvPr id="30" name="Text 2"/>
          <p:cNvSpPr txBox="1"/>
          <p:nvPr/>
        </p:nvSpPr>
        <p:spPr>
          <a:xfrm>
            <a:off x="1984248" y="562815"/>
            <a:ext cx="7315201" cy="17281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200" b="1" spc="300">
                <a:solidFill>
                  <a:srgbClr val="6E6E6E"/>
                </a:solidFill>
                <a:latin typeface="Arial"/>
                <a:ea typeface="Arial"/>
                <a:cs typeface="Arial"/>
                <a:sym typeface="Arial"/>
              </a:defRPr>
            </a:lvl1pPr>
          </a:lstStyle>
          <a:p>
            <a:r>
              <a:t>LE FIL DU JOUR</a:t>
            </a:r>
          </a:p>
        </p:txBody>
      </p:sp>
      <p:sp>
        <p:nvSpPr>
          <p:cNvPr id="31" name="Text 3"/>
          <p:cNvSpPr txBox="1"/>
          <p:nvPr/>
        </p:nvSpPr>
        <p:spPr>
          <a:xfrm>
            <a:off x="566926" y="1024127"/>
            <a:ext cx="11057842" cy="45660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defRPr sz="3200" b="1">
                <a:solidFill>
                  <a:srgbClr val="111111"/>
                </a:solidFill>
                <a:latin typeface="Arial"/>
                <a:ea typeface="Arial"/>
                <a:cs typeface="Arial"/>
                <a:sym typeface="Arial"/>
              </a:defRPr>
            </a:lvl1pPr>
          </a:lstStyle>
          <a:p>
            <a:r>
              <a:t>Ce que vous produisez aujourd'hui</a:t>
            </a:r>
          </a:p>
        </p:txBody>
      </p:sp>
      <p:sp>
        <p:nvSpPr>
          <p:cNvPr id="32" name="Shape 4"/>
          <p:cNvSpPr/>
          <p:nvPr/>
        </p:nvSpPr>
        <p:spPr>
          <a:xfrm>
            <a:off x="566927" y="1874520"/>
            <a:ext cx="7452361" cy="768098"/>
          </a:xfrm>
          <a:prstGeom prst="roundRect">
            <a:avLst>
              <a:gd name="adj" fmla="val 5952"/>
            </a:avLst>
          </a:prstGeom>
          <a:solidFill>
            <a:srgbClr val="F4F5F8"/>
          </a:solidFill>
          <a:ln w="12700">
            <a:solidFill>
              <a:srgbClr val="DCDFE7"/>
            </a:solidFill>
          </a:ln>
        </p:spPr>
        <p:txBody>
          <a:bodyPr lIns="45718" tIns="45718" rIns="45718" bIns="45718"/>
          <a:lstStyle/>
          <a:p>
            <a:pPr>
              <a:defRPr>
                <a:latin typeface="+mn-lt"/>
                <a:ea typeface="+mn-ea"/>
                <a:cs typeface="+mn-cs"/>
                <a:sym typeface="Calibri"/>
              </a:defRPr>
            </a:pPr>
            <a:endParaRPr/>
          </a:p>
        </p:txBody>
      </p:sp>
      <p:sp>
        <p:nvSpPr>
          <p:cNvPr id="33" name="Shape 5"/>
          <p:cNvSpPr/>
          <p:nvPr/>
        </p:nvSpPr>
        <p:spPr>
          <a:xfrm>
            <a:off x="713230" y="2020822"/>
            <a:ext cx="475490" cy="475490"/>
          </a:xfrm>
          <a:prstGeom prst="roundRect">
            <a:avLst>
              <a:gd name="adj" fmla="val 19231"/>
            </a:avLst>
          </a:prstGeom>
          <a:solidFill>
            <a:srgbClr val="2E6BFF"/>
          </a:solidFill>
          <a:ln w="12700">
            <a:miter lim="400000"/>
          </a:ln>
        </p:spPr>
        <p:txBody>
          <a:bodyPr lIns="45718" tIns="45718" rIns="45718" bIns="45718"/>
          <a:lstStyle/>
          <a:p>
            <a:pPr>
              <a:defRPr>
                <a:latin typeface="+mn-lt"/>
                <a:ea typeface="+mn-ea"/>
                <a:cs typeface="+mn-cs"/>
                <a:sym typeface="Calibri"/>
              </a:defRPr>
            </a:pPr>
            <a:endParaRPr/>
          </a:p>
        </p:txBody>
      </p:sp>
      <p:sp>
        <p:nvSpPr>
          <p:cNvPr id="34" name="Text 6"/>
          <p:cNvSpPr txBox="1"/>
          <p:nvPr/>
        </p:nvSpPr>
        <p:spPr>
          <a:xfrm>
            <a:off x="713230" y="2110528"/>
            <a:ext cx="475490" cy="29607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defRPr sz="2100" b="1">
                <a:solidFill>
                  <a:srgbClr val="FFFFFF"/>
                </a:solidFill>
                <a:latin typeface="Arial"/>
                <a:ea typeface="Arial"/>
                <a:cs typeface="Arial"/>
                <a:sym typeface="Arial"/>
              </a:defRPr>
            </a:lvl1pPr>
          </a:lstStyle>
          <a:p>
            <a:r>
              <a:t>1</a:t>
            </a:r>
          </a:p>
        </p:txBody>
      </p:sp>
      <p:sp>
        <p:nvSpPr>
          <p:cNvPr id="35" name="Text 7"/>
          <p:cNvSpPr txBox="1"/>
          <p:nvPr/>
        </p:nvSpPr>
        <p:spPr>
          <a:xfrm>
            <a:off x="1353310" y="2048578"/>
            <a:ext cx="6492244" cy="20966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500" b="1">
                <a:solidFill>
                  <a:srgbClr val="111111"/>
                </a:solidFill>
                <a:latin typeface="Arial"/>
                <a:ea typeface="Arial"/>
                <a:cs typeface="Arial"/>
                <a:sym typeface="Arial"/>
              </a:defRPr>
            </a:lvl1pPr>
          </a:lstStyle>
          <a:p>
            <a:r>
              <a:t>Les hypothèses à tester</a:t>
            </a:r>
          </a:p>
        </p:txBody>
      </p:sp>
      <p:sp>
        <p:nvSpPr>
          <p:cNvPr id="36" name="Text 8"/>
          <p:cNvSpPr txBox="1"/>
          <p:nvPr/>
        </p:nvSpPr>
        <p:spPr>
          <a:xfrm>
            <a:off x="1353310" y="2344727"/>
            <a:ext cx="6492244" cy="1568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200">
                <a:solidFill>
                  <a:srgbClr val="6E6E6E"/>
                </a:solidFill>
                <a:latin typeface="+mn-lt"/>
                <a:ea typeface="+mn-ea"/>
                <a:cs typeface="+mn-cs"/>
                <a:sym typeface="Calibri"/>
              </a:defRPr>
            </a:lvl1pPr>
          </a:lstStyle>
          <a:p>
            <a:r>
              <a:t>Transformer vos intuitions en paris qu'on peut vérifier.</a:t>
            </a:r>
          </a:p>
        </p:txBody>
      </p:sp>
      <p:sp>
        <p:nvSpPr>
          <p:cNvPr id="37" name="Shape 9"/>
          <p:cNvSpPr/>
          <p:nvPr/>
        </p:nvSpPr>
        <p:spPr>
          <a:xfrm>
            <a:off x="566927" y="2734055"/>
            <a:ext cx="7452361" cy="768098"/>
          </a:xfrm>
          <a:prstGeom prst="roundRect">
            <a:avLst>
              <a:gd name="adj" fmla="val 5952"/>
            </a:avLst>
          </a:prstGeom>
          <a:solidFill>
            <a:srgbClr val="F4F5F8"/>
          </a:solidFill>
          <a:ln w="12700">
            <a:solidFill>
              <a:srgbClr val="DCDFE7"/>
            </a:solidFill>
          </a:ln>
        </p:spPr>
        <p:txBody>
          <a:bodyPr lIns="45718" tIns="45718" rIns="45718" bIns="45718"/>
          <a:lstStyle/>
          <a:p>
            <a:pPr>
              <a:defRPr>
                <a:latin typeface="+mn-lt"/>
                <a:ea typeface="+mn-ea"/>
                <a:cs typeface="+mn-cs"/>
                <a:sym typeface="Calibri"/>
              </a:defRPr>
            </a:pPr>
            <a:endParaRPr/>
          </a:p>
        </p:txBody>
      </p:sp>
      <p:sp>
        <p:nvSpPr>
          <p:cNvPr id="38" name="Shape 10"/>
          <p:cNvSpPr/>
          <p:nvPr/>
        </p:nvSpPr>
        <p:spPr>
          <a:xfrm>
            <a:off x="713230" y="2880360"/>
            <a:ext cx="475490" cy="475490"/>
          </a:xfrm>
          <a:prstGeom prst="roundRect">
            <a:avLst>
              <a:gd name="adj" fmla="val 19231"/>
            </a:avLst>
          </a:prstGeom>
          <a:solidFill>
            <a:srgbClr val="2E6BFF"/>
          </a:solidFill>
          <a:ln w="12700">
            <a:miter lim="400000"/>
          </a:ln>
        </p:spPr>
        <p:txBody>
          <a:bodyPr lIns="45718" tIns="45718" rIns="45718" bIns="45718"/>
          <a:lstStyle/>
          <a:p>
            <a:pPr>
              <a:defRPr>
                <a:latin typeface="+mn-lt"/>
                <a:ea typeface="+mn-ea"/>
                <a:cs typeface="+mn-cs"/>
                <a:sym typeface="Calibri"/>
              </a:defRPr>
            </a:pPr>
            <a:endParaRPr/>
          </a:p>
        </p:txBody>
      </p:sp>
      <p:sp>
        <p:nvSpPr>
          <p:cNvPr id="39" name="Text 11"/>
          <p:cNvSpPr txBox="1"/>
          <p:nvPr/>
        </p:nvSpPr>
        <p:spPr>
          <a:xfrm>
            <a:off x="713230" y="2970065"/>
            <a:ext cx="475490" cy="29607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defRPr sz="2100" b="1">
                <a:solidFill>
                  <a:srgbClr val="FFFFFF"/>
                </a:solidFill>
                <a:latin typeface="Arial"/>
                <a:ea typeface="Arial"/>
                <a:cs typeface="Arial"/>
                <a:sym typeface="Arial"/>
              </a:defRPr>
            </a:lvl1pPr>
          </a:lstStyle>
          <a:p>
            <a:r>
              <a:t>2</a:t>
            </a:r>
          </a:p>
        </p:txBody>
      </p:sp>
      <p:sp>
        <p:nvSpPr>
          <p:cNvPr id="40" name="Text 12"/>
          <p:cNvSpPr txBox="1"/>
          <p:nvPr/>
        </p:nvSpPr>
        <p:spPr>
          <a:xfrm>
            <a:off x="1353310" y="2908113"/>
            <a:ext cx="6492244" cy="2096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500" b="1">
                <a:solidFill>
                  <a:srgbClr val="111111"/>
                </a:solidFill>
                <a:latin typeface="Arial"/>
                <a:ea typeface="Arial"/>
                <a:cs typeface="Arial"/>
                <a:sym typeface="Arial"/>
              </a:defRPr>
            </a:lvl1pPr>
          </a:lstStyle>
          <a:p>
            <a:r>
              <a:t>Le protocole de test</a:t>
            </a:r>
          </a:p>
        </p:txBody>
      </p:sp>
      <p:sp>
        <p:nvSpPr>
          <p:cNvPr id="41" name="Text 13"/>
          <p:cNvSpPr txBox="1"/>
          <p:nvPr/>
        </p:nvSpPr>
        <p:spPr>
          <a:xfrm>
            <a:off x="1353310" y="3204262"/>
            <a:ext cx="6492244" cy="15686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200">
                <a:solidFill>
                  <a:srgbClr val="6E6E6E"/>
                </a:solidFill>
                <a:latin typeface="+mn-lt"/>
                <a:ea typeface="+mn-ea"/>
                <a:cs typeface="+mn-cs"/>
                <a:sym typeface="Calibri"/>
              </a:defRPr>
            </a:lvl1pPr>
          </a:lstStyle>
          <a:p>
            <a:r>
              <a:t>Un scénario, une mission, des points à observer — sans influencer.</a:t>
            </a:r>
          </a:p>
        </p:txBody>
      </p:sp>
      <p:sp>
        <p:nvSpPr>
          <p:cNvPr id="42" name="Shape 14"/>
          <p:cNvSpPr/>
          <p:nvPr/>
        </p:nvSpPr>
        <p:spPr>
          <a:xfrm>
            <a:off x="566927" y="3593591"/>
            <a:ext cx="7452361" cy="768098"/>
          </a:xfrm>
          <a:prstGeom prst="roundRect">
            <a:avLst>
              <a:gd name="adj" fmla="val 5952"/>
            </a:avLst>
          </a:prstGeom>
          <a:solidFill>
            <a:srgbClr val="F4F5F8"/>
          </a:solidFill>
          <a:ln w="12700">
            <a:solidFill>
              <a:srgbClr val="DCDFE7"/>
            </a:solidFill>
          </a:ln>
        </p:spPr>
        <p:txBody>
          <a:bodyPr lIns="45718" tIns="45718" rIns="45718" bIns="45718"/>
          <a:lstStyle/>
          <a:p>
            <a:pPr>
              <a:defRPr>
                <a:latin typeface="+mn-lt"/>
                <a:ea typeface="+mn-ea"/>
                <a:cs typeface="+mn-cs"/>
                <a:sym typeface="Calibri"/>
              </a:defRPr>
            </a:pPr>
            <a:endParaRPr/>
          </a:p>
        </p:txBody>
      </p:sp>
      <p:sp>
        <p:nvSpPr>
          <p:cNvPr id="43" name="Shape 15"/>
          <p:cNvSpPr/>
          <p:nvPr/>
        </p:nvSpPr>
        <p:spPr>
          <a:xfrm>
            <a:off x="713230" y="3739896"/>
            <a:ext cx="475490" cy="475490"/>
          </a:xfrm>
          <a:prstGeom prst="roundRect">
            <a:avLst>
              <a:gd name="adj" fmla="val 19231"/>
            </a:avLst>
          </a:prstGeom>
          <a:solidFill>
            <a:srgbClr val="2E6BFF"/>
          </a:solidFill>
          <a:ln w="12700">
            <a:miter lim="400000"/>
          </a:ln>
        </p:spPr>
        <p:txBody>
          <a:bodyPr lIns="45718" tIns="45718" rIns="45718" bIns="45718"/>
          <a:lstStyle/>
          <a:p>
            <a:pPr>
              <a:defRPr>
                <a:latin typeface="+mn-lt"/>
                <a:ea typeface="+mn-ea"/>
                <a:cs typeface="+mn-cs"/>
                <a:sym typeface="Calibri"/>
              </a:defRPr>
            </a:pPr>
            <a:endParaRPr/>
          </a:p>
        </p:txBody>
      </p:sp>
      <p:sp>
        <p:nvSpPr>
          <p:cNvPr id="44" name="Text 16"/>
          <p:cNvSpPr txBox="1"/>
          <p:nvPr/>
        </p:nvSpPr>
        <p:spPr>
          <a:xfrm>
            <a:off x="713230" y="3829601"/>
            <a:ext cx="475490" cy="29607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defRPr sz="2100" b="1">
                <a:solidFill>
                  <a:srgbClr val="FFFFFF"/>
                </a:solidFill>
                <a:latin typeface="Arial"/>
                <a:ea typeface="Arial"/>
                <a:cs typeface="Arial"/>
                <a:sym typeface="Arial"/>
              </a:defRPr>
            </a:lvl1pPr>
          </a:lstStyle>
          <a:p>
            <a:r>
              <a:t>3</a:t>
            </a:r>
          </a:p>
        </p:txBody>
      </p:sp>
      <p:sp>
        <p:nvSpPr>
          <p:cNvPr id="45" name="Text 17"/>
          <p:cNvSpPr txBox="1"/>
          <p:nvPr/>
        </p:nvSpPr>
        <p:spPr>
          <a:xfrm>
            <a:off x="1353310" y="3767649"/>
            <a:ext cx="6492244" cy="2096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500" b="1">
                <a:solidFill>
                  <a:srgbClr val="111111"/>
                </a:solidFill>
                <a:latin typeface="Arial"/>
                <a:ea typeface="Arial"/>
                <a:cs typeface="Arial"/>
                <a:sym typeface="Arial"/>
              </a:defRPr>
            </a:lvl1pPr>
          </a:lstStyle>
          <a:p>
            <a:r>
              <a:t>Les wireframes</a:t>
            </a:r>
          </a:p>
        </p:txBody>
      </p:sp>
      <p:sp>
        <p:nvSpPr>
          <p:cNvPr id="46" name="Text 18"/>
          <p:cNvSpPr txBox="1"/>
          <p:nvPr/>
        </p:nvSpPr>
        <p:spPr>
          <a:xfrm>
            <a:off x="1353310" y="4063798"/>
            <a:ext cx="6492244" cy="15686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200">
                <a:solidFill>
                  <a:srgbClr val="6E6E6E"/>
                </a:solidFill>
                <a:latin typeface="+mn-lt"/>
                <a:ea typeface="+mn-ea"/>
                <a:cs typeface="+mn-cs"/>
                <a:sym typeface="Calibri"/>
              </a:defRPr>
            </a:lvl1pPr>
          </a:lstStyle>
          <a:p>
            <a:r>
              <a:t>Vos écrans à dessiner dans le carnet Wireframes (fichier séparé).</a:t>
            </a:r>
          </a:p>
        </p:txBody>
      </p:sp>
      <p:sp>
        <p:nvSpPr>
          <p:cNvPr id="47" name="Shape 19"/>
          <p:cNvSpPr/>
          <p:nvPr/>
        </p:nvSpPr>
        <p:spPr>
          <a:xfrm>
            <a:off x="566927" y="4453128"/>
            <a:ext cx="7452361" cy="768098"/>
          </a:xfrm>
          <a:prstGeom prst="roundRect">
            <a:avLst>
              <a:gd name="adj" fmla="val 5952"/>
            </a:avLst>
          </a:prstGeom>
          <a:solidFill>
            <a:srgbClr val="F4F5F8"/>
          </a:solidFill>
          <a:ln w="12700">
            <a:solidFill>
              <a:srgbClr val="DCDFE7"/>
            </a:solidFill>
          </a:ln>
        </p:spPr>
        <p:txBody>
          <a:bodyPr lIns="45718" tIns="45718" rIns="45718" bIns="45718"/>
          <a:lstStyle/>
          <a:p>
            <a:pPr>
              <a:defRPr>
                <a:latin typeface="+mn-lt"/>
                <a:ea typeface="+mn-ea"/>
                <a:cs typeface="+mn-cs"/>
                <a:sym typeface="Calibri"/>
              </a:defRPr>
            </a:pPr>
            <a:endParaRPr/>
          </a:p>
        </p:txBody>
      </p:sp>
      <p:sp>
        <p:nvSpPr>
          <p:cNvPr id="48" name="Shape 20"/>
          <p:cNvSpPr/>
          <p:nvPr/>
        </p:nvSpPr>
        <p:spPr>
          <a:xfrm>
            <a:off x="713230" y="4599432"/>
            <a:ext cx="475490" cy="475490"/>
          </a:xfrm>
          <a:prstGeom prst="roundRect">
            <a:avLst>
              <a:gd name="adj" fmla="val 19231"/>
            </a:avLst>
          </a:prstGeom>
          <a:solidFill>
            <a:srgbClr val="2E6BFF"/>
          </a:solidFill>
          <a:ln w="12700">
            <a:miter lim="400000"/>
          </a:ln>
        </p:spPr>
        <p:txBody>
          <a:bodyPr lIns="45718" tIns="45718" rIns="45718" bIns="45718"/>
          <a:lstStyle/>
          <a:p>
            <a:pPr>
              <a:defRPr>
                <a:latin typeface="+mn-lt"/>
                <a:ea typeface="+mn-ea"/>
                <a:cs typeface="+mn-cs"/>
                <a:sym typeface="Calibri"/>
              </a:defRPr>
            </a:pPr>
            <a:endParaRPr/>
          </a:p>
        </p:txBody>
      </p:sp>
      <p:sp>
        <p:nvSpPr>
          <p:cNvPr id="49" name="Text 21"/>
          <p:cNvSpPr txBox="1"/>
          <p:nvPr/>
        </p:nvSpPr>
        <p:spPr>
          <a:xfrm>
            <a:off x="713230" y="4689137"/>
            <a:ext cx="475490" cy="29607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defRPr sz="2100" b="1">
                <a:solidFill>
                  <a:srgbClr val="FFFFFF"/>
                </a:solidFill>
                <a:latin typeface="Arial"/>
                <a:ea typeface="Arial"/>
                <a:cs typeface="Arial"/>
                <a:sym typeface="Arial"/>
              </a:defRPr>
            </a:lvl1pPr>
          </a:lstStyle>
          <a:p>
            <a:r>
              <a:t>4</a:t>
            </a:r>
          </a:p>
        </p:txBody>
      </p:sp>
      <p:sp>
        <p:nvSpPr>
          <p:cNvPr id="50" name="Text 22"/>
          <p:cNvSpPr txBox="1"/>
          <p:nvPr/>
        </p:nvSpPr>
        <p:spPr>
          <a:xfrm>
            <a:off x="1353310" y="4627186"/>
            <a:ext cx="6492244" cy="20966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500" b="1">
                <a:solidFill>
                  <a:srgbClr val="111111"/>
                </a:solidFill>
                <a:latin typeface="Arial"/>
                <a:ea typeface="Arial"/>
                <a:cs typeface="Arial"/>
                <a:sym typeface="Arial"/>
              </a:defRPr>
            </a:lvl1pPr>
          </a:lstStyle>
          <a:p>
            <a:r>
              <a:t>La synthèse des tests</a:t>
            </a:r>
          </a:p>
        </p:txBody>
      </p:sp>
      <p:sp>
        <p:nvSpPr>
          <p:cNvPr id="51" name="Text 23"/>
          <p:cNvSpPr txBox="1"/>
          <p:nvPr/>
        </p:nvSpPr>
        <p:spPr>
          <a:xfrm>
            <a:off x="1353310" y="4923335"/>
            <a:ext cx="6492244" cy="1568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200">
                <a:solidFill>
                  <a:srgbClr val="6E6E6E"/>
                </a:solidFill>
                <a:latin typeface="+mn-lt"/>
                <a:ea typeface="+mn-ea"/>
                <a:cs typeface="+mn-cs"/>
                <a:sym typeface="Calibri"/>
              </a:defRPr>
            </a:lvl1pPr>
          </a:lstStyle>
          <a:p>
            <a:r>
              <a:t>Ce qui a marché, ce qui a coincé, ce qu'on garde.</a:t>
            </a:r>
          </a:p>
        </p:txBody>
      </p:sp>
      <p:sp>
        <p:nvSpPr>
          <p:cNvPr id="52" name="Shape 24"/>
          <p:cNvSpPr/>
          <p:nvPr/>
        </p:nvSpPr>
        <p:spPr>
          <a:xfrm>
            <a:off x="566927" y="5312664"/>
            <a:ext cx="7452361" cy="768098"/>
          </a:xfrm>
          <a:prstGeom prst="roundRect">
            <a:avLst>
              <a:gd name="adj" fmla="val 5952"/>
            </a:avLst>
          </a:prstGeom>
          <a:solidFill>
            <a:srgbClr val="F4F5F8"/>
          </a:solidFill>
          <a:ln w="12700">
            <a:solidFill>
              <a:srgbClr val="DCDFE7"/>
            </a:solidFill>
          </a:ln>
        </p:spPr>
        <p:txBody>
          <a:bodyPr lIns="45718" tIns="45718" rIns="45718" bIns="45718"/>
          <a:lstStyle/>
          <a:p>
            <a:pPr>
              <a:defRPr>
                <a:latin typeface="+mn-lt"/>
                <a:ea typeface="+mn-ea"/>
                <a:cs typeface="+mn-cs"/>
                <a:sym typeface="Calibri"/>
              </a:defRPr>
            </a:pPr>
            <a:endParaRPr/>
          </a:p>
        </p:txBody>
      </p:sp>
      <p:sp>
        <p:nvSpPr>
          <p:cNvPr id="53" name="Shape 25"/>
          <p:cNvSpPr/>
          <p:nvPr/>
        </p:nvSpPr>
        <p:spPr>
          <a:xfrm>
            <a:off x="713230" y="5458967"/>
            <a:ext cx="475490" cy="475490"/>
          </a:xfrm>
          <a:prstGeom prst="roundRect">
            <a:avLst>
              <a:gd name="adj" fmla="val 19231"/>
            </a:avLst>
          </a:prstGeom>
          <a:solidFill>
            <a:srgbClr val="2E6BFF"/>
          </a:solidFill>
          <a:ln w="12700">
            <a:miter lim="400000"/>
          </a:ln>
        </p:spPr>
        <p:txBody>
          <a:bodyPr lIns="45718" tIns="45718" rIns="45718" bIns="45718"/>
          <a:lstStyle/>
          <a:p>
            <a:pPr>
              <a:defRPr>
                <a:latin typeface="+mn-lt"/>
                <a:ea typeface="+mn-ea"/>
                <a:cs typeface="+mn-cs"/>
                <a:sym typeface="Calibri"/>
              </a:defRPr>
            </a:pPr>
            <a:endParaRPr/>
          </a:p>
        </p:txBody>
      </p:sp>
      <p:sp>
        <p:nvSpPr>
          <p:cNvPr id="54" name="Text 26"/>
          <p:cNvSpPr txBox="1"/>
          <p:nvPr/>
        </p:nvSpPr>
        <p:spPr>
          <a:xfrm>
            <a:off x="713230" y="5548674"/>
            <a:ext cx="475490" cy="29607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defRPr sz="2100" b="1">
                <a:solidFill>
                  <a:srgbClr val="FFFFFF"/>
                </a:solidFill>
                <a:latin typeface="Arial"/>
                <a:ea typeface="Arial"/>
                <a:cs typeface="Arial"/>
                <a:sym typeface="Arial"/>
              </a:defRPr>
            </a:lvl1pPr>
          </a:lstStyle>
          <a:p>
            <a:r>
              <a:t>5</a:t>
            </a:r>
          </a:p>
        </p:txBody>
      </p:sp>
      <p:sp>
        <p:nvSpPr>
          <p:cNvPr id="55" name="Text 27"/>
          <p:cNvSpPr txBox="1"/>
          <p:nvPr/>
        </p:nvSpPr>
        <p:spPr>
          <a:xfrm>
            <a:off x="1353310" y="5486722"/>
            <a:ext cx="6492244" cy="20966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500" b="1">
                <a:solidFill>
                  <a:srgbClr val="111111"/>
                </a:solidFill>
                <a:latin typeface="Arial"/>
                <a:ea typeface="Arial"/>
                <a:cs typeface="Arial"/>
                <a:sym typeface="Arial"/>
              </a:defRPr>
            </a:lvl1pPr>
          </a:lstStyle>
          <a:p>
            <a:r>
              <a:t>Proposition de valeur + qui paie</a:t>
            </a:r>
          </a:p>
        </p:txBody>
      </p:sp>
      <p:sp>
        <p:nvSpPr>
          <p:cNvPr id="56" name="Text 28"/>
          <p:cNvSpPr txBox="1"/>
          <p:nvPr/>
        </p:nvSpPr>
        <p:spPr>
          <a:xfrm>
            <a:off x="1353310" y="5782871"/>
            <a:ext cx="6492244" cy="1568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200">
                <a:solidFill>
                  <a:srgbClr val="6E6E6E"/>
                </a:solidFill>
                <a:latin typeface="+mn-lt"/>
                <a:ea typeface="+mn-ea"/>
                <a:cs typeface="+mn-cs"/>
                <a:sym typeface="Calibri"/>
              </a:defRPr>
            </a:lvl1pPr>
          </a:lstStyle>
          <a:p>
            <a:r>
              <a:t>Faire évoluer la valeur, et poser la question du modèle économique.</a:t>
            </a:r>
          </a:p>
        </p:txBody>
      </p:sp>
      <p:sp>
        <p:nvSpPr>
          <p:cNvPr id="57" name="Shape 29"/>
          <p:cNvSpPr/>
          <p:nvPr/>
        </p:nvSpPr>
        <p:spPr>
          <a:xfrm>
            <a:off x="8385047" y="1874520"/>
            <a:ext cx="3239721" cy="4206242"/>
          </a:xfrm>
          <a:prstGeom prst="roundRect">
            <a:avLst>
              <a:gd name="adj" fmla="val 1693"/>
            </a:avLst>
          </a:prstGeom>
          <a:solidFill>
            <a:srgbClr val="10131C"/>
          </a:solidFill>
          <a:ln w="12700">
            <a:miter lim="400000"/>
          </a:ln>
        </p:spPr>
        <p:txBody>
          <a:bodyPr lIns="45718" tIns="45718" rIns="45718" bIns="45718"/>
          <a:lstStyle/>
          <a:p>
            <a:pPr>
              <a:defRPr>
                <a:latin typeface="+mn-lt"/>
                <a:ea typeface="+mn-ea"/>
                <a:cs typeface="+mn-cs"/>
                <a:sym typeface="Calibri"/>
              </a:defRPr>
            </a:pPr>
            <a:endParaRPr/>
          </a:p>
        </p:txBody>
      </p:sp>
      <p:pic>
        <p:nvPicPr>
          <p:cNvPr id="58" name="Image 0" descr="Image 0"/>
          <p:cNvPicPr>
            <a:picLocks noChangeAspect="1"/>
          </p:cNvPicPr>
          <p:nvPr/>
        </p:nvPicPr>
        <p:blipFill>
          <a:blip r:embed="rId2"/>
          <a:stretch>
            <a:fillRect/>
          </a:stretch>
        </p:blipFill>
        <p:spPr>
          <a:xfrm>
            <a:off x="8659368" y="2185416"/>
            <a:ext cx="566930" cy="566930"/>
          </a:xfrm>
          <a:prstGeom prst="rect">
            <a:avLst/>
          </a:prstGeom>
          <a:ln w="12700">
            <a:miter lim="400000"/>
          </a:ln>
        </p:spPr>
      </p:pic>
      <p:sp>
        <p:nvSpPr>
          <p:cNvPr id="59" name="Text 30"/>
          <p:cNvSpPr txBox="1"/>
          <p:nvPr/>
        </p:nvSpPr>
        <p:spPr>
          <a:xfrm>
            <a:off x="8659368" y="2961893"/>
            <a:ext cx="2736801" cy="14783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100" b="1" spc="200">
                <a:solidFill>
                  <a:srgbClr val="2E6BFF"/>
                </a:solidFill>
                <a:latin typeface="Arial"/>
                <a:ea typeface="Arial"/>
                <a:cs typeface="Arial"/>
                <a:sym typeface="Arial"/>
              </a:defRPr>
            </a:lvl1pPr>
          </a:lstStyle>
          <a:p>
            <a:r>
              <a:t>+ EN FIN DE JOURNÉE</a:t>
            </a:r>
          </a:p>
        </p:txBody>
      </p:sp>
      <p:sp>
        <p:nvSpPr>
          <p:cNvPr id="60" name="Text 31"/>
          <p:cNvSpPr txBox="1"/>
          <p:nvPr/>
        </p:nvSpPr>
        <p:spPr>
          <a:xfrm>
            <a:off x="8659368" y="3216606"/>
            <a:ext cx="2736801" cy="3333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2300" b="1">
                <a:solidFill>
                  <a:srgbClr val="FFFFFF"/>
                </a:solidFill>
                <a:latin typeface="Arial"/>
                <a:ea typeface="Arial"/>
                <a:cs typeface="Arial"/>
                <a:sym typeface="Arial"/>
              </a:defRPr>
            </a:lvl1pPr>
          </a:lstStyle>
          <a:p>
            <a:r>
              <a:t>Le Journal IA</a:t>
            </a:r>
          </a:p>
        </p:txBody>
      </p:sp>
      <p:sp>
        <p:nvSpPr>
          <p:cNvPr id="61" name="Text 32"/>
          <p:cNvSpPr txBox="1"/>
          <p:nvPr/>
        </p:nvSpPr>
        <p:spPr>
          <a:xfrm>
            <a:off x="8659368" y="4362389"/>
            <a:ext cx="2691081" cy="87642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nSpc>
                <a:spcPct val="120000"/>
              </a:lnSpc>
              <a:defRPr sz="1300">
                <a:solidFill>
                  <a:srgbClr val="C7CCD8"/>
                </a:solidFill>
                <a:latin typeface="+mn-lt"/>
                <a:ea typeface="+mn-ea"/>
                <a:cs typeface="+mn-cs"/>
                <a:sym typeface="Calibri"/>
              </a:defRPr>
            </a:lvl1pPr>
          </a:lstStyle>
          <a:p>
            <a:r>
              <a:t>Le prototypage, c'est là que l'IA devient tentante. Notez où vous l'utilisez pour tester, générer, ou trancher et ce qui vous surprend.</a:t>
            </a:r>
          </a:p>
        </p:txBody>
      </p:sp>
      <p:pic>
        <p:nvPicPr>
          <p:cNvPr id="62" name="Image 1" descr="Image 1"/>
          <p:cNvPicPr>
            <a:picLocks noChangeAspect="1"/>
          </p:cNvPicPr>
          <p:nvPr/>
        </p:nvPicPr>
        <p:blipFill>
          <a:blip r:embed="rId3"/>
          <a:stretch>
            <a:fillRect/>
          </a:stretch>
        </p:blipFill>
        <p:spPr>
          <a:xfrm>
            <a:off x="566927" y="6382510"/>
            <a:ext cx="868682" cy="223116"/>
          </a:xfrm>
          <a:prstGeom prst="rect">
            <a:avLst/>
          </a:prstGeom>
          <a:ln w="12700">
            <a:miter lim="400000"/>
          </a:ln>
        </p:spPr>
      </p:pic>
      <p:sp>
        <p:nvSpPr>
          <p:cNvPr id="63" name="Text 33"/>
          <p:cNvSpPr txBox="1"/>
          <p:nvPr/>
        </p:nvSpPr>
        <p:spPr>
          <a:xfrm>
            <a:off x="8515807" y="6428738"/>
            <a:ext cx="310896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r">
              <a:defRPr sz="900" b="1" spc="200">
                <a:solidFill>
                  <a:srgbClr val="9A9A9A"/>
                </a:solidFill>
                <a:latin typeface="Arial"/>
                <a:ea typeface="Arial"/>
                <a:cs typeface="Arial"/>
                <a:sym typeface="Arial"/>
              </a:defRPr>
            </a:lvl1pPr>
          </a:lstStyle>
          <a:p>
            <a:r>
              <a:t>IDDIC 2026  ·  BREAKING AI</a:t>
            </a:r>
          </a:p>
        </p:txBody>
      </p:sp>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Text 2"/>
          <p:cNvSpPr txBox="1"/>
          <p:nvPr/>
        </p:nvSpPr>
        <p:spPr>
          <a:xfrm>
            <a:off x="1865376" y="553672"/>
            <a:ext cx="7315201" cy="17281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200" b="1" spc="300">
                <a:solidFill>
                  <a:srgbClr val="111111"/>
                </a:solidFill>
                <a:latin typeface="Arial"/>
                <a:ea typeface="Arial"/>
                <a:cs typeface="Arial"/>
                <a:sym typeface="Arial"/>
              </a:defRPr>
            </a:lvl1pPr>
          </a:lstStyle>
          <a:p>
            <a:r>
              <a:t>TEMPLATE 1 / 5</a:t>
            </a:r>
          </a:p>
        </p:txBody>
      </p:sp>
      <p:sp>
        <p:nvSpPr>
          <p:cNvPr id="66" name="Text 3"/>
          <p:cNvSpPr txBox="1"/>
          <p:nvPr/>
        </p:nvSpPr>
        <p:spPr>
          <a:xfrm>
            <a:off x="566926" y="1005838"/>
            <a:ext cx="11057842" cy="41933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defRPr sz="3000" b="1">
                <a:solidFill>
                  <a:srgbClr val="111111"/>
                </a:solidFill>
                <a:latin typeface="Arial"/>
                <a:ea typeface="Arial"/>
                <a:cs typeface="Arial"/>
                <a:sym typeface="Arial"/>
              </a:defRPr>
            </a:lvl1pPr>
          </a:lstStyle>
          <a:p>
            <a:r>
              <a:t>Les hypothèses à tester</a:t>
            </a:r>
          </a:p>
        </p:txBody>
      </p:sp>
      <p:sp>
        <p:nvSpPr>
          <p:cNvPr id="67" name="Text 4"/>
          <p:cNvSpPr txBox="1"/>
          <p:nvPr/>
        </p:nvSpPr>
        <p:spPr>
          <a:xfrm>
            <a:off x="566927" y="1755648"/>
            <a:ext cx="10874962" cy="18655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defRPr sz="1500" i="1">
                <a:solidFill>
                  <a:srgbClr val="6E6E6E"/>
                </a:solidFill>
                <a:latin typeface="+mn-lt"/>
                <a:ea typeface="+mn-ea"/>
                <a:cs typeface="+mn-cs"/>
                <a:sym typeface="Calibri"/>
              </a:defRPr>
            </a:lvl1pPr>
          </a:lstStyle>
          <a:p>
            <a:r>
              <a:t>Une bonne hypothèse est un pari précis. On peut avoir tort ou raison.</a:t>
            </a:r>
          </a:p>
        </p:txBody>
      </p:sp>
      <p:sp>
        <p:nvSpPr>
          <p:cNvPr id="68" name="Shape 5"/>
          <p:cNvSpPr/>
          <p:nvPr/>
        </p:nvSpPr>
        <p:spPr>
          <a:xfrm>
            <a:off x="566926" y="2103120"/>
            <a:ext cx="11057842" cy="658370"/>
          </a:xfrm>
          <a:prstGeom prst="rect">
            <a:avLst/>
          </a:prstGeom>
          <a:solidFill>
            <a:srgbClr val="FFFFFF"/>
          </a:solidFill>
          <a:ln w="25400">
            <a:solidFill>
              <a:srgbClr val="000000"/>
            </a:solidFill>
          </a:ln>
        </p:spPr>
        <p:txBody>
          <a:bodyPr lIns="45718" tIns="45718" rIns="45718" bIns="45718"/>
          <a:lstStyle/>
          <a:p>
            <a:pPr>
              <a:defRPr>
                <a:latin typeface="+mn-lt"/>
                <a:ea typeface="+mn-ea"/>
                <a:cs typeface="+mn-cs"/>
                <a:sym typeface="Calibri"/>
              </a:defRPr>
            </a:pPr>
            <a:endParaRPr/>
          </a:p>
        </p:txBody>
      </p:sp>
      <p:sp>
        <p:nvSpPr>
          <p:cNvPr id="69" name="Text 6"/>
          <p:cNvSpPr txBox="1"/>
          <p:nvPr/>
        </p:nvSpPr>
        <p:spPr>
          <a:xfrm>
            <a:off x="786382" y="2353871"/>
            <a:ext cx="10618931" cy="1568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p>
            <a:pPr>
              <a:lnSpc>
                <a:spcPct val="104999"/>
              </a:lnSpc>
              <a:defRPr sz="1200" b="1">
                <a:solidFill>
                  <a:srgbClr val="111111"/>
                </a:solidFill>
                <a:latin typeface="+mn-lt"/>
                <a:ea typeface="+mn-ea"/>
                <a:cs typeface="+mn-cs"/>
                <a:sym typeface="Calibri"/>
              </a:defRPr>
            </a:pPr>
            <a:r>
              <a:t>LA FORME D'UN PARI TESTABLE  —  </a:t>
            </a:r>
            <a:r>
              <a:rPr b="0"/>
              <a:t>« On parie que … . Si c'est vrai, on devrait voir … . On saura qu'on s'est trompés si … . »</a:t>
            </a:r>
          </a:p>
        </p:txBody>
      </p:sp>
      <p:sp>
        <p:nvSpPr>
          <p:cNvPr id="70" name="Shape 7"/>
          <p:cNvSpPr/>
          <p:nvPr/>
        </p:nvSpPr>
        <p:spPr>
          <a:xfrm>
            <a:off x="566928" y="2926078"/>
            <a:ext cx="5368900" cy="1466465"/>
          </a:xfrm>
          <a:prstGeom prst="rect">
            <a:avLst/>
          </a:prstGeom>
          <a:solidFill>
            <a:srgbClr val="FFFFFF"/>
          </a:solidFill>
          <a:ln w="19050">
            <a:solidFill>
              <a:srgbClr val="000000"/>
            </a:solidFill>
          </a:ln>
        </p:spPr>
        <p:txBody>
          <a:bodyPr lIns="45718" tIns="45718" rIns="45718" bIns="45718"/>
          <a:lstStyle/>
          <a:p>
            <a:pPr>
              <a:defRPr>
                <a:latin typeface="+mn-lt"/>
                <a:ea typeface="+mn-ea"/>
                <a:cs typeface="+mn-cs"/>
                <a:sym typeface="Calibri"/>
              </a:defRPr>
            </a:pPr>
            <a:endParaRPr/>
          </a:p>
        </p:txBody>
      </p:sp>
      <p:sp>
        <p:nvSpPr>
          <p:cNvPr id="71" name="Shape 8"/>
          <p:cNvSpPr/>
          <p:nvPr/>
        </p:nvSpPr>
        <p:spPr>
          <a:xfrm>
            <a:off x="713230" y="3072383"/>
            <a:ext cx="365763" cy="365762"/>
          </a:xfrm>
          <a:prstGeom prst="rect">
            <a:avLst/>
          </a:prstGeom>
          <a:solidFill>
            <a:srgbClr val="000000"/>
          </a:solidFill>
          <a:ln w="12700">
            <a:miter lim="400000"/>
          </a:ln>
        </p:spPr>
        <p:txBody>
          <a:bodyPr lIns="45718" tIns="45718" rIns="45718" bIns="45718"/>
          <a:lstStyle/>
          <a:p>
            <a:pPr>
              <a:defRPr>
                <a:latin typeface="+mn-lt"/>
                <a:ea typeface="+mn-ea"/>
                <a:cs typeface="+mn-cs"/>
                <a:sym typeface="Calibri"/>
              </a:defRPr>
            </a:pPr>
            <a:endParaRPr/>
          </a:p>
        </p:txBody>
      </p:sp>
      <p:sp>
        <p:nvSpPr>
          <p:cNvPr id="72" name="Text 9"/>
          <p:cNvSpPr txBox="1"/>
          <p:nvPr/>
        </p:nvSpPr>
        <p:spPr>
          <a:xfrm>
            <a:off x="713230" y="3144286"/>
            <a:ext cx="365763" cy="2219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defRPr sz="1600" b="1">
                <a:solidFill>
                  <a:srgbClr val="FFFFFF"/>
                </a:solidFill>
                <a:latin typeface="Arial"/>
                <a:ea typeface="Arial"/>
                <a:cs typeface="Arial"/>
                <a:sym typeface="Arial"/>
              </a:defRPr>
            </a:lvl1pPr>
          </a:lstStyle>
          <a:p>
            <a:r>
              <a:t>H1</a:t>
            </a:r>
          </a:p>
        </p:txBody>
      </p:sp>
      <p:sp>
        <p:nvSpPr>
          <p:cNvPr id="73" name="Text 10"/>
          <p:cNvSpPr txBox="1"/>
          <p:nvPr/>
        </p:nvSpPr>
        <p:spPr>
          <a:xfrm>
            <a:off x="1170432" y="3135499"/>
            <a:ext cx="4591661" cy="18466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200" i="1">
                <a:solidFill>
                  <a:srgbClr val="9A9A9A"/>
                </a:solidFill>
                <a:latin typeface="+mn-lt"/>
                <a:ea typeface="+mn-ea"/>
                <a:cs typeface="+mn-cs"/>
                <a:sym typeface="Calibri"/>
              </a:defRPr>
            </a:lvl1pPr>
          </a:lstStyle>
          <a:p>
            <a:endParaRPr dirty="0"/>
          </a:p>
        </p:txBody>
      </p:sp>
      <p:sp>
        <p:nvSpPr>
          <p:cNvPr id="74" name="Shape 13"/>
          <p:cNvSpPr/>
          <p:nvPr/>
        </p:nvSpPr>
        <p:spPr>
          <a:xfrm>
            <a:off x="6255868" y="2926078"/>
            <a:ext cx="5368900" cy="1466465"/>
          </a:xfrm>
          <a:prstGeom prst="rect">
            <a:avLst/>
          </a:prstGeom>
          <a:solidFill>
            <a:srgbClr val="FFFFFF"/>
          </a:solidFill>
          <a:ln w="19050">
            <a:solidFill>
              <a:srgbClr val="000000"/>
            </a:solidFill>
          </a:ln>
        </p:spPr>
        <p:txBody>
          <a:bodyPr lIns="45718" tIns="45718" rIns="45718" bIns="45718"/>
          <a:lstStyle/>
          <a:p>
            <a:pPr>
              <a:defRPr>
                <a:latin typeface="+mn-lt"/>
                <a:ea typeface="+mn-ea"/>
                <a:cs typeface="+mn-cs"/>
                <a:sym typeface="Calibri"/>
              </a:defRPr>
            </a:pPr>
            <a:endParaRPr/>
          </a:p>
        </p:txBody>
      </p:sp>
      <p:sp>
        <p:nvSpPr>
          <p:cNvPr id="75" name="Shape 14"/>
          <p:cNvSpPr/>
          <p:nvPr/>
        </p:nvSpPr>
        <p:spPr>
          <a:xfrm>
            <a:off x="6402172" y="3072383"/>
            <a:ext cx="365762" cy="365762"/>
          </a:xfrm>
          <a:prstGeom prst="rect">
            <a:avLst/>
          </a:prstGeom>
          <a:solidFill>
            <a:srgbClr val="000000"/>
          </a:solidFill>
          <a:ln w="12700">
            <a:miter lim="400000"/>
          </a:ln>
        </p:spPr>
        <p:txBody>
          <a:bodyPr lIns="45718" tIns="45718" rIns="45718" bIns="45718"/>
          <a:lstStyle/>
          <a:p>
            <a:pPr>
              <a:defRPr>
                <a:latin typeface="+mn-lt"/>
                <a:ea typeface="+mn-ea"/>
                <a:cs typeface="+mn-cs"/>
                <a:sym typeface="Calibri"/>
              </a:defRPr>
            </a:pPr>
            <a:endParaRPr/>
          </a:p>
        </p:txBody>
      </p:sp>
      <p:sp>
        <p:nvSpPr>
          <p:cNvPr id="76" name="Text 15"/>
          <p:cNvSpPr txBox="1"/>
          <p:nvPr/>
        </p:nvSpPr>
        <p:spPr>
          <a:xfrm>
            <a:off x="6402172" y="3144286"/>
            <a:ext cx="365762" cy="2219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defRPr sz="1600" b="1">
                <a:solidFill>
                  <a:srgbClr val="FFFFFF"/>
                </a:solidFill>
                <a:latin typeface="Arial"/>
                <a:ea typeface="Arial"/>
                <a:cs typeface="Arial"/>
                <a:sym typeface="Arial"/>
              </a:defRPr>
            </a:lvl1pPr>
          </a:lstStyle>
          <a:p>
            <a:r>
              <a:t>H2</a:t>
            </a:r>
          </a:p>
        </p:txBody>
      </p:sp>
      <p:sp>
        <p:nvSpPr>
          <p:cNvPr id="77" name="Text 16"/>
          <p:cNvSpPr txBox="1"/>
          <p:nvPr/>
        </p:nvSpPr>
        <p:spPr>
          <a:xfrm>
            <a:off x="6859372" y="3135499"/>
            <a:ext cx="4591661" cy="18466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200" i="1">
                <a:solidFill>
                  <a:srgbClr val="9A9A9A"/>
                </a:solidFill>
                <a:latin typeface="+mn-lt"/>
                <a:ea typeface="+mn-ea"/>
                <a:cs typeface="+mn-cs"/>
                <a:sym typeface="Calibri"/>
              </a:defRPr>
            </a:lvl1pPr>
          </a:lstStyle>
          <a:p>
            <a:endParaRPr dirty="0"/>
          </a:p>
        </p:txBody>
      </p:sp>
      <p:sp>
        <p:nvSpPr>
          <p:cNvPr id="78" name="Shape 19"/>
          <p:cNvSpPr/>
          <p:nvPr/>
        </p:nvSpPr>
        <p:spPr>
          <a:xfrm>
            <a:off x="566928" y="4724398"/>
            <a:ext cx="5368900" cy="1466465"/>
          </a:xfrm>
          <a:prstGeom prst="rect">
            <a:avLst/>
          </a:prstGeom>
          <a:solidFill>
            <a:srgbClr val="FFFFFF"/>
          </a:solidFill>
          <a:ln w="19050">
            <a:solidFill>
              <a:srgbClr val="000000"/>
            </a:solidFill>
          </a:ln>
        </p:spPr>
        <p:txBody>
          <a:bodyPr lIns="45718" tIns="45718" rIns="45718" bIns="45718"/>
          <a:lstStyle/>
          <a:p>
            <a:pPr>
              <a:defRPr>
                <a:latin typeface="+mn-lt"/>
                <a:ea typeface="+mn-ea"/>
                <a:cs typeface="+mn-cs"/>
                <a:sym typeface="Calibri"/>
              </a:defRPr>
            </a:pPr>
            <a:endParaRPr/>
          </a:p>
        </p:txBody>
      </p:sp>
      <p:sp>
        <p:nvSpPr>
          <p:cNvPr id="79" name="Shape 20"/>
          <p:cNvSpPr/>
          <p:nvPr/>
        </p:nvSpPr>
        <p:spPr>
          <a:xfrm>
            <a:off x="713230" y="4870703"/>
            <a:ext cx="365763" cy="365762"/>
          </a:xfrm>
          <a:prstGeom prst="rect">
            <a:avLst/>
          </a:prstGeom>
          <a:solidFill>
            <a:srgbClr val="000000"/>
          </a:solidFill>
          <a:ln w="12700">
            <a:miter lim="400000"/>
          </a:ln>
        </p:spPr>
        <p:txBody>
          <a:bodyPr lIns="45718" tIns="45718" rIns="45718" bIns="45718"/>
          <a:lstStyle/>
          <a:p>
            <a:pPr>
              <a:defRPr>
                <a:latin typeface="+mn-lt"/>
                <a:ea typeface="+mn-ea"/>
                <a:cs typeface="+mn-cs"/>
                <a:sym typeface="Calibri"/>
              </a:defRPr>
            </a:pPr>
            <a:endParaRPr/>
          </a:p>
        </p:txBody>
      </p:sp>
      <p:sp>
        <p:nvSpPr>
          <p:cNvPr id="80" name="Text 21"/>
          <p:cNvSpPr txBox="1"/>
          <p:nvPr/>
        </p:nvSpPr>
        <p:spPr>
          <a:xfrm>
            <a:off x="713230" y="4942606"/>
            <a:ext cx="365763" cy="2219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defRPr sz="1600" b="1">
                <a:solidFill>
                  <a:srgbClr val="FFFFFF"/>
                </a:solidFill>
                <a:latin typeface="Arial"/>
                <a:ea typeface="Arial"/>
                <a:cs typeface="Arial"/>
                <a:sym typeface="Arial"/>
              </a:defRPr>
            </a:lvl1pPr>
          </a:lstStyle>
          <a:p>
            <a:r>
              <a:t>H3</a:t>
            </a:r>
          </a:p>
        </p:txBody>
      </p:sp>
      <p:sp>
        <p:nvSpPr>
          <p:cNvPr id="81" name="Text 22"/>
          <p:cNvSpPr txBox="1"/>
          <p:nvPr/>
        </p:nvSpPr>
        <p:spPr>
          <a:xfrm>
            <a:off x="1170432" y="4933818"/>
            <a:ext cx="4591661" cy="18466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200" i="1">
                <a:solidFill>
                  <a:srgbClr val="9A9A9A"/>
                </a:solidFill>
                <a:latin typeface="+mn-lt"/>
                <a:ea typeface="+mn-ea"/>
                <a:cs typeface="+mn-cs"/>
                <a:sym typeface="Calibri"/>
              </a:defRPr>
            </a:lvl1pPr>
          </a:lstStyle>
          <a:p>
            <a:endParaRPr dirty="0"/>
          </a:p>
        </p:txBody>
      </p:sp>
      <p:sp>
        <p:nvSpPr>
          <p:cNvPr id="82" name="Shape 25"/>
          <p:cNvSpPr/>
          <p:nvPr/>
        </p:nvSpPr>
        <p:spPr>
          <a:xfrm>
            <a:off x="6255868" y="4724398"/>
            <a:ext cx="5368900" cy="1466465"/>
          </a:xfrm>
          <a:prstGeom prst="rect">
            <a:avLst/>
          </a:prstGeom>
          <a:solidFill>
            <a:srgbClr val="FFFFFF"/>
          </a:solidFill>
          <a:ln w="19050">
            <a:solidFill>
              <a:srgbClr val="000000"/>
            </a:solidFill>
          </a:ln>
        </p:spPr>
        <p:txBody>
          <a:bodyPr lIns="45718" tIns="45718" rIns="45718" bIns="45718"/>
          <a:lstStyle/>
          <a:p>
            <a:pPr>
              <a:defRPr>
                <a:latin typeface="+mn-lt"/>
                <a:ea typeface="+mn-ea"/>
                <a:cs typeface="+mn-cs"/>
                <a:sym typeface="Calibri"/>
              </a:defRPr>
            </a:pPr>
            <a:endParaRPr dirty="0"/>
          </a:p>
        </p:txBody>
      </p:sp>
      <p:sp>
        <p:nvSpPr>
          <p:cNvPr id="83" name="Shape 26"/>
          <p:cNvSpPr/>
          <p:nvPr/>
        </p:nvSpPr>
        <p:spPr>
          <a:xfrm>
            <a:off x="6402172" y="4870703"/>
            <a:ext cx="365762" cy="365762"/>
          </a:xfrm>
          <a:prstGeom prst="rect">
            <a:avLst/>
          </a:prstGeom>
          <a:solidFill>
            <a:srgbClr val="000000"/>
          </a:solidFill>
          <a:ln w="12700">
            <a:miter lim="400000"/>
          </a:ln>
        </p:spPr>
        <p:txBody>
          <a:bodyPr lIns="45718" tIns="45718" rIns="45718" bIns="45718"/>
          <a:lstStyle/>
          <a:p>
            <a:pPr>
              <a:defRPr>
                <a:latin typeface="+mn-lt"/>
                <a:ea typeface="+mn-ea"/>
                <a:cs typeface="+mn-cs"/>
                <a:sym typeface="Calibri"/>
              </a:defRPr>
            </a:pPr>
            <a:endParaRPr/>
          </a:p>
        </p:txBody>
      </p:sp>
      <p:sp>
        <p:nvSpPr>
          <p:cNvPr id="84" name="Text 27"/>
          <p:cNvSpPr txBox="1"/>
          <p:nvPr/>
        </p:nvSpPr>
        <p:spPr>
          <a:xfrm>
            <a:off x="6402172" y="4942606"/>
            <a:ext cx="365762" cy="2219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defRPr sz="1600" b="1">
                <a:solidFill>
                  <a:srgbClr val="FFFFFF"/>
                </a:solidFill>
                <a:latin typeface="Arial"/>
                <a:ea typeface="Arial"/>
                <a:cs typeface="Arial"/>
                <a:sym typeface="Arial"/>
              </a:defRPr>
            </a:lvl1pPr>
          </a:lstStyle>
          <a:p>
            <a:r>
              <a:t>H4</a:t>
            </a:r>
          </a:p>
        </p:txBody>
      </p:sp>
      <p:sp>
        <p:nvSpPr>
          <p:cNvPr id="85" name="Text 28"/>
          <p:cNvSpPr txBox="1"/>
          <p:nvPr/>
        </p:nvSpPr>
        <p:spPr>
          <a:xfrm>
            <a:off x="6859372" y="4933818"/>
            <a:ext cx="4591661" cy="18466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200" i="1">
                <a:solidFill>
                  <a:srgbClr val="9A9A9A"/>
                </a:solidFill>
                <a:latin typeface="+mn-lt"/>
                <a:ea typeface="+mn-ea"/>
                <a:cs typeface="+mn-cs"/>
                <a:sym typeface="Calibri"/>
              </a:defRPr>
            </a:lvl1pPr>
          </a:lstStyle>
          <a:p>
            <a:endParaRPr dirty="0"/>
          </a:p>
        </p:txBody>
      </p:sp>
      <p:pic>
        <p:nvPicPr>
          <p:cNvPr id="86" name="Image 0" descr="Image 0"/>
          <p:cNvPicPr>
            <a:picLocks noChangeAspect="1"/>
          </p:cNvPicPr>
          <p:nvPr/>
        </p:nvPicPr>
        <p:blipFill>
          <a:blip r:embed="rId2"/>
          <a:stretch>
            <a:fillRect/>
          </a:stretch>
        </p:blipFill>
        <p:spPr>
          <a:xfrm>
            <a:off x="566927" y="6382510"/>
            <a:ext cx="868682" cy="223116"/>
          </a:xfrm>
          <a:prstGeom prst="rect">
            <a:avLst/>
          </a:prstGeom>
          <a:ln w="12700">
            <a:miter lim="400000"/>
          </a:ln>
        </p:spPr>
      </p:pic>
      <p:sp>
        <p:nvSpPr>
          <p:cNvPr id="87" name="Text 31"/>
          <p:cNvSpPr txBox="1"/>
          <p:nvPr/>
        </p:nvSpPr>
        <p:spPr>
          <a:xfrm>
            <a:off x="8515807" y="6428738"/>
            <a:ext cx="310896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r">
              <a:defRPr sz="900" b="1" spc="200">
                <a:solidFill>
                  <a:srgbClr val="9A9A9A"/>
                </a:solidFill>
                <a:latin typeface="Arial"/>
                <a:ea typeface="Arial"/>
                <a:cs typeface="Arial"/>
                <a:sym typeface="Arial"/>
              </a:defRPr>
            </a:lvl1pPr>
          </a:lstStyle>
          <a:p>
            <a:r>
              <a:t>IDDIC 2026  ·  BREAKING AI</a:t>
            </a:r>
          </a:p>
        </p:txBody>
      </p:sp>
      <p:sp>
        <p:nvSpPr>
          <p:cNvPr id="88" name="Shape 0"/>
          <p:cNvSpPr/>
          <p:nvPr/>
        </p:nvSpPr>
        <p:spPr>
          <a:xfrm>
            <a:off x="566927" y="457200"/>
            <a:ext cx="1234442" cy="384048"/>
          </a:xfrm>
          <a:prstGeom prst="roundRect">
            <a:avLst>
              <a:gd name="adj" fmla="val 50000"/>
            </a:avLst>
          </a:prstGeom>
          <a:solidFill>
            <a:srgbClr val="2E6BFF"/>
          </a:solidFill>
          <a:ln w="12700">
            <a:miter lim="400000"/>
          </a:ln>
        </p:spPr>
        <p:txBody>
          <a:bodyPr lIns="45718" tIns="45718" rIns="45718" bIns="45718"/>
          <a:lstStyle/>
          <a:p>
            <a:pPr>
              <a:defRPr>
                <a:latin typeface="+mn-lt"/>
                <a:ea typeface="+mn-ea"/>
                <a:cs typeface="+mn-cs"/>
                <a:sym typeface="Calibri"/>
              </a:defRPr>
            </a:pPr>
            <a:endParaRPr/>
          </a:p>
        </p:txBody>
      </p:sp>
      <p:sp>
        <p:nvSpPr>
          <p:cNvPr id="89" name="Text 1"/>
          <p:cNvSpPr txBox="1"/>
          <p:nvPr/>
        </p:nvSpPr>
        <p:spPr>
          <a:xfrm>
            <a:off x="566927" y="556674"/>
            <a:ext cx="1234443" cy="1850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defRPr sz="1300" b="1" spc="200">
                <a:solidFill>
                  <a:srgbClr val="FFFFFF"/>
                </a:solidFill>
                <a:latin typeface="Arial"/>
                <a:ea typeface="Arial"/>
                <a:cs typeface="Arial"/>
                <a:sym typeface="Arial"/>
              </a:defRPr>
            </a:lvl1pPr>
          </a:lstStyle>
          <a:p>
            <a:r>
              <a:t>JOUR 3</a:t>
            </a:r>
          </a:p>
        </p:txBody>
      </p:sp>
      <p:sp>
        <p:nvSpPr>
          <p:cNvPr id="2" name="ZoneTexte 1">
            <a:extLst>
              <a:ext uri="{FF2B5EF4-FFF2-40B4-BE49-F238E27FC236}">
                <a16:creationId xmlns:a16="http://schemas.microsoft.com/office/drawing/2014/main" id="{473A5B10-B5F0-D89C-DCBB-B0A2FC58489D}"/>
              </a:ext>
            </a:extLst>
          </p:cNvPr>
          <p:cNvSpPr txBox="1"/>
          <p:nvPr/>
        </p:nvSpPr>
        <p:spPr>
          <a:xfrm>
            <a:off x="1257299" y="2930298"/>
            <a:ext cx="4697389" cy="147732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lang="fr-FR" dirty="0"/>
              <a:t>Les clients vont se diriger vers les artistes qui détiennent la certification sur leurs produits« PCE (processus créatif étique)» on saura qu’on sait trompé si ils préfèrent malgré tout se diriger vers ceux qui ne la détiennent pas. </a:t>
            </a:r>
            <a:endParaRPr kumimoji="0" lang="fr-FR" sz="1800" b="0" i="0" u="none" strike="noStrike" cap="none" spc="0" normalizeH="0" baseline="0" dirty="0">
              <a:ln>
                <a:noFill/>
              </a:ln>
              <a:solidFill>
                <a:srgbClr val="000000"/>
              </a:solidFill>
              <a:effectLst/>
              <a:uFillTx/>
              <a:latin typeface="+mj-lt"/>
              <a:ea typeface="+mj-ea"/>
              <a:cs typeface="+mj-cs"/>
              <a:sym typeface="Helvetica"/>
            </a:endParaRPr>
          </a:p>
        </p:txBody>
      </p:sp>
      <p:sp>
        <p:nvSpPr>
          <p:cNvPr id="4" name="ZoneTexte 3">
            <a:extLst>
              <a:ext uri="{FF2B5EF4-FFF2-40B4-BE49-F238E27FC236}">
                <a16:creationId xmlns:a16="http://schemas.microsoft.com/office/drawing/2014/main" id="{AE6C42B4-D9EE-FED9-7091-BFBCEE0B27F4}"/>
              </a:ext>
            </a:extLst>
          </p:cNvPr>
          <p:cNvSpPr txBox="1"/>
          <p:nvPr/>
        </p:nvSpPr>
        <p:spPr>
          <a:xfrm>
            <a:off x="6960529" y="2874482"/>
            <a:ext cx="4444784" cy="156965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lang="fr-FR" sz="1600" dirty="0"/>
              <a:t>Les créatifs indépendants sont prêts à nous communiquer leur processus de création et la documentation nécessaire à la certification </a:t>
            </a:r>
          </a:p>
          <a:p>
            <a:r>
              <a:rPr lang="fr-FR" sz="1600" i="1" dirty="0"/>
              <a:t>On saura qu'on s'est trompés si</a:t>
            </a:r>
            <a:r>
              <a:rPr lang="fr-FR" sz="1600" dirty="0"/>
              <a:t> les créatifs perçoivent cette démarche comme du flicage ou une charge administrative trop lourde.</a:t>
            </a:r>
            <a:endParaRPr kumimoji="0" lang="fr-FR" sz="1600" b="0" i="0" u="none" strike="noStrike" cap="none" spc="0" normalizeH="0" baseline="0" dirty="0">
              <a:ln>
                <a:noFill/>
              </a:ln>
              <a:solidFill>
                <a:srgbClr val="000000"/>
              </a:solidFill>
              <a:effectLst/>
              <a:uFillTx/>
              <a:latin typeface="+mj-lt"/>
              <a:ea typeface="+mj-ea"/>
              <a:cs typeface="+mj-cs"/>
              <a:sym typeface="Helvetica"/>
            </a:endParaRPr>
          </a:p>
        </p:txBody>
      </p:sp>
      <p:sp>
        <p:nvSpPr>
          <p:cNvPr id="7" name="ZoneTexte 6">
            <a:extLst>
              <a:ext uri="{FF2B5EF4-FFF2-40B4-BE49-F238E27FC236}">
                <a16:creationId xmlns:a16="http://schemas.microsoft.com/office/drawing/2014/main" id="{A06E9659-CA3E-5BFD-B5C6-AF83F19EA29B}"/>
              </a:ext>
            </a:extLst>
          </p:cNvPr>
          <p:cNvSpPr txBox="1"/>
          <p:nvPr/>
        </p:nvSpPr>
        <p:spPr>
          <a:xfrm>
            <a:off x="1301278" y="4780523"/>
            <a:ext cx="4412264" cy="135421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fr-FR" sz="1600" b="0" i="0" u="none" strike="noStrike" cap="none" spc="0" normalizeH="0" baseline="0" dirty="0">
                <a:ln>
                  <a:noFill/>
                </a:ln>
                <a:solidFill>
                  <a:srgbClr val="000000"/>
                </a:solidFill>
                <a:effectLst/>
                <a:uFillTx/>
                <a:latin typeface="+mj-lt"/>
                <a:ea typeface="+mj-ea"/>
                <a:cs typeface="+mj-cs"/>
                <a:sym typeface="Helvetica"/>
              </a:rPr>
              <a:t>Les clients vont régler plus cher une prestation dont l’artiste détient la certification. </a:t>
            </a:r>
          </a:p>
          <a:p>
            <a:pPr marL="0" marR="0" indent="0" algn="l" defTabSz="914400" rtl="0" fontAlgn="auto" latinLnBrk="0" hangingPunct="0">
              <a:lnSpc>
                <a:spcPct val="100000"/>
              </a:lnSpc>
              <a:spcBef>
                <a:spcPts val="0"/>
              </a:spcBef>
              <a:spcAft>
                <a:spcPts val="0"/>
              </a:spcAft>
              <a:buClrTx/>
              <a:buSzTx/>
              <a:buFontTx/>
              <a:buNone/>
              <a:tabLst/>
            </a:pPr>
            <a:r>
              <a:rPr lang="fr-FR" sz="1600" dirty="0"/>
              <a:t>On saura qu’on sait trompé si les clients se dirige finalement vers les prestations les moins chers sans certification</a:t>
            </a:r>
            <a:r>
              <a:rPr lang="fr-FR" dirty="0"/>
              <a:t>.  </a:t>
            </a:r>
            <a:endParaRPr kumimoji="0" lang="fr-FR" sz="1800" b="0" i="0" u="none" strike="noStrike" cap="none" spc="0" normalizeH="0" baseline="0" dirty="0">
              <a:ln>
                <a:noFill/>
              </a:ln>
              <a:solidFill>
                <a:srgbClr val="000000"/>
              </a:solidFill>
              <a:effectLst/>
              <a:uFillTx/>
              <a:latin typeface="+mj-lt"/>
              <a:ea typeface="+mj-ea"/>
              <a:cs typeface="+mj-cs"/>
              <a:sym typeface="Helvetica"/>
            </a:endParaRPr>
          </a:p>
        </p:txBody>
      </p:sp>
      <p:sp>
        <p:nvSpPr>
          <p:cNvPr id="10" name="ZoneTexte 9">
            <a:extLst>
              <a:ext uri="{FF2B5EF4-FFF2-40B4-BE49-F238E27FC236}">
                <a16:creationId xmlns:a16="http://schemas.microsoft.com/office/drawing/2014/main" id="{91AB8D10-8663-6475-6398-E39365B2764E}"/>
              </a:ext>
            </a:extLst>
          </p:cNvPr>
          <p:cNvSpPr txBox="1"/>
          <p:nvPr/>
        </p:nvSpPr>
        <p:spPr>
          <a:xfrm>
            <a:off x="6960529" y="4870703"/>
            <a:ext cx="4591661" cy="132343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lang="fr-FR" sz="1600" dirty="0"/>
              <a:t>Des acheteurs vont venir nous demander une vérification du produit rendu par l’un des certifiés. On saura qu’on sait trompé s’ils ne viennent pas nous demander ce qui mettra en péril une partie du model de veille. </a:t>
            </a:r>
            <a:endParaRPr kumimoji="0" lang="fr-FR" sz="1600" b="0" i="0" u="none" strike="noStrike" cap="none" spc="0" normalizeH="0" baseline="0" dirty="0">
              <a:ln>
                <a:noFill/>
              </a:ln>
              <a:solidFill>
                <a:srgbClr val="000000"/>
              </a:solidFill>
              <a:effectLst/>
              <a:uFillTx/>
              <a:latin typeface="+mj-lt"/>
              <a:ea typeface="+mj-ea"/>
              <a:cs typeface="+mj-cs"/>
              <a:sym typeface="Helvetica"/>
            </a:endParaRPr>
          </a:p>
        </p:txBody>
      </p:sp>
    </p:spTree>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 name="Text 2"/>
          <p:cNvSpPr txBox="1"/>
          <p:nvPr/>
        </p:nvSpPr>
        <p:spPr>
          <a:xfrm>
            <a:off x="1865376" y="553672"/>
            <a:ext cx="7315201" cy="17281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200" b="1" spc="300">
                <a:solidFill>
                  <a:srgbClr val="111111"/>
                </a:solidFill>
                <a:latin typeface="Arial"/>
                <a:ea typeface="Arial"/>
                <a:cs typeface="Arial"/>
                <a:sym typeface="Arial"/>
              </a:defRPr>
            </a:lvl1pPr>
          </a:lstStyle>
          <a:p>
            <a:r>
              <a:t>TEMPLATE 2 / 5</a:t>
            </a:r>
          </a:p>
        </p:txBody>
      </p:sp>
      <p:sp>
        <p:nvSpPr>
          <p:cNvPr id="92" name="Text 3"/>
          <p:cNvSpPr txBox="1"/>
          <p:nvPr/>
        </p:nvSpPr>
        <p:spPr>
          <a:xfrm>
            <a:off x="566926" y="1005838"/>
            <a:ext cx="11057842" cy="41933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defRPr sz="3000" b="1">
                <a:solidFill>
                  <a:srgbClr val="111111"/>
                </a:solidFill>
                <a:latin typeface="Arial"/>
                <a:ea typeface="Arial"/>
                <a:cs typeface="Arial"/>
                <a:sym typeface="Arial"/>
              </a:defRPr>
            </a:lvl1pPr>
          </a:lstStyle>
          <a:p>
            <a:r>
              <a:t>Le protocole de test</a:t>
            </a:r>
          </a:p>
        </p:txBody>
      </p:sp>
      <p:sp>
        <p:nvSpPr>
          <p:cNvPr id="93" name="Text 4"/>
          <p:cNvSpPr txBox="1"/>
          <p:nvPr/>
        </p:nvSpPr>
        <p:spPr>
          <a:xfrm>
            <a:off x="566927" y="1501647"/>
            <a:ext cx="10874962" cy="18655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defRPr sz="1500" i="1">
                <a:solidFill>
                  <a:srgbClr val="6E6E6E"/>
                </a:solidFill>
                <a:latin typeface="+mn-lt"/>
                <a:ea typeface="+mn-ea"/>
                <a:cs typeface="+mn-cs"/>
                <a:sym typeface="Calibri"/>
              </a:defRPr>
            </a:lvl1pPr>
          </a:lstStyle>
          <a:p>
            <a:r>
              <a:t>On raconte une histoire au testeur, on lui donne une mission, et on observe — sans lui souffler la réponse.</a:t>
            </a:r>
          </a:p>
        </p:txBody>
      </p:sp>
      <p:sp>
        <p:nvSpPr>
          <p:cNvPr id="94" name="Shape 5"/>
          <p:cNvSpPr/>
          <p:nvPr/>
        </p:nvSpPr>
        <p:spPr>
          <a:xfrm>
            <a:off x="566928" y="1894839"/>
            <a:ext cx="5368900" cy="1130619"/>
          </a:xfrm>
          <a:prstGeom prst="rect">
            <a:avLst/>
          </a:prstGeom>
          <a:solidFill>
            <a:srgbClr val="FFFFFF"/>
          </a:solidFill>
          <a:ln w="19050">
            <a:solidFill>
              <a:srgbClr val="000000"/>
            </a:solidFill>
          </a:ln>
        </p:spPr>
        <p:txBody>
          <a:bodyPr lIns="45718" tIns="45718" rIns="45718" bIns="45718"/>
          <a:lstStyle/>
          <a:p>
            <a:pPr>
              <a:defRPr>
                <a:latin typeface="+mn-lt"/>
                <a:ea typeface="+mn-ea"/>
                <a:cs typeface="+mn-cs"/>
                <a:sym typeface="Calibri"/>
              </a:defRPr>
            </a:pPr>
            <a:endParaRPr/>
          </a:p>
        </p:txBody>
      </p:sp>
      <p:sp>
        <p:nvSpPr>
          <p:cNvPr id="95" name="Text 6"/>
          <p:cNvSpPr txBox="1"/>
          <p:nvPr/>
        </p:nvSpPr>
        <p:spPr>
          <a:xfrm>
            <a:off x="749808" y="2080569"/>
            <a:ext cx="5003140" cy="15889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100" b="1" spc="120">
                <a:solidFill>
                  <a:srgbClr val="111111"/>
                </a:solidFill>
                <a:latin typeface="Arial"/>
                <a:ea typeface="Arial"/>
                <a:cs typeface="Arial"/>
                <a:sym typeface="Arial"/>
              </a:defRPr>
            </a:lvl1pPr>
          </a:lstStyle>
          <a:p>
            <a:r>
              <a:t>① CE QU'ON VEUT VÉRIFIER</a:t>
            </a:r>
          </a:p>
        </p:txBody>
      </p:sp>
      <p:sp>
        <p:nvSpPr>
          <p:cNvPr id="96" name="Text 7"/>
          <p:cNvSpPr txBox="1"/>
          <p:nvPr/>
        </p:nvSpPr>
        <p:spPr>
          <a:xfrm>
            <a:off x="749808" y="2306320"/>
            <a:ext cx="5003140" cy="18466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defRPr sz="1200" i="1">
                <a:solidFill>
                  <a:srgbClr val="6E6E6E"/>
                </a:solidFill>
                <a:latin typeface="+mn-lt"/>
                <a:ea typeface="+mn-ea"/>
                <a:cs typeface="+mn-cs"/>
                <a:sym typeface="Calibri"/>
              </a:defRPr>
            </a:lvl1pPr>
          </a:lstStyle>
          <a:p>
            <a:endParaRPr dirty="0"/>
          </a:p>
        </p:txBody>
      </p:sp>
      <p:sp>
        <p:nvSpPr>
          <p:cNvPr id="97" name="Shape 8"/>
          <p:cNvSpPr/>
          <p:nvPr/>
        </p:nvSpPr>
        <p:spPr>
          <a:xfrm>
            <a:off x="6255868" y="1894839"/>
            <a:ext cx="5368900" cy="1130619"/>
          </a:xfrm>
          <a:prstGeom prst="rect">
            <a:avLst/>
          </a:prstGeom>
          <a:solidFill>
            <a:srgbClr val="FFFFFF"/>
          </a:solidFill>
          <a:ln w="19050">
            <a:solidFill>
              <a:srgbClr val="000000"/>
            </a:solidFill>
          </a:ln>
        </p:spPr>
        <p:txBody>
          <a:bodyPr lIns="45718" tIns="45718" rIns="45718" bIns="45718"/>
          <a:lstStyle/>
          <a:p>
            <a:pPr>
              <a:defRPr>
                <a:latin typeface="+mn-lt"/>
                <a:ea typeface="+mn-ea"/>
                <a:cs typeface="+mn-cs"/>
                <a:sym typeface="Calibri"/>
              </a:defRPr>
            </a:pPr>
            <a:endParaRPr dirty="0"/>
          </a:p>
        </p:txBody>
      </p:sp>
      <p:sp>
        <p:nvSpPr>
          <p:cNvPr id="98" name="Text 9"/>
          <p:cNvSpPr txBox="1"/>
          <p:nvPr/>
        </p:nvSpPr>
        <p:spPr>
          <a:xfrm>
            <a:off x="6438748" y="2080569"/>
            <a:ext cx="5003142" cy="15889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100" b="1" spc="120">
                <a:solidFill>
                  <a:srgbClr val="111111"/>
                </a:solidFill>
                <a:latin typeface="Arial"/>
                <a:ea typeface="Arial"/>
                <a:cs typeface="Arial"/>
                <a:sym typeface="Arial"/>
              </a:defRPr>
            </a:lvl1pPr>
          </a:lstStyle>
          <a:p>
            <a:r>
              <a:t>④ CE QU'ON NE DIT SURTOUT PAS</a:t>
            </a:r>
          </a:p>
        </p:txBody>
      </p:sp>
      <p:sp>
        <p:nvSpPr>
          <p:cNvPr id="99" name="Text 10"/>
          <p:cNvSpPr txBox="1"/>
          <p:nvPr/>
        </p:nvSpPr>
        <p:spPr>
          <a:xfrm>
            <a:off x="6438748" y="2306320"/>
            <a:ext cx="5003142" cy="18466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defRPr sz="1200" i="1">
                <a:solidFill>
                  <a:srgbClr val="6E6E6E"/>
                </a:solidFill>
                <a:latin typeface="+mn-lt"/>
                <a:ea typeface="+mn-ea"/>
                <a:cs typeface="+mn-cs"/>
                <a:sym typeface="Calibri"/>
              </a:defRPr>
            </a:lvl1pPr>
          </a:lstStyle>
          <a:p>
            <a:endParaRPr dirty="0"/>
          </a:p>
        </p:txBody>
      </p:sp>
      <p:sp>
        <p:nvSpPr>
          <p:cNvPr id="100" name="Shape 11"/>
          <p:cNvSpPr/>
          <p:nvPr/>
        </p:nvSpPr>
        <p:spPr>
          <a:xfrm>
            <a:off x="566926" y="3200399"/>
            <a:ext cx="11057842" cy="1453118"/>
          </a:xfrm>
          <a:prstGeom prst="rect">
            <a:avLst/>
          </a:prstGeom>
          <a:solidFill>
            <a:srgbClr val="FFFFFF"/>
          </a:solidFill>
          <a:ln w="19050">
            <a:solidFill>
              <a:srgbClr val="000000"/>
            </a:solidFill>
          </a:ln>
        </p:spPr>
        <p:txBody>
          <a:bodyPr lIns="45718" tIns="45718" rIns="45718" bIns="45718"/>
          <a:lstStyle/>
          <a:p>
            <a:pPr>
              <a:defRPr>
                <a:latin typeface="+mn-lt"/>
                <a:ea typeface="+mn-ea"/>
                <a:cs typeface="+mn-cs"/>
                <a:sym typeface="Calibri"/>
              </a:defRPr>
            </a:pPr>
            <a:endParaRPr/>
          </a:p>
        </p:txBody>
      </p:sp>
      <p:sp>
        <p:nvSpPr>
          <p:cNvPr id="101" name="Text 12"/>
          <p:cNvSpPr txBox="1"/>
          <p:nvPr/>
        </p:nvSpPr>
        <p:spPr>
          <a:xfrm>
            <a:off x="749806" y="3376986"/>
            <a:ext cx="10692083" cy="1588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100" b="1" spc="100">
                <a:solidFill>
                  <a:srgbClr val="111111"/>
                </a:solidFill>
                <a:latin typeface="Arial"/>
                <a:ea typeface="Arial"/>
                <a:cs typeface="Arial"/>
                <a:sym typeface="Arial"/>
              </a:defRPr>
            </a:lvl1pPr>
          </a:lstStyle>
          <a:p>
            <a:r>
              <a:t>② LE SCÉNARIO — ON PLANTE LE DÉCOR</a:t>
            </a:r>
          </a:p>
        </p:txBody>
      </p:sp>
      <p:sp>
        <p:nvSpPr>
          <p:cNvPr id="102" name="Text 13"/>
          <p:cNvSpPr txBox="1"/>
          <p:nvPr/>
        </p:nvSpPr>
        <p:spPr>
          <a:xfrm>
            <a:off x="749806" y="3665850"/>
            <a:ext cx="10692083" cy="18466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200" i="1">
                <a:solidFill>
                  <a:srgbClr val="6E6E6E"/>
                </a:solidFill>
                <a:latin typeface="+mn-lt"/>
                <a:ea typeface="+mn-ea"/>
                <a:cs typeface="+mn-cs"/>
                <a:sym typeface="Calibri"/>
              </a:defRPr>
            </a:lvl1pPr>
          </a:lstStyle>
          <a:p>
            <a:endParaRPr dirty="0"/>
          </a:p>
        </p:txBody>
      </p:sp>
      <p:sp>
        <p:nvSpPr>
          <p:cNvPr id="103" name="Shape 15"/>
          <p:cNvSpPr/>
          <p:nvPr/>
        </p:nvSpPr>
        <p:spPr>
          <a:xfrm>
            <a:off x="566928" y="4826000"/>
            <a:ext cx="5368900" cy="1366523"/>
          </a:xfrm>
          <a:prstGeom prst="rect">
            <a:avLst/>
          </a:prstGeom>
          <a:solidFill>
            <a:srgbClr val="FFFFFF"/>
          </a:solidFill>
          <a:ln w="19050">
            <a:solidFill>
              <a:srgbClr val="000000"/>
            </a:solidFill>
          </a:ln>
        </p:spPr>
        <p:txBody>
          <a:bodyPr lIns="45718" tIns="45718" rIns="45718" bIns="45718"/>
          <a:lstStyle/>
          <a:p>
            <a:pPr>
              <a:defRPr>
                <a:latin typeface="+mn-lt"/>
                <a:ea typeface="+mn-ea"/>
                <a:cs typeface="+mn-cs"/>
                <a:sym typeface="Calibri"/>
              </a:defRPr>
            </a:pPr>
            <a:endParaRPr dirty="0"/>
          </a:p>
        </p:txBody>
      </p:sp>
      <p:sp>
        <p:nvSpPr>
          <p:cNvPr id="104" name="Text 16"/>
          <p:cNvSpPr txBox="1"/>
          <p:nvPr/>
        </p:nvSpPr>
        <p:spPr>
          <a:xfrm>
            <a:off x="749808" y="5011730"/>
            <a:ext cx="5003140" cy="1588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100" b="1" spc="120">
                <a:solidFill>
                  <a:srgbClr val="111111"/>
                </a:solidFill>
                <a:latin typeface="Arial"/>
                <a:ea typeface="Arial"/>
                <a:cs typeface="Arial"/>
                <a:sym typeface="Arial"/>
              </a:defRPr>
            </a:lvl1pPr>
          </a:lstStyle>
          <a:p>
            <a:r>
              <a:t>③ POINT DE CONTRÔLE A</a:t>
            </a:r>
          </a:p>
        </p:txBody>
      </p:sp>
      <p:sp>
        <p:nvSpPr>
          <p:cNvPr id="105" name="Text 17"/>
          <p:cNvSpPr txBox="1"/>
          <p:nvPr/>
        </p:nvSpPr>
        <p:spPr>
          <a:xfrm>
            <a:off x="749808" y="5237479"/>
            <a:ext cx="5003140" cy="18466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defRPr sz="1200" i="1">
                <a:solidFill>
                  <a:srgbClr val="6E6E6E"/>
                </a:solidFill>
                <a:latin typeface="+mn-lt"/>
                <a:ea typeface="+mn-ea"/>
                <a:cs typeface="+mn-cs"/>
                <a:sym typeface="Calibri"/>
              </a:defRPr>
            </a:lvl1pPr>
          </a:lstStyle>
          <a:p>
            <a:endParaRPr dirty="0"/>
          </a:p>
        </p:txBody>
      </p:sp>
      <p:sp>
        <p:nvSpPr>
          <p:cNvPr id="106" name="Shape 18"/>
          <p:cNvSpPr/>
          <p:nvPr/>
        </p:nvSpPr>
        <p:spPr>
          <a:xfrm>
            <a:off x="6255868" y="4826000"/>
            <a:ext cx="5368900" cy="1366523"/>
          </a:xfrm>
          <a:prstGeom prst="rect">
            <a:avLst/>
          </a:prstGeom>
          <a:solidFill>
            <a:srgbClr val="FFFFFF"/>
          </a:solidFill>
          <a:ln w="19050">
            <a:solidFill>
              <a:srgbClr val="000000"/>
            </a:solidFill>
          </a:ln>
        </p:spPr>
        <p:txBody>
          <a:bodyPr lIns="45718" tIns="45718" rIns="45718" bIns="45718"/>
          <a:lstStyle/>
          <a:p>
            <a:pPr>
              <a:defRPr>
                <a:latin typeface="+mn-lt"/>
                <a:ea typeface="+mn-ea"/>
                <a:cs typeface="+mn-cs"/>
                <a:sym typeface="Calibri"/>
              </a:defRPr>
            </a:pPr>
            <a:endParaRPr/>
          </a:p>
        </p:txBody>
      </p:sp>
      <p:sp>
        <p:nvSpPr>
          <p:cNvPr id="107" name="Text 19"/>
          <p:cNvSpPr txBox="1"/>
          <p:nvPr/>
        </p:nvSpPr>
        <p:spPr>
          <a:xfrm>
            <a:off x="6438748" y="5011730"/>
            <a:ext cx="5003142" cy="15889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100" b="1" spc="120">
                <a:solidFill>
                  <a:srgbClr val="111111"/>
                </a:solidFill>
                <a:latin typeface="Arial"/>
                <a:ea typeface="Arial"/>
                <a:cs typeface="Arial"/>
                <a:sym typeface="Arial"/>
              </a:defRPr>
            </a:lvl1pPr>
          </a:lstStyle>
          <a:p>
            <a:r>
              <a:t>③ POINT DE CONTRÔLE B</a:t>
            </a:r>
          </a:p>
        </p:txBody>
      </p:sp>
      <p:sp>
        <p:nvSpPr>
          <p:cNvPr id="108" name="Text 20"/>
          <p:cNvSpPr txBox="1"/>
          <p:nvPr/>
        </p:nvSpPr>
        <p:spPr>
          <a:xfrm>
            <a:off x="6438748" y="5237479"/>
            <a:ext cx="5003142" cy="18466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defRPr sz="1200" i="1">
                <a:solidFill>
                  <a:srgbClr val="6E6E6E"/>
                </a:solidFill>
                <a:latin typeface="+mn-lt"/>
                <a:ea typeface="+mn-ea"/>
                <a:cs typeface="+mn-cs"/>
                <a:sym typeface="Calibri"/>
              </a:defRPr>
            </a:lvl1pPr>
          </a:lstStyle>
          <a:p>
            <a:endParaRPr dirty="0"/>
          </a:p>
        </p:txBody>
      </p:sp>
      <p:pic>
        <p:nvPicPr>
          <p:cNvPr id="109" name="Image 0" descr="Image 0"/>
          <p:cNvPicPr>
            <a:picLocks noChangeAspect="1"/>
          </p:cNvPicPr>
          <p:nvPr/>
        </p:nvPicPr>
        <p:blipFill>
          <a:blip r:embed="rId2"/>
          <a:stretch>
            <a:fillRect/>
          </a:stretch>
        </p:blipFill>
        <p:spPr>
          <a:xfrm>
            <a:off x="566927" y="6382510"/>
            <a:ext cx="868682" cy="223116"/>
          </a:xfrm>
          <a:prstGeom prst="rect">
            <a:avLst/>
          </a:prstGeom>
          <a:ln w="12700">
            <a:miter lim="400000"/>
          </a:ln>
        </p:spPr>
      </p:pic>
      <p:sp>
        <p:nvSpPr>
          <p:cNvPr id="110" name="Text 21"/>
          <p:cNvSpPr txBox="1"/>
          <p:nvPr/>
        </p:nvSpPr>
        <p:spPr>
          <a:xfrm>
            <a:off x="8515807" y="6428738"/>
            <a:ext cx="310896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r">
              <a:defRPr sz="900" b="1" spc="200">
                <a:solidFill>
                  <a:srgbClr val="9A9A9A"/>
                </a:solidFill>
                <a:latin typeface="Arial"/>
                <a:ea typeface="Arial"/>
                <a:cs typeface="Arial"/>
                <a:sym typeface="Arial"/>
              </a:defRPr>
            </a:lvl1pPr>
          </a:lstStyle>
          <a:p>
            <a:r>
              <a:t>IDDIC 2026  ·  BREAKING AI</a:t>
            </a:r>
          </a:p>
        </p:txBody>
      </p:sp>
      <p:sp>
        <p:nvSpPr>
          <p:cNvPr id="111" name="Shape 0"/>
          <p:cNvSpPr/>
          <p:nvPr/>
        </p:nvSpPr>
        <p:spPr>
          <a:xfrm>
            <a:off x="566927" y="457200"/>
            <a:ext cx="1234442" cy="384048"/>
          </a:xfrm>
          <a:prstGeom prst="roundRect">
            <a:avLst>
              <a:gd name="adj" fmla="val 50000"/>
            </a:avLst>
          </a:prstGeom>
          <a:solidFill>
            <a:srgbClr val="2E6BFF"/>
          </a:solidFill>
          <a:ln w="12700">
            <a:miter lim="400000"/>
          </a:ln>
        </p:spPr>
        <p:txBody>
          <a:bodyPr lIns="45718" tIns="45718" rIns="45718" bIns="45718"/>
          <a:lstStyle/>
          <a:p>
            <a:pPr>
              <a:defRPr>
                <a:latin typeface="+mn-lt"/>
                <a:ea typeface="+mn-ea"/>
                <a:cs typeface="+mn-cs"/>
                <a:sym typeface="Calibri"/>
              </a:defRPr>
            </a:pPr>
            <a:endParaRPr/>
          </a:p>
        </p:txBody>
      </p:sp>
      <p:sp>
        <p:nvSpPr>
          <p:cNvPr id="112" name="Text 1"/>
          <p:cNvSpPr txBox="1"/>
          <p:nvPr/>
        </p:nvSpPr>
        <p:spPr>
          <a:xfrm>
            <a:off x="566927" y="556674"/>
            <a:ext cx="1234443" cy="1850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defRPr sz="1300" b="1" spc="200">
                <a:solidFill>
                  <a:srgbClr val="FFFFFF"/>
                </a:solidFill>
                <a:latin typeface="Arial"/>
                <a:ea typeface="Arial"/>
                <a:cs typeface="Arial"/>
                <a:sym typeface="Arial"/>
              </a:defRPr>
            </a:lvl1pPr>
          </a:lstStyle>
          <a:p>
            <a:r>
              <a:t>JOUR 3</a:t>
            </a:r>
          </a:p>
        </p:txBody>
      </p:sp>
      <p:sp>
        <p:nvSpPr>
          <p:cNvPr id="3" name="ZoneTexte 2">
            <a:extLst>
              <a:ext uri="{FF2B5EF4-FFF2-40B4-BE49-F238E27FC236}">
                <a16:creationId xmlns:a16="http://schemas.microsoft.com/office/drawing/2014/main" id="{8782AB44-6B05-076E-0FF6-F6AA1616247B}"/>
              </a:ext>
            </a:extLst>
          </p:cNvPr>
          <p:cNvSpPr txBox="1"/>
          <p:nvPr/>
        </p:nvSpPr>
        <p:spPr>
          <a:xfrm>
            <a:off x="876081" y="2173145"/>
            <a:ext cx="5059747" cy="83099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r>
              <a:rPr lang="fr-FR" sz="1600" dirty="0"/>
              <a:t>Vérifier si un devis affichant la certification permet à un client de comprendre et d'accepter un prix plus élevé sans contester.</a:t>
            </a:r>
            <a:endParaRPr kumimoji="0" lang="fr-FR" sz="1600" b="0" i="0" u="none" strike="noStrike" cap="none" spc="0" normalizeH="0" baseline="0" dirty="0">
              <a:ln>
                <a:noFill/>
              </a:ln>
              <a:solidFill>
                <a:srgbClr val="000000"/>
              </a:solidFill>
              <a:effectLst/>
              <a:uFillTx/>
              <a:latin typeface="+mj-lt"/>
              <a:ea typeface="+mj-ea"/>
              <a:cs typeface="+mj-cs"/>
              <a:sym typeface="Helvetica"/>
            </a:endParaRPr>
          </a:p>
        </p:txBody>
      </p:sp>
      <p:sp>
        <p:nvSpPr>
          <p:cNvPr id="4" name="ZoneTexte 3">
            <a:extLst>
              <a:ext uri="{FF2B5EF4-FFF2-40B4-BE49-F238E27FC236}">
                <a16:creationId xmlns:a16="http://schemas.microsoft.com/office/drawing/2014/main" id="{709C3A86-AC60-E340-630F-7AC171CF6AE4}"/>
              </a:ext>
            </a:extLst>
          </p:cNvPr>
          <p:cNvSpPr txBox="1"/>
          <p:nvPr/>
        </p:nvSpPr>
        <p:spPr>
          <a:xfrm>
            <a:off x="737412" y="3463429"/>
            <a:ext cx="11024518" cy="107721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r>
              <a:rPr lang="fr-FR" sz="1600" dirty="0"/>
              <a:t>Imagine que tu es un entrepreneur ou un artiste qui lance sa marque. Tu as devant toi deux propositions commerciales pour la création de ton identité visuelle : un devis classique sans détail à 400 €, et un devis à 950 € certifié avec la certification «  processus créatif étique » détaillant le processus créatif. Ta mission : regarde ces deux écrans, choisis avec quel prestataire tu t'engages, et explique-nous ce qui motive ton choix. </a:t>
            </a:r>
            <a:endParaRPr kumimoji="0" lang="fr-FR" sz="1600" b="0" i="0" u="none" strike="noStrike" cap="none" spc="0" normalizeH="0" baseline="0" dirty="0">
              <a:ln>
                <a:noFill/>
              </a:ln>
              <a:solidFill>
                <a:srgbClr val="000000"/>
              </a:solidFill>
              <a:effectLst/>
              <a:uFillTx/>
              <a:latin typeface="+mj-lt"/>
              <a:ea typeface="+mj-ea"/>
              <a:cs typeface="+mj-cs"/>
              <a:sym typeface="Helvetica"/>
            </a:endParaRPr>
          </a:p>
        </p:txBody>
      </p:sp>
      <p:sp>
        <p:nvSpPr>
          <p:cNvPr id="5" name="ZoneTexte 4">
            <a:extLst>
              <a:ext uri="{FF2B5EF4-FFF2-40B4-BE49-F238E27FC236}">
                <a16:creationId xmlns:a16="http://schemas.microsoft.com/office/drawing/2014/main" id="{D27C4ABC-E31E-4F8F-CA7E-6920139C459A}"/>
              </a:ext>
            </a:extLst>
          </p:cNvPr>
          <p:cNvSpPr txBox="1"/>
          <p:nvPr/>
        </p:nvSpPr>
        <p:spPr>
          <a:xfrm>
            <a:off x="665177" y="5182068"/>
            <a:ext cx="4857799" cy="83099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r>
              <a:rPr lang="fr-FR" sz="1600" dirty="0"/>
              <a:t>Je regarde si son attention s'arrête spontanément sur la détention de la certification (compréhension visuelle immédiate).</a:t>
            </a:r>
            <a:endParaRPr kumimoji="0" lang="fr-FR" sz="1600" b="0" i="0" u="none" strike="noStrike" cap="none" spc="0" normalizeH="0" baseline="0" dirty="0">
              <a:ln>
                <a:noFill/>
              </a:ln>
              <a:solidFill>
                <a:srgbClr val="000000"/>
              </a:solidFill>
              <a:effectLst/>
              <a:uFillTx/>
              <a:latin typeface="+mj-lt"/>
              <a:ea typeface="+mj-ea"/>
              <a:cs typeface="+mj-cs"/>
              <a:sym typeface="Helvetica"/>
            </a:endParaRPr>
          </a:p>
        </p:txBody>
      </p:sp>
      <p:sp>
        <p:nvSpPr>
          <p:cNvPr id="6" name="ZoneTexte 5">
            <a:extLst>
              <a:ext uri="{FF2B5EF4-FFF2-40B4-BE49-F238E27FC236}">
                <a16:creationId xmlns:a16="http://schemas.microsoft.com/office/drawing/2014/main" id="{87D95AAB-2A2A-AA86-FF7C-3533A24B21EE}"/>
              </a:ext>
            </a:extLst>
          </p:cNvPr>
          <p:cNvSpPr txBox="1"/>
          <p:nvPr/>
        </p:nvSpPr>
        <p:spPr>
          <a:xfrm>
            <a:off x="6438748" y="5210240"/>
            <a:ext cx="4340994" cy="83099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r>
              <a:rPr lang="fr-FR" sz="1600" dirty="0"/>
              <a:t>Je regarde s'il comprend la différence entre payer pour une "créativité" vs une "simple exécution graphique automatisée".</a:t>
            </a:r>
            <a:endParaRPr kumimoji="0" lang="fr-FR" sz="1600" b="0" i="0" u="none" strike="noStrike" cap="none" spc="0" normalizeH="0" baseline="0" dirty="0">
              <a:ln>
                <a:noFill/>
              </a:ln>
              <a:solidFill>
                <a:srgbClr val="000000"/>
              </a:solidFill>
              <a:effectLst/>
              <a:uFillTx/>
              <a:latin typeface="+mj-lt"/>
              <a:ea typeface="+mj-ea"/>
              <a:cs typeface="+mj-cs"/>
              <a:sym typeface="Helvetica"/>
            </a:endParaRPr>
          </a:p>
        </p:txBody>
      </p:sp>
      <p:sp>
        <p:nvSpPr>
          <p:cNvPr id="7" name="ZoneTexte 6">
            <a:extLst>
              <a:ext uri="{FF2B5EF4-FFF2-40B4-BE49-F238E27FC236}">
                <a16:creationId xmlns:a16="http://schemas.microsoft.com/office/drawing/2014/main" id="{90DA0A4E-F294-CE15-C80A-5272AD53DE30}"/>
              </a:ext>
            </a:extLst>
          </p:cNvPr>
          <p:cNvSpPr txBox="1"/>
          <p:nvPr/>
        </p:nvSpPr>
        <p:spPr>
          <a:xfrm>
            <a:off x="6318558" y="2232281"/>
            <a:ext cx="5306210" cy="73866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r>
              <a:rPr lang="fr-FR" sz="1400" dirty="0"/>
              <a:t>Ne pas mentionner nous-mêmes que l'autre prestataire utilise </a:t>
            </a:r>
            <a:r>
              <a:rPr lang="fr-FR" sz="1400" dirty="0" err="1"/>
              <a:t>Dall-e</a:t>
            </a:r>
            <a:r>
              <a:rPr lang="fr-FR" sz="1400" dirty="0"/>
              <a:t> ou </a:t>
            </a:r>
            <a:r>
              <a:rPr lang="fr-FR" sz="1400" dirty="0" err="1"/>
              <a:t>Midjourney</a:t>
            </a:r>
            <a:r>
              <a:rPr lang="fr-FR" sz="1400" dirty="0"/>
              <a:t>. Ne pas justifier le prix à la place du testeur : le laisser réagir seul face aux deux montants.</a:t>
            </a:r>
            <a:endParaRPr kumimoji="0" lang="fr-FR" sz="1400" b="0" i="0" u="none" strike="noStrike" cap="none" spc="0" normalizeH="0" baseline="0" dirty="0">
              <a:ln>
                <a:noFill/>
              </a:ln>
              <a:solidFill>
                <a:srgbClr val="000000"/>
              </a:solidFill>
              <a:effectLst/>
              <a:uFillTx/>
              <a:latin typeface="+mj-lt"/>
              <a:ea typeface="+mj-ea"/>
              <a:cs typeface="+mj-cs"/>
              <a:sym typeface="Helvetica"/>
            </a:endParaRPr>
          </a:p>
        </p:txBody>
      </p:sp>
    </p:spTree>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C137F-B6AD-BA23-2C62-1ADE0AA089D1}"/>
            </a:ext>
          </a:extLst>
        </p:cNvPr>
        <p:cNvGrpSpPr/>
        <p:nvPr/>
      </p:nvGrpSpPr>
      <p:grpSpPr>
        <a:xfrm>
          <a:off x="0" y="0"/>
          <a:ext cx="0" cy="0"/>
          <a:chOff x="0" y="0"/>
          <a:chExt cx="0" cy="0"/>
        </a:xfrm>
      </p:grpSpPr>
      <p:sp>
        <p:nvSpPr>
          <p:cNvPr id="91" name="Text 2">
            <a:extLst>
              <a:ext uri="{FF2B5EF4-FFF2-40B4-BE49-F238E27FC236}">
                <a16:creationId xmlns:a16="http://schemas.microsoft.com/office/drawing/2014/main" id="{B12DB8BD-5CAF-19A4-7A5C-BA2BCB2A6B32}"/>
              </a:ext>
            </a:extLst>
          </p:cNvPr>
          <p:cNvSpPr txBox="1"/>
          <p:nvPr/>
        </p:nvSpPr>
        <p:spPr>
          <a:xfrm>
            <a:off x="1865376" y="553672"/>
            <a:ext cx="7315201" cy="17281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nchor="ctr">
            <a:spAutoFit/>
          </a:bodyPr>
          <a:lstStyle>
            <a:lvl1pPr>
              <a:defRPr sz="1200" b="1" spc="300">
                <a:solidFill>
                  <a:srgbClr val="111111"/>
                </a:solidFill>
                <a:latin typeface="Arial"/>
                <a:ea typeface="Arial"/>
                <a:cs typeface="Arial"/>
                <a:sym typeface="Arial"/>
              </a:defRPr>
            </a:lvl1pPr>
          </a:lstStyle>
          <a:p>
            <a:r>
              <a:t>TEMPLATE 2 / 5</a:t>
            </a:r>
          </a:p>
        </p:txBody>
      </p:sp>
      <p:sp>
        <p:nvSpPr>
          <p:cNvPr id="92" name="Text 3">
            <a:extLst>
              <a:ext uri="{FF2B5EF4-FFF2-40B4-BE49-F238E27FC236}">
                <a16:creationId xmlns:a16="http://schemas.microsoft.com/office/drawing/2014/main" id="{7CDC0794-736C-4B82-0D2E-18B5B2F9D0EF}"/>
              </a:ext>
            </a:extLst>
          </p:cNvPr>
          <p:cNvSpPr txBox="1"/>
          <p:nvPr/>
        </p:nvSpPr>
        <p:spPr>
          <a:xfrm>
            <a:off x="566926" y="1005838"/>
            <a:ext cx="11057842" cy="41933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spAutoFit/>
          </a:bodyPr>
          <a:lstStyle>
            <a:lvl1pPr>
              <a:defRPr sz="3000" b="1">
                <a:solidFill>
                  <a:srgbClr val="111111"/>
                </a:solidFill>
                <a:latin typeface="Arial"/>
                <a:ea typeface="Arial"/>
                <a:cs typeface="Arial"/>
                <a:sym typeface="Arial"/>
              </a:defRPr>
            </a:lvl1pPr>
          </a:lstStyle>
          <a:p>
            <a:r>
              <a:t>Le protocole de test</a:t>
            </a:r>
          </a:p>
        </p:txBody>
      </p:sp>
      <p:sp>
        <p:nvSpPr>
          <p:cNvPr id="93" name="Text 4">
            <a:extLst>
              <a:ext uri="{FF2B5EF4-FFF2-40B4-BE49-F238E27FC236}">
                <a16:creationId xmlns:a16="http://schemas.microsoft.com/office/drawing/2014/main" id="{B0B9DF18-A115-5FDE-8D20-883486B7E8C9}"/>
              </a:ext>
            </a:extLst>
          </p:cNvPr>
          <p:cNvSpPr txBox="1"/>
          <p:nvPr/>
        </p:nvSpPr>
        <p:spPr>
          <a:xfrm>
            <a:off x="566927" y="1501647"/>
            <a:ext cx="10874962" cy="18655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spAutoFit/>
          </a:bodyPr>
          <a:lstStyle>
            <a:lvl1pPr>
              <a:defRPr sz="1500" i="1">
                <a:solidFill>
                  <a:srgbClr val="6E6E6E"/>
                </a:solidFill>
                <a:latin typeface="+mn-lt"/>
                <a:ea typeface="+mn-ea"/>
                <a:cs typeface="+mn-cs"/>
                <a:sym typeface="Calibri"/>
              </a:defRPr>
            </a:lvl1pPr>
          </a:lstStyle>
          <a:p>
            <a:r>
              <a:t>On raconte une histoire au testeur, on lui donne une mission, et on observe — sans lui souffler la réponse.</a:t>
            </a:r>
          </a:p>
        </p:txBody>
      </p:sp>
      <p:sp>
        <p:nvSpPr>
          <p:cNvPr id="94" name="Shape 5">
            <a:extLst>
              <a:ext uri="{FF2B5EF4-FFF2-40B4-BE49-F238E27FC236}">
                <a16:creationId xmlns:a16="http://schemas.microsoft.com/office/drawing/2014/main" id="{8C8C3431-4049-440A-4298-537740A94BD2}"/>
              </a:ext>
            </a:extLst>
          </p:cNvPr>
          <p:cNvSpPr/>
          <p:nvPr/>
        </p:nvSpPr>
        <p:spPr>
          <a:xfrm>
            <a:off x="566928" y="1894839"/>
            <a:ext cx="5368900" cy="1130619"/>
          </a:xfrm>
          <a:prstGeom prst="rect">
            <a:avLst/>
          </a:prstGeom>
          <a:solidFill>
            <a:srgbClr val="FFFFFF"/>
          </a:solidFill>
          <a:ln w="19050">
            <a:solidFill>
              <a:srgbClr val="000000"/>
            </a:solidFill>
          </a:ln>
        </p:spPr>
        <p:txBody>
          <a:bodyPr lIns="45718" tIns="45718" rIns="45718" bIns="45718"/>
          <a:lstStyle/>
          <a:p>
            <a:pPr>
              <a:defRPr>
                <a:latin typeface="+mn-lt"/>
                <a:ea typeface="+mn-ea"/>
                <a:cs typeface="+mn-cs"/>
                <a:sym typeface="Calibri"/>
              </a:defRPr>
            </a:pPr>
            <a:endParaRPr/>
          </a:p>
        </p:txBody>
      </p:sp>
      <p:sp>
        <p:nvSpPr>
          <p:cNvPr id="95" name="Text 6">
            <a:extLst>
              <a:ext uri="{FF2B5EF4-FFF2-40B4-BE49-F238E27FC236}">
                <a16:creationId xmlns:a16="http://schemas.microsoft.com/office/drawing/2014/main" id="{E17ADCEB-787E-AF0D-D777-DB6CA76C5014}"/>
              </a:ext>
            </a:extLst>
          </p:cNvPr>
          <p:cNvSpPr txBox="1"/>
          <p:nvPr/>
        </p:nvSpPr>
        <p:spPr>
          <a:xfrm>
            <a:off x="749808" y="2080569"/>
            <a:ext cx="5003140" cy="15889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nchor="ctr">
            <a:spAutoFit/>
          </a:bodyPr>
          <a:lstStyle>
            <a:lvl1pPr>
              <a:defRPr sz="1100" b="1" spc="120">
                <a:solidFill>
                  <a:srgbClr val="111111"/>
                </a:solidFill>
                <a:latin typeface="Arial"/>
                <a:ea typeface="Arial"/>
                <a:cs typeface="Arial"/>
                <a:sym typeface="Arial"/>
              </a:defRPr>
            </a:lvl1pPr>
          </a:lstStyle>
          <a:p>
            <a:r>
              <a:t>① CE QU'ON VEUT VÉRIFIER</a:t>
            </a:r>
          </a:p>
        </p:txBody>
      </p:sp>
      <p:sp>
        <p:nvSpPr>
          <p:cNvPr id="96" name="Text 7">
            <a:extLst>
              <a:ext uri="{FF2B5EF4-FFF2-40B4-BE49-F238E27FC236}">
                <a16:creationId xmlns:a16="http://schemas.microsoft.com/office/drawing/2014/main" id="{140F8323-E111-BA35-6499-6F90B6B45455}"/>
              </a:ext>
            </a:extLst>
          </p:cNvPr>
          <p:cNvSpPr txBox="1"/>
          <p:nvPr/>
        </p:nvSpPr>
        <p:spPr>
          <a:xfrm>
            <a:off x="749808" y="2306320"/>
            <a:ext cx="5003140" cy="18466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spAutoFit/>
          </a:bodyPr>
          <a:lstStyle>
            <a:lvl1pPr>
              <a:defRPr sz="1200" i="1">
                <a:solidFill>
                  <a:srgbClr val="6E6E6E"/>
                </a:solidFill>
                <a:latin typeface="+mn-lt"/>
                <a:ea typeface="+mn-ea"/>
                <a:cs typeface="+mn-cs"/>
                <a:sym typeface="Calibri"/>
              </a:defRPr>
            </a:lvl1pPr>
          </a:lstStyle>
          <a:p>
            <a:endParaRPr dirty="0"/>
          </a:p>
        </p:txBody>
      </p:sp>
      <p:sp>
        <p:nvSpPr>
          <p:cNvPr id="97" name="Shape 8">
            <a:extLst>
              <a:ext uri="{FF2B5EF4-FFF2-40B4-BE49-F238E27FC236}">
                <a16:creationId xmlns:a16="http://schemas.microsoft.com/office/drawing/2014/main" id="{25D2925C-A2F4-595A-0B13-489DC54CBE9B}"/>
              </a:ext>
            </a:extLst>
          </p:cNvPr>
          <p:cNvSpPr/>
          <p:nvPr/>
        </p:nvSpPr>
        <p:spPr>
          <a:xfrm>
            <a:off x="6255868" y="1894839"/>
            <a:ext cx="5368900" cy="1130619"/>
          </a:xfrm>
          <a:prstGeom prst="rect">
            <a:avLst/>
          </a:prstGeom>
          <a:solidFill>
            <a:srgbClr val="FFFFFF"/>
          </a:solidFill>
          <a:ln w="19050">
            <a:solidFill>
              <a:srgbClr val="000000"/>
            </a:solidFill>
          </a:ln>
        </p:spPr>
        <p:txBody>
          <a:bodyPr lIns="45718" tIns="45718" rIns="45718" bIns="45718"/>
          <a:lstStyle/>
          <a:p>
            <a:pPr>
              <a:defRPr>
                <a:latin typeface="+mn-lt"/>
                <a:ea typeface="+mn-ea"/>
                <a:cs typeface="+mn-cs"/>
                <a:sym typeface="Calibri"/>
              </a:defRPr>
            </a:pPr>
            <a:endParaRPr dirty="0"/>
          </a:p>
        </p:txBody>
      </p:sp>
      <p:sp>
        <p:nvSpPr>
          <p:cNvPr id="98" name="Text 9">
            <a:extLst>
              <a:ext uri="{FF2B5EF4-FFF2-40B4-BE49-F238E27FC236}">
                <a16:creationId xmlns:a16="http://schemas.microsoft.com/office/drawing/2014/main" id="{D0D6E890-D8F5-3B55-13D0-49881C610B6B}"/>
              </a:ext>
            </a:extLst>
          </p:cNvPr>
          <p:cNvSpPr txBox="1"/>
          <p:nvPr/>
        </p:nvSpPr>
        <p:spPr>
          <a:xfrm>
            <a:off x="6438748" y="2080569"/>
            <a:ext cx="5003142" cy="15889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nchor="ctr">
            <a:spAutoFit/>
          </a:bodyPr>
          <a:lstStyle>
            <a:lvl1pPr>
              <a:defRPr sz="1100" b="1" spc="120">
                <a:solidFill>
                  <a:srgbClr val="111111"/>
                </a:solidFill>
                <a:latin typeface="Arial"/>
                <a:ea typeface="Arial"/>
                <a:cs typeface="Arial"/>
                <a:sym typeface="Arial"/>
              </a:defRPr>
            </a:lvl1pPr>
          </a:lstStyle>
          <a:p>
            <a:r>
              <a:t>④ CE QU'ON NE DIT SURTOUT PAS</a:t>
            </a:r>
          </a:p>
        </p:txBody>
      </p:sp>
      <p:sp>
        <p:nvSpPr>
          <p:cNvPr id="99" name="Text 10">
            <a:extLst>
              <a:ext uri="{FF2B5EF4-FFF2-40B4-BE49-F238E27FC236}">
                <a16:creationId xmlns:a16="http://schemas.microsoft.com/office/drawing/2014/main" id="{8E982B2E-D043-96EC-5C64-8028C3CFB91E}"/>
              </a:ext>
            </a:extLst>
          </p:cNvPr>
          <p:cNvSpPr txBox="1"/>
          <p:nvPr/>
        </p:nvSpPr>
        <p:spPr>
          <a:xfrm>
            <a:off x="6438748" y="2306320"/>
            <a:ext cx="5003142" cy="18466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spAutoFit/>
          </a:bodyPr>
          <a:lstStyle>
            <a:lvl1pPr>
              <a:defRPr sz="1200" i="1">
                <a:solidFill>
                  <a:srgbClr val="6E6E6E"/>
                </a:solidFill>
                <a:latin typeface="+mn-lt"/>
                <a:ea typeface="+mn-ea"/>
                <a:cs typeface="+mn-cs"/>
                <a:sym typeface="Calibri"/>
              </a:defRPr>
            </a:lvl1pPr>
          </a:lstStyle>
          <a:p>
            <a:endParaRPr dirty="0"/>
          </a:p>
        </p:txBody>
      </p:sp>
      <p:sp>
        <p:nvSpPr>
          <p:cNvPr id="100" name="Shape 11">
            <a:extLst>
              <a:ext uri="{FF2B5EF4-FFF2-40B4-BE49-F238E27FC236}">
                <a16:creationId xmlns:a16="http://schemas.microsoft.com/office/drawing/2014/main" id="{691BEE68-9D4F-A595-1934-EE9D01C7554F}"/>
              </a:ext>
            </a:extLst>
          </p:cNvPr>
          <p:cNvSpPr/>
          <p:nvPr/>
        </p:nvSpPr>
        <p:spPr>
          <a:xfrm>
            <a:off x="566926" y="3200399"/>
            <a:ext cx="11057842" cy="1453118"/>
          </a:xfrm>
          <a:prstGeom prst="rect">
            <a:avLst/>
          </a:prstGeom>
          <a:solidFill>
            <a:srgbClr val="FFFFFF"/>
          </a:solidFill>
          <a:ln w="19050">
            <a:solidFill>
              <a:srgbClr val="000000"/>
            </a:solidFill>
          </a:ln>
        </p:spPr>
        <p:txBody>
          <a:bodyPr lIns="45718" tIns="45718" rIns="45718" bIns="45718"/>
          <a:lstStyle/>
          <a:p>
            <a:pPr>
              <a:defRPr>
                <a:latin typeface="+mn-lt"/>
                <a:ea typeface="+mn-ea"/>
                <a:cs typeface="+mn-cs"/>
                <a:sym typeface="Calibri"/>
              </a:defRPr>
            </a:pPr>
            <a:endParaRPr/>
          </a:p>
        </p:txBody>
      </p:sp>
      <p:sp>
        <p:nvSpPr>
          <p:cNvPr id="101" name="Text 12">
            <a:extLst>
              <a:ext uri="{FF2B5EF4-FFF2-40B4-BE49-F238E27FC236}">
                <a16:creationId xmlns:a16="http://schemas.microsoft.com/office/drawing/2014/main" id="{D00FF57F-478E-722C-FEBA-63034CBBCFF0}"/>
              </a:ext>
            </a:extLst>
          </p:cNvPr>
          <p:cNvSpPr txBox="1"/>
          <p:nvPr/>
        </p:nvSpPr>
        <p:spPr>
          <a:xfrm>
            <a:off x="749806" y="3376986"/>
            <a:ext cx="10692083" cy="1588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nchor="ctr">
            <a:spAutoFit/>
          </a:bodyPr>
          <a:lstStyle>
            <a:lvl1pPr>
              <a:defRPr sz="1100" b="1" spc="100">
                <a:solidFill>
                  <a:srgbClr val="111111"/>
                </a:solidFill>
                <a:latin typeface="Arial"/>
                <a:ea typeface="Arial"/>
                <a:cs typeface="Arial"/>
                <a:sym typeface="Arial"/>
              </a:defRPr>
            </a:lvl1pPr>
          </a:lstStyle>
          <a:p>
            <a:r>
              <a:t>② LE SCÉNARIO — ON PLANTE LE DÉCOR</a:t>
            </a:r>
          </a:p>
        </p:txBody>
      </p:sp>
      <p:sp>
        <p:nvSpPr>
          <p:cNvPr id="102" name="Text 13">
            <a:extLst>
              <a:ext uri="{FF2B5EF4-FFF2-40B4-BE49-F238E27FC236}">
                <a16:creationId xmlns:a16="http://schemas.microsoft.com/office/drawing/2014/main" id="{C49113C3-7101-A582-CF49-A6A1B54C38B8}"/>
              </a:ext>
            </a:extLst>
          </p:cNvPr>
          <p:cNvSpPr txBox="1"/>
          <p:nvPr/>
        </p:nvSpPr>
        <p:spPr>
          <a:xfrm>
            <a:off x="749806" y="3665850"/>
            <a:ext cx="10692083" cy="18466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nchor="ctr">
            <a:spAutoFit/>
          </a:bodyPr>
          <a:lstStyle>
            <a:lvl1pPr>
              <a:defRPr sz="1200" i="1">
                <a:solidFill>
                  <a:srgbClr val="6E6E6E"/>
                </a:solidFill>
                <a:latin typeface="+mn-lt"/>
                <a:ea typeface="+mn-ea"/>
                <a:cs typeface="+mn-cs"/>
                <a:sym typeface="Calibri"/>
              </a:defRPr>
            </a:lvl1pPr>
          </a:lstStyle>
          <a:p>
            <a:endParaRPr dirty="0"/>
          </a:p>
        </p:txBody>
      </p:sp>
      <p:sp>
        <p:nvSpPr>
          <p:cNvPr id="103" name="Shape 15">
            <a:extLst>
              <a:ext uri="{FF2B5EF4-FFF2-40B4-BE49-F238E27FC236}">
                <a16:creationId xmlns:a16="http://schemas.microsoft.com/office/drawing/2014/main" id="{90146564-FFB5-66EA-F550-CE91E2E81E56}"/>
              </a:ext>
            </a:extLst>
          </p:cNvPr>
          <p:cNvSpPr/>
          <p:nvPr/>
        </p:nvSpPr>
        <p:spPr>
          <a:xfrm>
            <a:off x="566928" y="4826000"/>
            <a:ext cx="5368900" cy="1366523"/>
          </a:xfrm>
          <a:prstGeom prst="rect">
            <a:avLst/>
          </a:prstGeom>
          <a:solidFill>
            <a:srgbClr val="FFFFFF"/>
          </a:solidFill>
          <a:ln w="19050">
            <a:solidFill>
              <a:srgbClr val="000000"/>
            </a:solidFill>
          </a:ln>
        </p:spPr>
        <p:txBody>
          <a:bodyPr lIns="45718" tIns="45718" rIns="45718" bIns="45718"/>
          <a:lstStyle/>
          <a:p>
            <a:pPr>
              <a:defRPr>
                <a:latin typeface="+mn-lt"/>
                <a:ea typeface="+mn-ea"/>
                <a:cs typeface="+mn-cs"/>
                <a:sym typeface="Calibri"/>
              </a:defRPr>
            </a:pPr>
            <a:endParaRPr dirty="0"/>
          </a:p>
        </p:txBody>
      </p:sp>
      <p:sp>
        <p:nvSpPr>
          <p:cNvPr id="104" name="Text 16">
            <a:extLst>
              <a:ext uri="{FF2B5EF4-FFF2-40B4-BE49-F238E27FC236}">
                <a16:creationId xmlns:a16="http://schemas.microsoft.com/office/drawing/2014/main" id="{87ED6039-3A31-5D94-3666-A30CF95E2FDE}"/>
              </a:ext>
            </a:extLst>
          </p:cNvPr>
          <p:cNvSpPr txBox="1"/>
          <p:nvPr/>
        </p:nvSpPr>
        <p:spPr>
          <a:xfrm>
            <a:off x="749808" y="5011730"/>
            <a:ext cx="5003140" cy="1588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nchor="ctr">
            <a:spAutoFit/>
          </a:bodyPr>
          <a:lstStyle>
            <a:lvl1pPr>
              <a:defRPr sz="1100" b="1" spc="120">
                <a:solidFill>
                  <a:srgbClr val="111111"/>
                </a:solidFill>
                <a:latin typeface="Arial"/>
                <a:ea typeface="Arial"/>
                <a:cs typeface="Arial"/>
                <a:sym typeface="Arial"/>
              </a:defRPr>
            </a:lvl1pPr>
          </a:lstStyle>
          <a:p>
            <a:r>
              <a:t>③ POINT DE CONTRÔLE A</a:t>
            </a:r>
          </a:p>
        </p:txBody>
      </p:sp>
      <p:sp>
        <p:nvSpPr>
          <p:cNvPr id="105" name="Text 17">
            <a:extLst>
              <a:ext uri="{FF2B5EF4-FFF2-40B4-BE49-F238E27FC236}">
                <a16:creationId xmlns:a16="http://schemas.microsoft.com/office/drawing/2014/main" id="{94EAEF23-ABD4-B524-D3E4-B38349F55875}"/>
              </a:ext>
            </a:extLst>
          </p:cNvPr>
          <p:cNvSpPr txBox="1"/>
          <p:nvPr/>
        </p:nvSpPr>
        <p:spPr>
          <a:xfrm>
            <a:off x="749808" y="5237479"/>
            <a:ext cx="5003140" cy="18466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spAutoFit/>
          </a:bodyPr>
          <a:lstStyle>
            <a:lvl1pPr>
              <a:defRPr sz="1200" i="1">
                <a:solidFill>
                  <a:srgbClr val="6E6E6E"/>
                </a:solidFill>
                <a:latin typeface="+mn-lt"/>
                <a:ea typeface="+mn-ea"/>
                <a:cs typeface="+mn-cs"/>
                <a:sym typeface="Calibri"/>
              </a:defRPr>
            </a:lvl1pPr>
          </a:lstStyle>
          <a:p>
            <a:endParaRPr dirty="0"/>
          </a:p>
        </p:txBody>
      </p:sp>
      <p:sp>
        <p:nvSpPr>
          <p:cNvPr id="106" name="Shape 18">
            <a:extLst>
              <a:ext uri="{FF2B5EF4-FFF2-40B4-BE49-F238E27FC236}">
                <a16:creationId xmlns:a16="http://schemas.microsoft.com/office/drawing/2014/main" id="{24F657A7-1161-31C8-F8DD-2CC302E61A15}"/>
              </a:ext>
            </a:extLst>
          </p:cNvPr>
          <p:cNvSpPr/>
          <p:nvPr/>
        </p:nvSpPr>
        <p:spPr>
          <a:xfrm>
            <a:off x="6255868" y="4826000"/>
            <a:ext cx="5368900" cy="1366523"/>
          </a:xfrm>
          <a:prstGeom prst="rect">
            <a:avLst/>
          </a:prstGeom>
          <a:solidFill>
            <a:srgbClr val="FFFFFF"/>
          </a:solidFill>
          <a:ln w="19050">
            <a:solidFill>
              <a:srgbClr val="000000"/>
            </a:solidFill>
          </a:ln>
        </p:spPr>
        <p:txBody>
          <a:bodyPr lIns="45718" tIns="45718" rIns="45718" bIns="45718"/>
          <a:lstStyle/>
          <a:p>
            <a:pPr>
              <a:defRPr>
                <a:latin typeface="+mn-lt"/>
                <a:ea typeface="+mn-ea"/>
                <a:cs typeface="+mn-cs"/>
                <a:sym typeface="Calibri"/>
              </a:defRPr>
            </a:pPr>
            <a:endParaRPr/>
          </a:p>
        </p:txBody>
      </p:sp>
      <p:sp>
        <p:nvSpPr>
          <p:cNvPr id="107" name="Text 19">
            <a:extLst>
              <a:ext uri="{FF2B5EF4-FFF2-40B4-BE49-F238E27FC236}">
                <a16:creationId xmlns:a16="http://schemas.microsoft.com/office/drawing/2014/main" id="{F9ED7E85-6EAA-89EC-111E-FC5EF5FA270D}"/>
              </a:ext>
            </a:extLst>
          </p:cNvPr>
          <p:cNvSpPr txBox="1"/>
          <p:nvPr/>
        </p:nvSpPr>
        <p:spPr>
          <a:xfrm>
            <a:off x="6438748" y="5011730"/>
            <a:ext cx="5003142" cy="15889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nchor="ctr">
            <a:spAutoFit/>
          </a:bodyPr>
          <a:lstStyle>
            <a:lvl1pPr>
              <a:defRPr sz="1100" b="1" spc="120">
                <a:solidFill>
                  <a:srgbClr val="111111"/>
                </a:solidFill>
                <a:latin typeface="Arial"/>
                <a:ea typeface="Arial"/>
                <a:cs typeface="Arial"/>
                <a:sym typeface="Arial"/>
              </a:defRPr>
            </a:lvl1pPr>
          </a:lstStyle>
          <a:p>
            <a:r>
              <a:t>③ POINT DE CONTRÔLE B</a:t>
            </a:r>
          </a:p>
        </p:txBody>
      </p:sp>
      <p:sp>
        <p:nvSpPr>
          <p:cNvPr id="108" name="Text 20">
            <a:extLst>
              <a:ext uri="{FF2B5EF4-FFF2-40B4-BE49-F238E27FC236}">
                <a16:creationId xmlns:a16="http://schemas.microsoft.com/office/drawing/2014/main" id="{63242FF9-DF52-663B-C7B6-6559902CE072}"/>
              </a:ext>
            </a:extLst>
          </p:cNvPr>
          <p:cNvSpPr txBox="1"/>
          <p:nvPr/>
        </p:nvSpPr>
        <p:spPr>
          <a:xfrm>
            <a:off x="6438748" y="5237479"/>
            <a:ext cx="5003142" cy="18466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spAutoFit/>
          </a:bodyPr>
          <a:lstStyle>
            <a:lvl1pPr>
              <a:defRPr sz="1200" i="1">
                <a:solidFill>
                  <a:srgbClr val="6E6E6E"/>
                </a:solidFill>
                <a:latin typeface="+mn-lt"/>
                <a:ea typeface="+mn-ea"/>
                <a:cs typeface="+mn-cs"/>
                <a:sym typeface="Calibri"/>
              </a:defRPr>
            </a:lvl1pPr>
          </a:lstStyle>
          <a:p>
            <a:endParaRPr dirty="0"/>
          </a:p>
        </p:txBody>
      </p:sp>
      <p:pic>
        <p:nvPicPr>
          <p:cNvPr id="109" name="Image 0" descr="Image 0">
            <a:extLst>
              <a:ext uri="{FF2B5EF4-FFF2-40B4-BE49-F238E27FC236}">
                <a16:creationId xmlns:a16="http://schemas.microsoft.com/office/drawing/2014/main" id="{D076A173-72EE-C711-B55A-3AC70A30AC04}"/>
              </a:ext>
            </a:extLst>
          </p:cNvPr>
          <p:cNvPicPr>
            <a:picLocks noChangeAspect="1"/>
          </p:cNvPicPr>
          <p:nvPr/>
        </p:nvPicPr>
        <p:blipFill>
          <a:blip r:embed="rId2"/>
          <a:stretch>
            <a:fillRect/>
          </a:stretch>
        </p:blipFill>
        <p:spPr>
          <a:xfrm>
            <a:off x="566927" y="6382510"/>
            <a:ext cx="868682" cy="223116"/>
          </a:xfrm>
          <a:prstGeom prst="rect">
            <a:avLst/>
          </a:prstGeom>
          <a:ln w="12700">
            <a:miter lim="400000"/>
          </a:ln>
        </p:spPr>
      </p:pic>
      <p:sp>
        <p:nvSpPr>
          <p:cNvPr id="110" name="Text 21">
            <a:extLst>
              <a:ext uri="{FF2B5EF4-FFF2-40B4-BE49-F238E27FC236}">
                <a16:creationId xmlns:a16="http://schemas.microsoft.com/office/drawing/2014/main" id="{71F429F9-4A5C-674A-C7A0-C73445764A3F}"/>
              </a:ext>
            </a:extLst>
          </p:cNvPr>
          <p:cNvSpPr txBox="1"/>
          <p:nvPr/>
        </p:nvSpPr>
        <p:spPr>
          <a:xfrm>
            <a:off x="8515807" y="6428738"/>
            <a:ext cx="3108962" cy="127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nchor="ctr">
            <a:spAutoFit/>
          </a:bodyPr>
          <a:lstStyle>
            <a:lvl1pPr algn="r">
              <a:defRPr sz="900" b="1" spc="200">
                <a:solidFill>
                  <a:srgbClr val="9A9A9A"/>
                </a:solidFill>
                <a:latin typeface="Arial"/>
                <a:ea typeface="Arial"/>
                <a:cs typeface="Arial"/>
                <a:sym typeface="Arial"/>
              </a:defRPr>
            </a:lvl1pPr>
          </a:lstStyle>
          <a:p>
            <a:r>
              <a:t>IDDIC 2026  ·  BREAKING AI</a:t>
            </a:r>
          </a:p>
        </p:txBody>
      </p:sp>
      <p:sp>
        <p:nvSpPr>
          <p:cNvPr id="111" name="Shape 0">
            <a:extLst>
              <a:ext uri="{FF2B5EF4-FFF2-40B4-BE49-F238E27FC236}">
                <a16:creationId xmlns:a16="http://schemas.microsoft.com/office/drawing/2014/main" id="{D277043F-C420-31E0-2234-D57262FEF81B}"/>
              </a:ext>
            </a:extLst>
          </p:cNvPr>
          <p:cNvSpPr/>
          <p:nvPr/>
        </p:nvSpPr>
        <p:spPr>
          <a:xfrm>
            <a:off x="566927" y="457200"/>
            <a:ext cx="1234442" cy="384048"/>
          </a:xfrm>
          <a:prstGeom prst="roundRect">
            <a:avLst>
              <a:gd name="adj" fmla="val 50000"/>
            </a:avLst>
          </a:prstGeom>
          <a:solidFill>
            <a:srgbClr val="2E6BFF"/>
          </a:solidFill>
          <a:ln w="12700">
            <a:miter lim="400000"/>
          </a:ln>
        </p:spPr>
        <p:txBody>
          <a:bodyPr lIns="45718" tIns="45718" rIns="45718" bIns="45718"/>
          <a:lstStyle/>
          <a:p>
            <a:pPr>
              <a:defRPr>
                <a:latin typeface="+mn-lt"/>
                <a:ea typeface="+mn-ea"/>
                <a:cs typeface="+mn-cs"/>
                <a:sym typeface="Calibri"/>
              </a:defRPr>
            </a:pPr>
            <a:endParaRPr/>
          </a:p>
        </p:txBody>
      </p:sp>
      <p:sp>
        <p:nvSpPr>
          <p:cNvPr id="112" name="Text 1">
            <a:extLst>
              <a:ext uri="{FF2B5EF4-FFF2-40B4-BE49-F238E27FC236}">
                <a16:creationId xmlns:a16="http://schemas.microsoft.com/office/drawing/2014/main" id="{E8101D12-1BCE-00D6-F4D7-854946E31E9C}"/>
              </a:ext>
            </a:extLst>
          </p:cNvPr>
          <p:cNvSpPr txBox="1"/>
          <p:nvPr/>
        </p:nvSpPr>
        <p:spPr>
          <a:xfrm>
            <a:off x="566927" y="556674"/>
            <a:ext cx="1234443" cy="1850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nchor="ctr">
            <a:spAutoFit/>
          </a:bodyPr>
          <a:lstStyle>
            <a:lvl1pPr algn="ctr">
              <a:defRPr sz="1300" b="1" spc="200">
                <a:solidFill>
                  <a:srgbClr val="FFFFFF"/>
                </a:solidFill>
                <a:latin typeface="Arial"/>
                <a:ea typeface="Arial"/>
                <a:cs typeface="Arial"/>
                <a:sym typeface="Arial"/>
              </a:defRPr>
            </a:lvl1pPr>
          </a:lstStyle>
          <a:p>
            <a:r>
              <a:t>JOUR 3</a:t>
            </a:r>
          </a:p>
        </p:txBody>
      </p:sp>
      <p:sp>
        <p:nvSpPr>
          <p:cNvPr id="2" name="ZoneTexte 1">
            <a:extLst>
              <a:ext uri="{FF2B5EF4-FFF2-40B4-BE49-F238E27FC236}">
                <a16:creationId xmlns:a16="http://schemas.microsoft.com/office/drawing/2014/main" id="{595AE421-BDE5-B75C-C6E7-1DA62F569DBC}"/>
              </a:ext>
            </a:extLst>
          </p:cNvPr>
          <p:cNvSpPr txBox="1"/>
          <p:nvPr/>
        </p:nvSpPr>
        <p:spPr>
          <a:xfrm>
            <a:off x="629618" y="2109785"/>
            <a:ext cx="5368900" cy="83099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fr-FR" sz="1600" b="0" i="0" u="none" strike="noStrike" cap="none" spc="0" normalizeH="0" baseline="0" dirty="0">
                <a:ln>
                  <a:noFill/>
                </a:ln>
                <a:solidFill>
                  <a:srgbClr val="000000"/>
                </a:solidFill>
                <a:effectLst/>
                <a:uFillTx/>
                <a:latin typeface="+mj-lt"/>
                <a:ea typeface="+mj-ea"/>
                <a:cs typeface="+mj-cs"/>
                <a:sym typeface="Helvetica"/>
              </a:rPr>
              <a:t>Nos clients ( artistes </a:t>
            </a:r>
            <a:r>
              <a:rPr lang="fr-FR" sz="1600" dirty="0"/>
              <a:t>/ créateur de contenus </a:t>
            </a:r>
            <a:r>
              <a:rPr lang="fr-FR" sz="1600" dirty="0" err="1"/>
              <a:t>ect</a:t>
            </a:r>
            <a:r>
              <a:rPr lang="fr-FR" sz="1600" dirty="0"/>
              <a:t>) sont prêts à payer une certification sur leur produits/ services afin de rassurer leurs clients sur l’authenticité de leurs produits. </a:t>
            </a:r>
            <a:endParaRPr kumimoji="0" lang="fr-FR" sz="1600" b="0" i="0" u="none" strike="noStrike" cap="none" spc="0" normalizeH="0" baseline="0" dirty="0">
              <a:ln>
                <a:noFill/>
              </a:ln>
              <a:solidFill>
                <a:srgbClr val="000000"/>
              </a:solidFill>
              <a:effectLst/>
              <a:uFillTx/>
              <a:latin typeface="+mj-lt"/>
              <a:ea typeface="+mj-ea"/>
              <a:cs typeface="+mj-cs"/>
              <a:sym typeface="Helvetica"/>
            </a:endParaRPr>
          </a:p>
        </p:txBody>
      </p:sp>
      <p:sp>
        <p:nvSpPr>
          <p:cNvPr id="8" name="ZoneTexte 7">
            <a:extLst>
              <a:ext uri="{FF2B5EF4-FFF2-40B4-BE49-F238E27FC236}">
                <a16:creationId xmlns:a16="http://schemas.microsoft.com/office/drawing/2014/main" id="{E6494792-AC20-7E47-0291-97E8FBD85363}"/>
              </a:ext>
            </a:extLst>
          </p:cNvPr>
          <p:cNvSpPr txBox="1"/>
          <p:nvPr/>
        </p:nvSpPr>
        <p:spPr>
          <a:xfrm>
            <a:off x="737411" y="3646590"/>
            <a:ext cx="10440862" cy="64632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fr-FR" sz="1800" b="0" i="0" u="none" strike="noStrike" cap="none" spc="0" normalizeH="0" baseline="0" dirty="0">
                <a:ln>
                  <a:noFill/>
                </a:ln>
                <a:solidFill>
                  <a:srgbClr val="000000"/>
                </a:solidFill>
                <a:effectLst/>
                <a:uFillTx/>
                <a:latin typeface="+mj-lt"/>
                <a:ea typeface="+mj-ea"/>
                <a:cs typeface="+mj-cs"/>
                <a:sym typeface="Helvetica"/>
              </a:rPr>
              <a:t>On propose à des créateurs la certification « PCE » en leur expliquant le processus de certification et les bénéfices.</a:t>
            </a:r>
          </a:p>
        </p:txBody>
      </p:sp>
      <p:sp>
        <p:nvSpPr>
          <p:cNvPr id="11" name="ZoneTexte 10">
            <a:extLst>
              <a:ext uri="{FF2B5EF4-FFF2-40B4-BE49-F238E27FC236}">
                <a16:creationId xmlns:a16="http://schemas.microsoft.com/office/drawing/2014/main" id="{2641C9AD-3F25-D3AB-7D19-F09D78D19CCB}"/>
              </a:ext>
            </a:extLst>
          </p:cNvPr>
          <p:cNvSpPr txBox="1"/>
          <p:nvPr/>
        </p:nvSpPr>
        <p:spPr>
          <a:xfrm>
            <a:off x="885524" y="5170621"/>
            <a:ext cx="4867424" cy="83099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fr-FR" sz="1600" b="0" i="0" u="none" strike="noStrike" cap="none" spc="0" normalizeH="0" baseline="0" dirty="0">
                <a:ln>
                  <a:noFill/>
                </a:ln>
                <a:solidFill>
                  <a:srgbClr val="000000"/>
                </a:solidFill>
                <a:effectLst/>
                <a:uFillTx/>
                <a:latin typeface="+mj-lt"/>
                <a:ea typeface="+mj-ea"/>
                <a:cs typeface="+mj-cs"/>
                <a:sym typeface="Helvetica"/>
              </a:rPr>
              <a:t>Analyse du dossier au complet (ambition court ou long terme)  les idées de réalisation, processus de créativité , le rapport à l’IA. </a:t>
            </a:r>
          </a:p>
        </p:txBody>
      </p:sp>
      <p:sp>
        <p:nvSpPr>
          <p:cNvPr id="12" name="ZoneTexte 11">
            <a:extLst>
              <a:ext uri="{FF2B5EF4-FFF2-40B4-BE49-F238E27FC236}">
                <a16:creationId xmlns:a16="http://schemas.microsoft.com/office/drawing/2014/main" id="{EF6C977E-8AA2-816C-8FA9-C4D221B470B9}"/>
              </a:ext>
            </a:extLst>
          </p:cNvPr>
          <p:cNvSpPr txBox="1"/>
          <p:nvPr/>
        </p:nvSpPr>
        <p:spPr>
          <a:xfrm>
            <a:off x="6590534" y="5241120"/>
            <a:ext cx="4838958" cy="92332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lang="fr-FR" dirty="0"/>
              <a:t>Etude poussée du dossier par une commission (compétences, environnement </a:t>
            </a:r>
            <a:r>
              <a:rPr lang="fr-FR" dirty="0" err="1"/>
              <a:t>ect</a:t>
            </a:r>
            <a:r>
              <a:rPr lang="fr-FR" dirty="0"/>
              <a:t>) </a:t>
            </a:r>
            <a:endParaRPr kumimoji="0" lang="fr-FR" sz="1800" b="0" i="0" u="none" strike="noStrike" cap="none" spc="0" normalizeH="0" baseline="0" dirty="0">
              <a:ln>
                <a:noFill/>
              </a:ln>
              <a:solidFill>
                <a:srgbClr val="000000"/>
              </a:solidFill>
              <a:effectLst/>
              <a:uFillTx/>
              <a:latin typeface="+mj-lt"/>
              <a:ea typeface="+mj-ea"/>
              <a:cs typeface="+mj-cs"/>
              <a:sym typeface="Helvetica"/>
            </a:endParaRPr>
          </a:p>
        </p:txBody>
      </p:sp>
      <p:sp>
        <p:nvSpPr>
          <p:cNvPr id="13" name="ZoneTexte 12">
            <a:extLst>
              <a:ext uri="{FF2B5EF4-FFF2-40B4-BE49-F238E27FC236}">
                <a16:creationId xmlns:a16="http://schemas.microsoft.com/office/drawing/2014/main" id="{F3852B1A-5A7C-15FA-B43E-D9BDA4DE435B}"/>
              </a:ext>
            </a:extLst>
          </p:cNvPr>
          <p:cNvSpPr txBox="1"/>
          <p:nvPr/>
        </p:nvSpPr>
        <p:spPr>
          <a:xfrm>
            <a:off x="6814686" y="2272064"/>
            <a:ext cx="3840480" cy="64632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fr-FR" sz="1800" b="0" i="0" u="none" strike="noStrike" cap="none" spc="0" normalizeH="0" baseline="0" dirty="0">
                <a:ln>
                  <a:noFill/>
                </a:ln>
                <a:solidFill>
                  <a:srgbClr val="000000"/>
                </a:solidFill>
                <a:effectLst/>
                <a:uFillTx/>
                <a:latin typeface="+mj-lt"/>
                <a:ea typeface="+mj-ea"/>
                <a:cs typeface="+mj-cs"/>
                <a:sym typeface="Helvetica"/>
              </a:rPr>
              <a:t>Les critères exactes d’obtention de la certification. </a:t>
            </a:r>
          </a:p>
        </p:txBody>
      </p:sp>
    </p:spTree>
    <p:extLst>
      <p:ext uri="{BB962C8B-B14F-4D97-AF65-F5344CB8AC3E}">
        <p14:creationId xmlns:p14="http://schemas.microsoft.com/office/powerpoint/2010/main" val="2686101662"/>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 name="Text 2"/>
          <p:cNvSpPr txBox="1"/>
          <p:nvPr/>
        </p:nvSpPr>
        <p:spPr>
          <a:xfrm>
            <a:off x="1865376" y="553672"/>
            <a:ext cx="7315201" cy="17281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200" b="1" spc="300">
                <a:solidFill>
                  <a:srgbClr val="111111"/>
                </a:solidFill>
                <a:latin typeface="Arial"/>
                <a:ea typeface="Arial"/>
                <a:cs typeface="Arial"/>
                <a:sym typeface="Arial"/>
              </a:defRPr>
            </a:lvl1pPr>
          </a:lstStyle>
          <a:p>
            <a:r>
              <a:t>TEMPLATE 3 / 5</a:t>
            </a:r>
          </a:p>
        </p:txBody>
      </p:sp>
      <p:sp>
        <p:nvSpPr>
          <p:cNvPr id="115" name="Text 3"/>
          <p:cNvSpPr txBox="1"/>
          <p:nvPr/>
        </p:nvSpPr>
        <p:spPr>
          <a:xfrm>
            <a:off x="566926" y="1005838"/>
            <a:ext cx="11057842" cy="41933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defRPr sz="3000" b="1">
                <a:solidFill>
                  <a:srgbClr val="111111"/>
                </a:solidFill>
                <a:latin typeface="Arial"/>
                <a:ea typeface="Arial"/>
                <a:cs typeface="Arial"/>
                <a:sym typeface="Arial"/>
              </a:defRPr>
            </a:lvl1pPr>
          </a:lstStyle>
          <a:p>
            <a:r>
              <a:t>La synthèse des tests</a:t>
            </a:r>
          </a:p>
        </p:txBody>
      </p:sp>
      <p:sp>
        <p:nvSpPr>
          <p:cNvPr id="116" name="Text 4"/>
          <p:cNvSpPr txBox="1"/>
          <p:nvPr/>
        </p:nvSpPr>
        <p:spPr>
          <a:xfrm>
            <a:off x="566927" y="1501647"/>
            <a:ext cx="10874962" cy="18655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defRPr sz="1500" i="1">
                <a:solidFill>
                  <a:srgbClr val="6E6E6E"/>
                </a:solidFill>
                <a:latin typeface="+mn-lt"/>
                <a:ea typeface="+mn-ea"/>
                <a:cs typeface="+mn-cs"/>
                <a:sym typeface="Calibri"/>
              </a:defRPr>
            </a:lvl1pPr>
          </a:lstStyle>
          <a:p>
            <a:r>
              <a:t>Un test « raté » qui vous apprend quelque chose est un test réussi.</a:t>
            </a:r>
          </a:p>
        </p:txBody>
      </p:sp>
      <p:sp>
        <p:nvSpPr>
          <p:cNvPr id="117" name="Shape 5"/>
          <p:cNvSpPr/>
          <p:nvPr/>
        </p:nvSpPr>
        <p:spPr>
          <a:xfrm>
            <a:off x="566928" y="1849120"/>
            <a:ext cx="5368900" cy="1651651"/>
          </a:xfrm>
          <a:prstGeom prst="rect">
            <a:avLst/>
          </a:prstGeom>
          <a:solidFill>
            <a:srgbClr val="FFFFFF"/>
          </a:solidFill>
          <a:ln w="19050">
            <a:solidFill>
              <a:srgbClr val="000000"/>
            </a:solidFill>
          </a:ln>
        </p:spPr>
        <p:txBody>
          <a:bodyPr lIns="45718" tIns="45718" rIns="45718" bIns="45718"/>
          <a:lstStyle/>
          <a:p>
            <a:pPr>
              <a:defRPr>
                <a:latin typeface="+mn-lt"/>
                <a:ea typeface="+mn-ea"/>
                <a:cs typeface="+mn-cs"/>
                <a:sym typeface="Calibri"/>
              </a:defRPr>
            </a:pPr>
            <a:endParaRPr/>
          </a:p>
        </p:txBody>
      </p:sp>
      <p:sp>
        <p:nvSpPr>
          <p:cNvPr id="118" name="Text 6"/>
          <p:cNvSpPr txBox="1"/>
          <p:nvPr/>
        </p:nvSpPr>
        <p:spPr>
          <a:xfrm>
            <a:off x="749808" y="2012601"/>
            <a:ext cx="5003140" cy="1851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300" b="1">
                <a:solidFill>
                  <a:srgbClr val="111111"/>
                </a:solidFill>
                <a:latin typeface="Arial"/>
                <a:ea typeface="Arial"/>
                <a:cs typeface="Arial"/>
                <a:sym typeface="Arial"/>
              </a:defRPr>
            </a:lvl1pPr>
          </a:lstStyle>
          <a:p>
            <a:r>
              <a:t>Ce qui a marché / a plu</a:t>
            </a:r>
          </a:p>
        </p:txBody>
      </p:sp>
      <p:sp>
        <p:nvSpPr>
          <p:cNvPr id="119" name="Shape 9"/>
          <p:cNvSpPr/>
          <p:nvPr/>
        </p:nvSpPr>
        <p:spPr>
          <a:xfrm>
            <a:off x="6255868" y="1849120"/>
            <a:ext cx="5368900" cy="1651651"/>
          </a:xfrm>
          <a:prstGeom prst="rect">
            <a:avLst/>
          </a:prstGeom>
          <a:solidFill>
            <a:srgbClr val="FFFFFF"/>
          </a:solidFill>
          <a:ln w="19050">
            <a:solidFill>
              <a:srgbClr val="000000"/>
            </a:solidFill>
          </a:ln>
        </p:spPr>
        <p:txBody>
          <a:bodyPr lIns="45718" tIns="45718" rIns="45718" bIns="45718"/>
          <a:lstStyle/>
          <a:p>
            <a:pPr>
              <a:defRPr>
                <a:latin typeface="+mn-lt"/>
                <a:ea typeface="+mn-ea"/>
                <a:cs typeface="+mn-cs"/>
                <a:sym typeface="Calibri"/>
              </a:defRPr>
            </a:pPr>
            <a:endParaRPr dirty="0"/>
          </a:p>
        </p:txBody>
      </p:sp>
      <p:sp>
        <p:nvSpPr>
          <p:cNvPr id="120" name="Text 10"/>
          <p:cNvSpPr txBox="1"/>
          <p:nvPr/>
        </p:nvSpPr>
        <p:spPr>
          <a:xfrm>
            <a:off x="6438748" y="2012601"/>
            <a:ext cx="5003142" cy="1851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300" b="1">
                <a:solidFill>
                  <a:srgbClr val="111111"/>
                </a:solidFill>
                <a:latin typeface="Arial"/>
                <a:ea typeface="Arial"/>
                <a:cs typeface="Arial"/>
                <a:sym typeface="Arial"/>
              </a:defRPr>
            </a:lvl1pPr>
          </a:lstStyle>
          <a:p>
            <a:r>
              <a:t>Ce qui a coincé</a:t>
            </a:r>
          </a:p>
        </p:txBody>
      </p:sp>
      <p:sp>
        <p:nvSpPr>
          <p:cNvPr id="121" name="Shape 13"/>
          <p:cNvSpPr/>
          <p:nvPr/>
        </p:nvSpPr>
        <p:spPr>
          <a:xfrm>
            <a:off x="566928" y="3710432"/>
            <a:ext cx="5368900" cy="616526"/>
          </a:xfrm>
          <a:prstGeom prst="rect">
            <a:avLst/>
          </a:prstGeom>
          <a:solidFill>
            <a:srgbClr val="FFFFFF"/>
          </a:solidFill>
          <a:ln w="19050">
            <a:solidFill>
              <a:srgbClr val="000000"/>
            </a:solidFill>
          </a:ln>
        </p:spPr>
        <p:txBody>
          <a:bodyPr lIns="45718" tIns="45718" rIns="45718" bIns="45718"/>
          <a:lstStyle/>
          <a:p>
            <a:pPr>
              <a:defRPr>
                <a:latin typeface="+mn-lt"/>
                <a:ea typeface="+mn-ea"/>
                <a:cs typeface="+mn-cs"/>
                <a:sym typeface="Calibri"/>
              </a:defRPr>
            </a:pPr>
            <a:endParaRPr/>
          </a:p>
        </p:txBody>
      </p:sp>
      <p:sp>
        <p:nvSpPr>
          <p:cNvPr id="122" name="Text 14"/>
          <p:cNvSpPr txBox="1"/>
          <p:nvPr/>
        </p:nvSpPr>
        <p:spPr>
          <a:xfrm>
            <a:off x="749808" y="3924713"/>
            <a:ext cx="2007450" cy="1851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300" b="1">
                <a:solidFill>
                  <a:srgbClr val="111111"/>
                </a:solidFill>
                <a:latin typeface="Arial"/>
                <a:ea typeface="Arial"/>
                <a:cs typeface="Arial"/>
                <a:sym typeface="Arial"/>
              </a:defRPr>
            </a:lvl1pPr>
          </a:lstStyle>
          <a:p>
            <a:r>
              <a:t>Hypothèses VALIDÉES</a:t>
            </a:r>
          </a:p>
        </p:txBody>
      </p:sp>
      <p:sp>
        <p:nvSpPr>
          <p:cNvPr id="123" name="Shape 21"/>
          <p:cNvSpPr/>
          <p:nvPr/>
        </p:nvSpPr>
        <p:spPr>
          <a:xfrm>
            <a:off x="566928" y="4555744"/>
            <a:ext cx="5368900" cy="1563873"/>
          </a:xfrm>
          <a:prstGeom prst="rect">
            <a:avLst/>
          </a:prstGeom>
          <a:solidFill>
            <a:srgbClr val="FFFFFF"/>
          </a:solidFill>
          <a:ln w="19050">
            <a:solidFill>
              <a:srgbClr val="000000"/>
            </a:solidFill>
          </a:ln>
        </p:spPr>
        <p:txBody>
          <a:bodyPr lIns="45718" tIns="45718" rIns="45718" bIns="45718"/>
          <a:lstStyle/>
          <a:p>
            <a:pPr>
              <a:defRPr>
                <a:latin typeface="+mn-lt"/>
                <a:ea typeface="+mn-ea"/>
                <a:cs typeface="+mn-cs"/>
                <a:sym typeface="Calibri"/>
              </a:defRPr>
            </a:pPr>
            <a:endParaRPr/>
          </a:p>
        </p:txBody>
      </p:sp>
      <p:sp>
        <p:nvSpPr>
          <p:cNvPr id="124" name="Text 22"/>
          <p:cNvSpPr txBox="1"/>
          <p:nvPr/>
        </p:nvSpPr>
        <p:spPr>
          <a:xfrm>
            <a:off x="749808" y="4719225"/>
            <a:ext cx="5003140" cy="1851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300" b="1">
                <a:solidFill>
                  <a:srgbClr val="111111"/>
                </a:solidFill>
                <a:latin typeface="Arial"/>
                <a:ea typeface="Arial"/>
                <a:cs typeface="Arial"/>
                <a:sym typeface="Arial"/>
              </a:defRPr>
            </a:lvl1pPr>
          </a:lstStyle>
          <a:p>
            <a:r>
              <a:t>Les questions qu'on se pose</a:t>
            </a:r>
          </a:p>
        </p:txBody>
      </p:sp>
      <p:sp>
        <p:nvSpPr>
          <p:cNvPr id="125" name="Shape 25"/>
          <p:cNvSpPr/>
          <p:nvPr/>
        </p:nvSpPr>
        <p:spPr>
          <a:xfrm>
            <a:off x="6255868" y="4555744"/>
            <a:ext cx="5368900" cy="1563873"/>
          </a:xfrm>
          <a:prstGeom prst="rect">
            <a:avLst/>
          </a:prstGeom>
          <a:solidFill>
            <a:srgbClr val="FFFFFF"/>
          </a:solidFill>
          <a:ln w="19050">
            <a:solidFill>
              <a:srgbClr val="000000"/>
            </a:solidFill>
          </a:ln>
        </p:spPr>
        <p:txBody>
          <a:bodyPr lIns="45718" tIns="45718" rIns="45718" bIns="45718"/>
          <a:lstStyle/>
          <a:p>
            <a:pPr>
              <a:defRPr>
                <a:latin typeface="+mn-lt"/>
                <a:ea typeface="+mn-ea"/>
                <a:cs typeface="+mn-cs"/>
                <a:sym typeface="Calibri"/>
              </a:defRPr>
            </a:pPr>
            <a:endParaRPr/>
          </a:p>
        </p:txBody>
      </p:sp>
      <p:sp>
        <p:nvSpPr>
          <p:cNvPr id="126" name="Text 26"/>
          <p:cNvSpPr txBox="1"/>
          <p:nvPr/>
        </p:nvSpPr>
        <p:spPr>
          <a:xfrm>
            <a:off x="6438748" y="4719225"/>
            <a:ext cx="5003142" cy="1851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300" b="1">
                <a:solidFill>
                  <a:srgbClr val="111111"/>
                </a:solidFill>
                <a:latin typeface="Arial"/>
                <a:ea typeface="Arial"/>
                <a:cs typeface="Arial"/>
                <a:sym typeface="Arial"/>
              </a:defRPr>
            </a:lvl1pPr>
          </a:lstStyle>
          <a:p>
            <a:r>
              <a:t>Nos idées pour le prochain proto</a:t>
            </a:r>
          </a:p>
        </p:txBody>
      </p:sp>
      <p:pic>
        <p:nvPicPr>
          <p:cNvPr id="127" name="Image 0" descr="Image 0"/>
          <p:cNvPicPr>
            <a:picLocks noChangeAspect="1"/>
          </p:cNvPicPr>
          <p:nvPr/>
        </p:nvPicPr>
        <p:blipFill>
          <a:blip r:embed="rId2"/>
          <a:stretch>
            <a:fillRect/>
          </a:stretch>
        </p:blipFill>
        <p:spPr>
          <a:xfrm>
            <a:off x="566927" y="6382510"/>
            <a:ext cx="868682" cy="223116"/>
          </a:xfrm>
          <a:prstGeom prst="rect">
            <a:avLst/>
          </a:prstGeom>
          <a:ln w="12700">
            <a:miter lim="400000"/>
          </a:ln>
        </p:spPr>
      </p:pic>
      <p:sp>
        <p:nvSpPr>
          <p:cNvPr id="128" name="Text 29"/>
          <p:cNvSpPr txBox="1"/>
          <p:nvPr/>
        </p:nvSpPr>
        <p:spPr>
          <a:xfrm>
            <a:off x="8515807" y="6428738"/>
            <a:ext cx="310896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r">
              <a:defRPr sz="900" b="1" spc="200">
                <a:solidFill>
                  <a:srgbClr val="9A9A9A"/>
                </a:solidFill>
                <a:latin typeface="Arial"/>
                <a:ea typeface="Arial"/>
                <a:cs typeface="Arial"/>
                <a:sym typeface="Arial"/>
              </a:defRPr>
            </a:lvl1pPr>
          </a:lstStyle>
          <a:p>
            <a:r>
              <a:t>IDDIC 2026  ·  BREAKING AI</a:t>
            </a:r>
          </a:p>
        </p:txBody>
      </p:sp>
      <p:sp>
        <p:nvSpPr>
          <p:cNvPr id="129" name="Shape 8"/>
          <p:cNvSpPr/>
          <p:nvPr/>
        </p:nvSpPr>
        <p:spPr>
          <a:xfrm>
            <a:off x="3143898" y="3835813"/>
            <a:ext cx="365762" cy="365762"/>
          </a:xfrm>
          <a:prstGeom prst="rect">
            <a:avLst/>
          </a:prstGeom>
          <a:ln w="25400">
            <a:solidFill>
              <a:srgbClr val="000000"/>
            </a:solidFill>
          </a:ln>
        </p:spPr>
        <p:txBody>
          <a:bodyPr lIns="45718" tIns="45718" rIns="45718" bIns="45718"/>
          <a:lstStyle/>
          <a:p>
            <a:pPr>
              <a:defRPr>
                <a:latin typeface="+mn-lt"/>
                <a:ea typeface="+mn-ea"/>
                <a:cs typeface="+mn-cs"/>
                <a:sym typeface="Calibri"/>
              </a:defRPr>
            </a:pPr>
            <a:endParaRPr/>
          </a:p>
        </p:txBody>
      </p:sp>
      <p:sp>
        <p:nvSpPr>
          <p:cNvPr id="130" name="Text 9"/>
          <p:cNvSpPr txBox="1"/>
          <p:nvPr/>
        </p:nvSpPr>
        <p:spPr>
          <a:xfrm>
            <a:off x="3143898" y="3897869"/>
            <a:ext cx="365762" cy="24164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defRPr b="1">
                <a:latin typeface="+mn-lt"/>
                <a:ea typeface="+mn-ea"/>
                <a:cs typeface="+mn-cs"/>
                <a:sym typeface="Calibri"/>
              </a:defRPr>
            </a:lvl1pPr>
          </a:lstStyle>
          <a:p>
            <a:r>
              <a:t>H1</a:t>
            </a:r>
          </a:p>
        </p:txBody>
      </p:sp>
      <p:sp>
        <p:nvSpPr>
          <p:cNvPr id="131" name="Shape 8"/>
          <p:cNvSpPr/>
          <p:nvPr/>
        </p:nvSpPr>
        <p:spPr>
          <a:xfrm>
            <a:off x="3784134" y="3835813"/>
            <a:ext cx="365762" cy="365762"/>
          </a:xfrm>
          <a:prstGeom prst="rect">
            <a:avLst/>
          </a:prstGeom>
          <a:ln w="25400">
            <a:solidFill>
              <a:srgbClr val="000000"/>
            </a:solidFill>
          </a:ln>
        </p:spPr>
        <p:txBody>
          <a:bodyPr lIns="45718" tIns="45718" rIns="45718" bIns="45718"/>
          <a:lstStyle/>
          <a:p>
            <a:pPr>
              <a:defRPr>
                <a:latin typeface="+mn-lt"/>
                <a:ea typeface="+mn-ea"/>
                <a:cs typeface="+mn-cs"/>
                <a:sym typeface="Calibri"/>
              </a:defRPr>
            </a:pPr>
            <a:endParaRPr/>
          </a:p>
        </p:txBody>
      </p:sp>
      <p:sp>
        <p:nvSpPr>
          <p:cNvPr id="132" name="Text 9"/>
          <p:cNvSpPr txBox="1"/>
          <p:nvPr/>
        </p:nvSpPr>
        <p:spPr>
          <a:xfrm>
            <a:off x="3784134" y="3897869"/>
            <a:ext cx="365762" cy="24164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defRPr b="1">
                <a:latin typeface="+mn-lt"/>
                <a:ea typeface="+mn-ea"/>
                <a:cs typeface="+mn-cs"/>
                <a:sym typeface="Calibri"/>
              </a:defRPr>
            </a:lvl1pPr>
          </a:lstStyle>
          <a:p>
            <a:r>
              <a:t>H2</a:t>
            </a:r>
          </a:p>
        </p:txBody>
      </p:sp>
      <p:sp>
        <p:nvSpPr>
          <p:cNvPr id="133" name="Shape 8"/>
          <p:cNvSpPr/>
          <p:nvPr/>
        </p:nvSpPr>
        <p:spPr>
          <a:xfrm>
            <a:off x="4437069" y="3835813"/>
            <a:ext cx="365762" cy="365762"/>
          </a:xfrm>
          <a:prstGeom prst="rect">
            <a:avLst/>
          </a:prstGeom>
          <a:ln w="25400">
            <a:solidFill>
              <a:srgbClr val="000000"/>
            </a:solidFill>
          </a:ln>
        </p:spPr>
        <p:txBody>
          <a:bodyPr lIns="45718" tIns="45718" rIns="45718" bIns="45718"/>
          <a:lstStyle/>
          <a:p>
            <a:pPr>
              <a:defRPr>
                <a:latin typeface="+mn-lt"/>
                <a:ea typeface="+mn-ea"/>
                <a:cs typeface="+mn-cs"/>
                <a:sym typeface="Calibri"/>
              </a:defRPr>
            </a:pPr>
            <a:endParaRPr/>
          </a:p>
        </p:txBody>
      </p:sp>
      <p:sp>
        <p:nvSpPr>
          <p:cNvPr id="134" name="Text 9"/>
          <p:cNvSpPr txBox="1"/>
          <p:nvPr/>
        </p:nvSpPr>
        <p:spPr>
          <a:xfrm>
            <a:off x="4437069" y="3897869"/>
            <a:ext cx="365762" cy="24164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defRPr b="1">
                <a:latin typeface="+mn-lt"/>
                <a:ea typeface="+mn-ea"/>
                <a:cs typeface="+mn-cs"/>
                <a:sym typeface="Calibri"/>
              </a:defRPr>
            </a:lvl1pPr>
          </a:lstStyle>
          <a:p>
            <a:r>
              <a:t>H3</a:t>
            </a:r>
          </a:p>
        </p:txBody>
      </p:sp>
      <p:sp>
        <p:nvSpPr>
          <p:cNvPr id="135" name="Shape 8"/>
          <p:cNvSpPr/>
          <p:nvPr/>
        </p:nvSpPr>
        <p:spPr>
          <a:xfrm>
            <a:off x="5077305" y="3835813"/>
            <a:ext cx="365762" cy="365762"/>
          </a:xfrm>
          <a:prstGeom prst="rect">
            <a:avLst/>
          </a:prstGeom>
          <a:ln w="25400">
            <a:solidFill>
              <a:srgbClr val="000000"/>
            </a:solidFill>
          </a:ln>
        </p:spPr>
        <p:txBody>
          <a:bodyPr lIns="45718" tIns="45718" rIns="45718" bIns="45718"/>
          <a:lstStyle/>
          <a:p>
            <a:pPr>
              <a:defRPr>
                <a:latin typeface="+mn-lt"/>
                <a:ea typeface="+mn-ea"/>
                <a:cs typeface="+mn-cs"/>
                <a:sym typeface="Calibri"/>
              </a:defRPr>
            </a:pPr>
            <a:endParaRPr/>
          </a:p>
        </p:txBody>
      </p:sp>
      <p:sp>
        <p:nvSpPr>
          <p:cNvPr id="136" name="Text 9"/>
          <p:cNvSpPr txBox="1"/>
          <p:nvPr/>
        </p:nvSpPr>
        <p:spPr>
          <a:xfrm>
            <a:off x="5077305" y="3897869"/>
            <a:ext cx="365762" cy="24164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defRPr b="1">
                <a:latin typeface="+mn-lt"/>
                <a:ea typeface="+mn-ea"/>
                <a:cs typeface="+mn-cs"/>
                <a:sym typeface="Calibri"/>
              </a:defRPr>
            </a:lvl1pPr>
          </a:lstStyle>
          <a:p>
            <a:r>
              <a:t>H4</a:t>
            </a:r>
          </a:p>
        </p:txBody>
      </p:sp>
      <p:sp>
        <p:nvSpPr>
          <p:cNvPr id="137" name="Shape 13"/>
          <p:cNvSpPr/>
          <p:nvPr/>
        </p:nvSpPr>
        <p:spPr>
          <a:xfrm>
            <a:off x="6255868" y="3710432"/>
            <a:ext cx="5368900" cy="616526"/>
          </a:xfrm>
          <a:prstGeom prst="rect">
            <a:avLst/>
          </a:prstGeom>
          <a:solidFill>
            <a:srgbClr val="FFFFFF"/>
          </a:solidFill>
          <a:ln w="19050">
            <a:solidFill>
              <a:srgbClr val="000000"/>
            </a:solidFill>
          </a:ln>
        </p:spPr>
        <p:txBody>
          <a:bodyPr lIns="45718" tIns="45718" rIns="45718" bIns="45718"/>
          <a:lstStyle/>
          <a:p>
            <a:pPr>
              <a:defRPr>
                <a:latin typeface="+mn-lt"/>
                <a:ea typeface="+mn-ea"/>
                <a:cs typeface="+mn-cs"/>
                <a:sym typeface="Calibri"/>
              </a:defRPr>
            </a:pPr>
            <a:endParaRPr/>
          </a:p>
        </p:txBody>
      </p:sp>
      <p:sp>
        <p:nvSpPr>
          <p:cNvPr id="138" name="Text 14"/>
          <p:cNvSpPr txBox="1"/>
          <p:nvPr/>
        </p:nvSpPr>
        <p:spPr>
          <a:xfrm>
            <a:off x="6438748" y="3924713"/>
            <a:ext cx="2106917" cy="1851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300" b="1">
                <a:solidFill>
                  <a:srgbClr val="111111"/>
                </a:solidFill>
                <a:latin typeface="Arial"/>
                <a:ea typeface="Arial"/>
                <a:cs typeface="Arial"/>
                <a:sym typeface="Arial"/>
              </a:defRPr>
            </a:lvl1pPr>
          </a:lstStyle>
          <a:p>
            <a:r>
              <a:t>Hypothèses NON validées</a:t>
            </a:r>
          </a:p>
        </p:txBody>
      </p:sp>
      <p:sp>
        <p:nvSpPr>
          <p:cNvPr id="139" name="Shape 8"/>
          <p:cNvSpPr/>
          <p:nvPr/>
        </p:nvSpPr>
        <p:spPr>
          <a:xfrm>
            <a:off x="8832839" y="3835813"/>
            <a:ext cx="365762" cy="365762"/>
          </a:xfrm>
          <a:prstGeom prst="rect">
            <a:avLst/>
          </a:prstGeom>
          <a:ln w="25400">
            <a:solidFill>
              <a:srgbClr val="000000"/>
            </a:solidFill>
          </a:ln>
        </p:spPr>
        <p:txBody>
          <a:bodyPr lIns="45718" tIns="45718" rIns="45718" bIns="45718"/>
          <a:lstStyle/>
          <a:p>
            <a:pPr>
              <a:defRPr>
                <a:latin typeface="+mn-lt"/>
                <a:ea typeface="+mn-ea"/>
                <a:cs typeface="+mn-cs"/>
                <a:sym typeface="Calibri"/>
              </a:defRPr>
            </a:pPr>
            <a:endParaRPr/>
          </a:p>
        </p:txBody>
      </p:sp>
      <p:sp>
        <p:nvSpPr>
          <p:cNvPr id="140" name="Text 9"/>
          <p:cNvSpPr txBox="1"/>
          <p:nvPr/>
        </p:nvSpPr>
        <p:spPr>
          <a:xfrm>
            <a:off x="8832839" y="3897869"/>
            <a:ext cx="365762" cy="24164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defRPr b="1">
                <a:latin typeface="+mn-lt"/>
                <a:ea typeface="+mn-ea"/>
                <a:cs typeface="+mn-cs"/>
                <a:sym typeface="Calibri"/>
              </a:defRPr>
            </a:lvl1pPr>
          </a:lstStyle>
          <a:p>
            <a:r>
              <a:t>H1</a:t>
            </a:r>
          </a:p>
        </p:txBody>
      </p:sp>
      <p:sp>
        <p:nvSpPr>
          <p:cNvPr id="141" name="Shape 8"/>
          <p:cNvSpPr/>
          <p:nvPr/>
        </p:nvSpPr>
        <p:spPr>
          <a:xfrm>
            <a:off x="9473075" y="3835813"/>
            <a:ext cx="365762" cy="365762"/>
          </a:xfrm>
          <a:prstGeom prst="rect">
            <a:avLst/>
          </a:prstGeom>
          <a:ln w="25400">
            <a:solidFill>
              <a:srgbClr val="000000"/>
            </a:solidFill>
          </a:ln>
        </p:spPr>
        <p:txBody>
          <a:bodyPr lIns="45718" tIns="45718" rIns="45718" bIns="45718"/>
          <a:lstStyle/>
          <a:p>
            <a:pPr>
              <a:defRPr>
                <a:latin typeface="+mn-lt"/>
                <a:ea typeface="+mn-ea"/>
                <a:cs typeface="+mn-cs"/>
                <a:sym typeface="Calibri"/>
              </a:defRPr>
            </a:pPr>
            <a:endParaRPr/>
          </a:p>
        </p:txBody>
      </p:sp>
      <p:sp>
        <p:nvSpPr>
          <p:cNvPr id="142" name="Text 9"/>
          <p:cNvSpPr txBox="1"/>
          <p:nvPr/>
        </p:nvSpPr>
        <p:spPr>
          <a:xfrm>
            <a:off x="9473075" y="3897869"/>
            <a:ext cx="365762" cy="24164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defRPr b="1">
                <a:latin typeface="+mn-lt"/>
                <a:ea typeface="+mn-ea"/>
                <a:cs typeface="+mn-cs"/>
                <a:sym typeface="Calibri"/>
              </a:defRPr>
            </a:lvl1pPr>
          </a:lstStyle>
          <a:p>
            <a:r>
              <a:t>H2</a:t>
            </a:r>
          </a:p>
        </p:txBody>
      </p:sp>
      <p:sp>
        <p:nvSpPr>
          <p:cNvPr id="143" name="Shape 8"/>
          <p:cNvSpPr/>
          <p:nvPr/>
        </p:nvSpPr>
        <p:spPr>
          <a:xfrm>
            <a:off x="10126009" y="3835813"/>
            <a:ext cx="365762" cy="365762"/>
          </a:xfrm>
          <a:prstGeom prst="rect">
            <a:avLst/>
          </a:prstGeom>
          <a:ln w="25400">
            <a:solidFill>
              <a:srgbClr val="000000"/>
            </a:solidFill>
          </a:ln>
        </p:spPr>
        <p:txBody>
          <a:bodyPr lIns="45718" tIns="45718" rIns="45718" bIns="45718"/>
          <a:lstStyle/>
          <a:p>
            <a:pPr>
              <a:defRPr>
                <a:latin typeface="+mn-lt"/>
                <a:ea typeface="+mn-ea"/>
                <a:cs typeface="+mn-cs"/>
                <a:sym typeface="Calibri"/>
              </a:defRPr>
            </a:pPr>
            <a:endParaRPr/>
          </a:p>
        </p:txBody>
      </p:sp>
      <p:sp>
        <p:nvSpPr>
          <p:cNvPr id="144" name="Text 9"/>
          <p:cNvSpPr txBox="1"/>
          <p:nvPr/>
        </p:nvSpPr>
        <p:spPr>
          <a:xfrm>
            <a:off x="10126009" y="3897869"/>
            <a:ext cx="365762" cy="24164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defRPr b="1">
                <a:latin typeface="+mn-lt"/>
                <a:ea typeface="+mn-ea"/>
                <a:cs typeface="+mn-cs"/>
                <a:sym typeface="Calibri"/>
              </a:defRPr>
            </a:lvl1pPr>
          </a:lstStyle>
          <a:p>
            <a:r>
              <a:t>H3</a:t>
            </a:r>
          </a:p>
        </p:txBody>
      </p:sp>
      <p:sp>
        <p:nvSpPr>
          <p:cNvPr id="145" name="Shape 8"/>
          <p:cNvSpPr/>
          <p:nvPr/>
        </p:nvSpPr>
        <p:spPr>
          <a:xfrm>
            <a:off x="10766245" y="3835813"/>
            <a:ext cx="365762" cy="365762"/>
          </a:xfrm>
          <a:prstGeom prst="rect">
            <a:avLst/>
          </a:prstGeom>
          <a:ln w="25400">
            <a:solidFill>
              <a:srgbClr val="000000"/>
            </a:solidFill>
          </a:ln>
        </p:spPr>
        <p:txBody>
          <a:bodyPr lIns="45718" tIns="45718" rIns="45718" bIns="45718"/>
          <a:lstStyle/>
          <a:p>
            <a:pPr>
              <a:defRPr>
                <a:latin typeface="+mn-lt"/>
                <a:ea typeface="+mn-ea"/>
                <a:cs typeface="+mn-cs"/>
                <a:sym typeface="Calibri"/>
              </a:defRPr>
            </a:pPr>
            <a:endParaRPr/>
          </a:p>
        </p:txBody>
      </p:sp>
      <p:sp>
        <p:nvSpPr>
          <p:cNvPr id="146" name="Text 9"/>
          <p:cNvSpPr txBox="1"/>
          <p:nvPr/>
        </p:nvSpPr>
        <p:spPr>
          <a:xfrm>
            <a:off x="10766245" y="3897869"/>
            <a:ext cx="365762" cy="24164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defRPr b="1">
                <a:latin typeface="+mn-lt"/>
                <a:ea typeface="+mn-ea"/>
                <a:cs typeface="+mn-cs"/>
                <a:sym typeface="Calibri"/>
              </a:defRPr>
            </a:lvl1pPr>
          </a:lstStyle>
          <a:p>
            <a:r>
              <a:t>H4</a:t>
            </a:r>
          </a:p>
        </p:txBody>
      </p:sp>
      <p:sp>
        <p:nvSpPr>
          <p:cNvPr id="147" name="Shape 0"/>
          <p:cNvSpPr/>
          <p:nvPr/>
        </p:nvSpPr>
        <p:spPr>
          <a:xfrm>
            <a:off x="566927" y="457200"/>
            <a:ext cx="1234442" cy="384048"/>
          </a:xfrm>
          <a:prstGeom prst="roundRect">
            <a:avLst>
              <a:gd name="adj" fmla="val 50000"/>
            </a:avLst>
          </a:prstGeom>
          <a:solidFill>
            <a:srgbClr val="2E6BFF"/>
          </a:solidFill>
          <a:ln w="12700">
            <a:miter lim="400000"/>
          </a:ln>
        </p:spPr>
        <p:txBody>
          <a:bodyPr lIns="45718" tIns="45718" rIns="45718" bIns="45718"/>
          <a:lstStyle/>
          <a:p>
            <a:pPr>
              <a:defRPr>
                <a:latin typeface="+mn-lt"/>
                <a:ea typeface="+mn-ea"/>
                <a:cs typeface="+mn-cs"/>
                <a:sym typeface="Calibri"/>
              </a:defRPr>
            </a:pPr>
            <a:endParaRPr/>
          </a:p>
        </p:txBody>
      </p:sp>
      <p:sp>
        <p:nvSpPr>
          <p:cNvPr id="148" name="Text 1"/>
          <p:cNvSpPr txBox="1"/>
          <p:nvPr/>
        </p:nvSpPr>
        <p:spPr>
          <a:xfrm>
            <a:off x="566927" y="556674"/>
            <a:ext cx="1234443" cy="1850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defRPr sz="1300" b="1" spc="200">
                <a:solidFill>
                  <a:srgbClr val="FFFFFF"/>
                </a:solidFill>
                <a:latin typeface="Arial"/>
                <a:ea typeface="Arial"/>
                <a:cs typeface="Arial"/>
                <a:sym typeface="Arial"/>
              </a:defRPr>
            </a:lvl1pPr>
          </a:lstStyle>
          <a:p>
            <a:r>
              <a:t>JOUR 3</a:t>
            </a:r>
          </a:p>
        </p:txBody>
      </p:sp>
      <p:sp>
        <p:nvSpPr>
          <p:cNvPr id="2" name="ZoneTexte 1">
            <a:extLst>
              <a:ext uri="{FF2B5EF4-FFF2-40B4-BE49-F238E27FC236}">
                <a16:creationId xmlns:a16="http://schemas.microsoft.com/office/drawing/2014/main" id="{502DA351-4020-2B63-FA60-2D7E272D84A4}"/>
              </a:ext>
            </a:extLst>
          </p:cNvPr>
          <p:cNvSpPr txBox="1"/>
          <p:nvPr/>
        </p:nvSpPr>
        <p:spPr>
          <a:xfrm>
            <a:off x="749808" y="2193997"/>
            <a:ext cx="5186020" cy="83099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r>
              <a:rPr lang="fr-FR" sz="1600" dirty="0"/>
              <a:t>La certification rassure immédiatement sur le professionnalisme et l'absence d'images volées ou "cheap«  dégagé par l’IA.</a:t>
            </a:r>
            <a:endParaRPr kumimoji="0" lang="fr-FR" sz="1600" b="0" i="0" u="none" strike="noStrike" cap="none" spc="0" normalizeH="0" baseline="0" dirty="0">
              <a:ln>
                <a:noFill/>
              </a:ln>
              <a:solidFill>
                <a:srgbClr val="000000"/>
              </a:solidFill>
              <a:effectLst/>
              <a:uFillTx/>
              <a:latin typeface="+mj-lt"/>
              <a:ea typeface="+mj-ea"/>
              <a:cs typeface="+mj-cs"/>
              <a:sym typeface="Helvetica"/>
            </a:endParaRPr>
          </a:p>
        </p:txBody>
      </p:sp>
    </p:spTree>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Text 2"/>
          <p:cNvSpPr txBox="1"/>
          <p:nvPr/>
        </p:nvSpPr>
        <p:spPr>
          <a:xfrm>
            <a:off x="1865376" y="553672"/>
            <a:ext cx="7315201" cy="17281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200" b="1" spc="300">
                <a:solidFill>
                  <a:srgbClr val="111111"/>
                </a:solidFill>
                <a:latin typeface="Arial"/>
                <a:ea typeface="Arial"/>
                <a:cs typeface="Arial"/>
                <a:sym typeface="Arial"/>
              </a:defRPr>
            </a:lvl1pPr>
          </a:lstStyle>
          <a:p>
            <a:r>
              <a:t>TEMPLATE 4 / 5</a:t>
            </a:r>
          </a:p>
        </p:txBody>
      </p:sp>
      <p:sp>
        <p:nvSpPr>
          <p:cNvPr id="151" name="Text 3"/>
          <p:cNvSpPr txBox="1"/>
          <p:nvPr/>
        </p:nvSpPr>
        <p:spPr>
          <a:xfrm>
            <a:off x="566926" y="1005838"/>
            <a:ext cx="11057842" cy="41933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defRPr sz="3000" b="1">
                <a:solidFill>
                  <a:srgbClr val="111111"/>
                </a:solidFill>
                <a:latin typeface="Arial"/>
                <a:ea typeface="Arial"/>
                <a:cs typeface="Arial"/>
                <a:sym typeface="Arial"/>
              </a:defRPr>
            </a:lvl1pPr>
          </a:lstStyle>
          <a:p>
            <a:r>
              <a:t>Proposition de valeur : avant → après</a:t>
            </a:r>
          </a:p>
        </p:txBody>
      </p:sp>
      <p:sp>
        <p:nvSpPr>
          <p:cNvPr id="152" name="Text 4"/>
          <p:cNvSpPr txBox="1"/>
          <p:nvPr/>
        </p:nvSpPr>
        <p:spPr>
          <a:xfrm>
            <a:off x="566927" y="1755648"/>
            <a:ext cx="10874962" cy="18655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defRPr sz="1500" i="1">
                <a:solidFill>
                  <a:srgbClr val="6E6E6E"/>
                </a:solidFill>
                <a:latin typeface="+mn-lt"/>
                <a:ea typeface="+mn-ea"/>
                <a:cs typeface="+mn-cs"/>
                <a:sym typeface="Calibri"/>
              </a:defRPr>
            </a:lvl1pPr>
          </a:lstStyle>
          <a:p>
            <a:r>
              <a:t>Les tests ont peut-être bougé votre proposition de valeur.</a:t>
            </a:r>
          </a:p>
        </p:txBody>
      </p:sp>
      <p:sp>
        <p:nvSpPr>
          <p:cNvPr id="153" name="Shape 5"/>
          <p:cNvSpPr/>
          <p:nvPr/>
        </p:nvSpPr>
        <p:spPr>
          <a:xfrm>
            <a:off x="566927" y="2148839"/>
            <a:ext cx="3350669" cy="1766081"/>
          </a:xfrm>
          <a:prstGeom prst="rect">
            <a:avLst/>
          </a:prstGeom>
          <a:solidFill>
            <a:srgbClr val="FFFFFF"/>
          </a:solidFill>
          <a:ln w="19050">
            <a:solidFill>
              <a:srgbClr val="000000"/>
            </a:solidFill>
          </a:ln>
        </p:spPr>
        <p:txBody>
          <a:bodyPr lIns="45718" tIns="45718" rIns="45718" bIns="45718"/>
          <a:lstStyle/>
          <a:p>
            <a:pPr>
              <a:defRPr>
                <a:latin typeface="+mn-lt"/>
                <a:ea typeface="+mn-ea"/>
                <a:cs typeface="+mn-cs"/>
                <a:sym typeface="Calibri"/>
              </a:defRPr>
            </a:pPr>
            <a:endParaRPr/>
          </a:p>
        </p:txBody>
      </p:sp>
      <p:sp>
        <p:nvSpPr>
          <p:cNvPr id="154" name="Text 6"/>
          <p:cNvSpPr txBox="1"/>
          <p:nvPr/>
        </p:nvSpPr>
        <p:spPr>
          <a:xfrm>
            <a:off x="749808" y="2263900"/>
            <a:ext cx="2984907" cy="30023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100" b="1" spc="120">
                <a:solidFill>
                  <a:srgbClr val="111111"/>
                </a:solidFill>
                <a:latin typeface="Arial"/>
                <a:ea typeface="Arial"/>
                <a:cs typeface="Arial"/>
                <a:sym typeface="Arial"/>
              </a:defRPr>
            </a:lvl1pPr>
          </a:lstStyle>
          <a:p>
            <a:r>
              <a:t>NOTRE PROPOSITION DE VALEUR (FIN J2)</a:t>
            </a:r>
          </a:p>
        </p:txBody>
      </p:sp>
      <p:sp>
        <p:nvSpPr>
          <p:cNvPr id="155" name="Text 7"/>
          <p:cNvSpPr txBox="1"/>
          <p:nvPr/>
        </p:nvSpPr>
        <p:spPr>
          <a:xfrm>
            <a:off x="3972457" y="2920051"/>
            <a:ext cx="384050" cy="38289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defRPr sz="2600" b="1">
                <a:solidFill>
                  <a:srgbClr val="2E6BFF"/>
                </a:solidFill>
                <a:latin typeface="Arial"/>
                <a:ea typeface="Arial"/>
                <a:cs typeface="Arial"/>
                <a:sym typeface="Arial"/>
              </a:defRPr>
            </a:lvl1pPr>
          </a:lstStyle>
          <a:p>
            <a:r>
              <a:t>→</a:t>
            </a:r>
          </a:p>
        </p:txBody>
      </p:sp>
      <p:sp>
        <p:nvSpPr>
          <p:cNvPr id="156" name="Shape 8"/>
          <p:cNvSpPr/>
          <p:nvPr/>
        </p:nvSpPr>
        <p:spPr>
          <a:xfrm>
            <a:off x="4420513" y="2148839"/>
            <a:ext cx="3350668" cy="1766081"/>
          </a:xfrm>
          <a:prstGeom prst="rect">
            <a:avLst/>
          </a:prstGeom>
          <a:solidFill>
            <a:srgbClr val="FFFFFF"/>
          </a:solidFill>
          <a:ln w="19050">
            <a:solidFill>
              <a:srgbClr val="000000"/>
            </a:solidFill>
          </a:ln>
        </p:spPr>
        <p:txBody>
          <a:bodyPr lIns="45718" tIns="45718" rIns="45718" bIns="45718"/>
          <a:lstStyle/>
          <a:p>
            <a:pPr>
              <a:defRPr>
                <a:latin typeface="+mn-lt"/>
                <a:ea typeface="+mn-ea"/>
                <a:cs typeface="+mn-cs"/>
                <a:sym typeface="Calibri"/>
              </a:defRPr>
            </a:pPr>
            <a:endParaRPr/>
          </a:p>
        </p:txBody>
      </p:sp>
      <p:sp>
        <p:nvSpPr>
          <p:cNvPr id="157" name="Text 9"/>
          <p:cNvSpPr txBox="1"/>
          <p:nvPr/>
        </p:nvSpPr>
        <p:spPr>
          <a:xfrm>
            <a:off x="4603393" y="2340100"/>
            <a:ext cx="2984908" cy="14783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100" b="1" spc="120">
                <a:solidFill>
                  <a:srgbClr val="111111"/>
                </a:solidFill>
                <a:latin typeface="Arial"/>
                <a:ea typeface="Arial"/>
                <a:cs typeface="Arial"/>
                <a:sym typeface="Arial"/>
              </a:defRPr>
            </a:lvl1pPr>
          </a:lstStyle>
          <a:p>
            <a:r>
              <a:t>CE QUE LES TESTS ONT CHANGÉ</a:t>
            </a:r>
          </a:p>
        </p:txBody>
      </p:sp>
      <p:sp>
        <p:nvSpPr>
          <p:cNvPr id="158" name="Text 10"/>
          <p:cNvSpPr txBox="1"/>
          <p:nvPr/>
        </p:nvSpPr>
        <p:spPr>
          <a:xfrm>
            <a:off x="7826044" y="2920051"/>
            <a:ext cx="384050" cy="38289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defRPr sz="2600" b="1">
                <a:solidFill>
                  <a:srgbClr val="2E6BFF"/>
                </a:solidFill>
                <a:latin typeface="Arial"/>
                <a:ea typeface="Arial"/>
                <a:cs typeface="Arial"/>
                <a:sym typeface="Arial"/>
              </a:defRPr>
            </a:lvl1pPr>
          </a:lstStyle>
          <a:p>
            <a:r>
              <a:t>→</a:t>
            </a:r>
          </a:p>
        </p:txBody>
      </p:sp>
      <p:sp>
        <p:nvSpPr>
          <p:cNvPr id="159" name="Shape 11"/>
          <p:cNvSpPr/>
          <p:nvPr/>
        </p:nvSpPr>
        <p:spPr>
          <a:xfrm>
            <a:off x="8274101" y="2148839"/>
            <a:ext cx="3350668" cy="1766081"/>
          </a:xfrm>
          <a:prstGeom prst="rect">
            <a:avLst/>
          </a:prstGeom>
          <a:solidFill>
            <a:srgbClr val="FFFFFF"/>
          </a:solidFill>
          <a:ln w="19050">
            <a:solidFill>
              <a:srgbClr val="000000"/>
            </a:solidFill>
          </a:ln>
        </p:spPr>
        <p:txBody>
          <a:bodyPr lIns="45718" tIns="45718" rIns="45718" bIns="45718"/>
          <a:lstStyle/>
          <a:p>
            <a:pPr>
              <a:defRPr>
                <a:latin typeface="+mn-lt"/>
                <a:ea typeface="+mn-ea"/>
                <a:cs typeface="+mn-cs"/>
                <a:sym typeface="Calibri"/>
              </a:defRPr>
            </a:pPr>
            <a:endParaRPr/>
          </a:p>
        </p:txBody>
      </p:sp>
      <p:sp>
        <p:nvSpPr>
          <p:cNvPr id="160" name="Text 12"/>
          <p:cNvSpPr txBox="1"/>
          <p:nvPr/>
        </p:nvSpPr>
        <p:spPr>
          <a:xfrm>
            <a:off x="8456979" y="2263900"/>
            <a:ext cx="2984908" cy="30023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100" b="1" spc="120">
                <a:solidFill>
                  <a:srgbClr val="111111"/>
                </a:solidFill>
                <a:latin typeface="Arial"/>
                <a:ea typeface="Arial"/>
                <a:cs typeface="Arial"/>
                <a:sym typeface="Arial"/>
              </a:defRPr>
            </a:lvl1pPr>
          </a:lstStyle>
          <a:p>
            <a:r>
              <a:t>NOTRE PROPOSITION DE VALEUR CONSOLIDÉE</a:t>
            </a:r>
          </a:p>
        </p:txBody>
      </p:sp>
      <p:sp>
        <p:nvSpPr>
          <p:cNvPr id="161" name="Shape 13"/>
          <p:cNvSpPr/>
          <p:nvPr/>
        </p:nvSpPr>
        <p:spPr>
          <a:xfrm>
            <a:off x="566926" y="4185370"/>
            <a:ext cx="11057842" cy="1759732"/>
          </a:xfrm>
          <a:prstGeom prst="rect">
            <a:avLst/>
          </a:prstGeom>
          <a:solidFill>
            <a:srgbClr val="FFFFFF"/>
          </a:solidFill>
          <a:ln w="25400">
            <a:solidFill>
              <a:srgbClr val="000000"/>
            </a:solidFill>
          </a:ln>
        </p:spPr>
        <p:txBody>
          <a:bodyPr lIns="45718" tIns="45718" rIns="45718" bIns="45718"/>
          <a:lstStyle/>
          <a:p>
            <a:pPr>
              <a:defRPr>
                <a:latin typeface="+mn-lt"/>
                <a:ea typeface="+mn-ea"/>
                <a:cs typeface="+mn-cs"/>
                <a:sym typeface="Calibri"/>
              </a:defRPr>
            </a:pPr>
            <a:endParaRPr/>
          </a:p>
        </p:txBody>
      </p:sp>
      <p:sp>
        <p:nvSpPr>
          <p:cNvPr id="162" name="Text 14"/>
          <p:cNvSpPr txBox="1"/>
          <p:nvPr/>
        </p:nvSpPr>
        <p:spPr>
          <a:xfrm>
            <a:off x="768095" y="4363672"/>
            <a:ext cx="10655505" cy="17281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200" b="1" spc="50">
                <a:solidFill>
                  <a:srgbClr val="111111"/>
                </a:solidFill>
                <a:latin typeface="Arial"/>
                <a:ea typeface="Arial"/>
                <a:cs typeface="Arial"/>
                <a:sym typeface="Arial"/>
              </a:defRPr>
            </a:lvl1pPr>
          </a:lstStyle>
          <a:p>
            <a:r>
              <a:t>QUI VA PAYER ?  ET POURQUOI ACCEPTERAIT-IL DE PAYER ?</a:t>
            </a:r>
          </a:p>
        </p:txBody>
      </p:sp>
      <p:sp>
        <p:nvSpPr>
          <p:cNvPr id="163" name="Text 15"/>
          <p:cNvSpPr txBox="1"/>
          <p:nvPr/>
        </p:nvSpPr>
        <p:spPr>
          <a:xfrm>
            <a:off x="768095" y="4719118"/>
            <a:ext cx="10655505" cy="15686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200" i="1">
                <a:solidFill>
                  <a:srgbClr val="6E6E6E"/>
                </a:solidFill>
                <a:latin typeface="+mn-lt"/>
                <a:ea typeface="+mn-ea"/>
                <a:cs typeface="+mn-cs"/>
                <a:sym typeface="Calibri"/>
              </a:defRPr>
            </a:lvl1pPr>
          </a:lstStyle>
          <a:p>
            <a:r>
              <a:t>Ce n'est pas toujours l'utilisateur. Parfois c'est l'école, l'entreprise, une marque… La réponse prépare votre Business Model Canvas de l'intersession.</a:t>
            </a:r>
          </a:p>
        </p:txBody>
      </p:sp>
      <p:pic>
        <p:nvPicPr>
          <p:cNvPr id="164" name="Image 0" descr="Image 0"/>
          <p:cNvPicPr>
            <a:picLocks noChangeAspect="1"/>
          </p:cNvPicPr>
          <p:nvPr/>
        </p:nvPicPr>
        <p:blipFill>
          <a:blip r:embed="rId2"/>
          <a:stretch>
            <a:fillRect/>
          </a:stretch>
        </p:blipFill>
        <p:spPr>
          <a:xfrm>
            <a:off x="566927" y="6382510"/>
            <a:ext cx="868682" cy="223116"/>
          </a:xfrm>
          <a:prstGeom prst="rect">
            <a:avLst/>
          </a:prstGeom>
          <a:ln w="12700">
            <a:miter lim="400000"/>
          </a:ln>
        </p:spPr>
      </p:pic>
      <p:sp>
        <p:nvSpPr>
          <p:cNvPr id="165" name="Text 17"/>
          <p:cNvSpPr txBox="1"/>
          <p:nvPr/>
        </p:nvSpPr>
        <p:spPr>
          <a:xfrm>
            <a:off x="8515807" y="6428738"/>
            <a:ext cx="310896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r">
              <a:defRPr sz="900" b="1" spc="200">
                <a:solidFill>
                  <a:srgbClr val="9A9A9A"/>
                </a:solidFill>
                <a:latin typeface="Arial"/>
                <a:ea typeface="Arial"/>
                <a:cs typeface="Arial"/>
                <a:sym typeface="Arial"/>
              </a:defRPr>
            </a:lvl1pPr>
          </a:lstStyle>
          <a:p>
            <a:r>
              <a:t>IDDIC 2026  ·  BREAKING AI</a:t>
            </a:r>
          </a:p>
        </p:txBody>
      </p:sp>
      <p:sp>
        <p:nvSpPr>
          <p:cNvPr id="166" name="Shape 0"/>
          <p:cNvSpPr/>
          <p:nvPr/>
        </p:nvSpPr>
        <p:spPr>
          <a:xfrm>
            <a:off x="566927" y="457200"/>
            <a:ext cx="1234442" cy="384048"/>
          </a:xfrm>
          <a:prstGeom prst="roundRect">
            <a:avLst>
              <a:gd name="adj" fmla="val 50000"/>
            </a:avLst>
          </a:prstGeom>
          <a:solidFill>
            <a:srgbClr val="2E6BFF"/>
          </a:solidFill>
          <a:ln w="12700">
            <a:miter lim="400000"/>
          </a:ln>
        </p:spPr>
        <p:txBody>
          <a:bodyPr lIns="45718" tIns="45718" rIns="45718" bIns="45718"/>
          <a:lstStyle/>
          <a:p>
            <a:pPr>
              <a:defRPr>
                <a:latin typeface="+mn-lt"/>
                <a:ea typeface="+mn-ea"/>
                <a:cs typeface="+mn-cs"/>
                <a:sym typeface="Calibri"/>
              </a:defRPr>
            </a:pPr>
            <a:endParaRPr/>
          </a:p>
        </p:txBody>
      </p:sp>
      <p:sp>
        <p:nvSpPr>
          <p:cNvPr id="167" name="Text 1"/>
          <p:cNvSpPr txBox="1"/>
          <p:nvPr/>
        </p:nvSpPr>
        <p:spPr>
          <a:xfrm>
            <a:off x="566927" y="556674"/>
            <a:ext cx="1234443" cy="1850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defRPr sz="1300" b="1" spc="200">
                <a:solidFill>
                  <a:srgbClr val="FFFFFF"/>
                </a:solidFill>
                <a:latin typeface="Arial"/>
                <a:ea typeface="Arial"/>
                <a:cs typeface="Arial"/>
                <a:sym typeface="Arial"/>
              </a:defRPr>
            </a:lvl1pPr>
          </a:lstStyle>
          <a:p>
            <a:r>
              <a:t>JOUR 3</a:t>
            </a:r>
          </a:p>
        </p:txBody>
      </p:sp>
    </p:spTree>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 name="Text 2"/>
          <p:cNvSpPr txBox="1"/>
          <p:nvPr/>
        </p:nvSpPr>
        <p:spPr>
          <a:xfrm>
            <a:off x="566926" y="1043059"/>
            <a:ext cx="3659115" cy="41933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3000" b="1">
                <a:solidFill>
                  <a:srgbClr val="111111"/>
                </a:solidFill>
                <a:latin typeface="Arial"/>
                <a:ea typeface="Arial"/>
                <a:cs typeface="Arial"/>
                <a:sym typeface="Arial"/>
              </a:defRPr>
            </a:lvl1pPr>
          </a:lstStyle>
          <a:p>
            <a:r>
              <a:t>Le Journal IA</a:t>
            </a:r>
          </a:p>
        </p:txBody>
      </p:sp>
      <p:pic>
        <p:nvPicPr>
          <p:cNvPr id="170" name="Image 1" descr="Image 1"/>
          <p:cNvPicPr>
            <a:picLocks noChangeAspect="1"/>
          </p:cNvPicPr>
          <p:nvPr/>
        </p:nvPicPr>
        <p:blipFill>
          <a:blip r:embed="rId2"/>
          <a:stretch>
            <a:fillRect/>
          </a:stretch>
        </p:blipFill>
        <p:spPr>
          <a:xfrm>
            <a:off x="566927" y="6382510"/>
            <a:ext cx="868682" cy="223116"/>
          </a:xfrm>
          <a:prstGeom prst="rect">
            <a:avLst/>
          </a:prstGeom>
          <a:ln w="12700">
            <a:miter lim="400000"/>
          </a:ln>
        </p:spPr>
      </p:pic>
      <p:sp>
        <p:nvSpPr>
          <p:cNvPr id="171" name="Text 28"/>
          <p:cNvSpPr txBox="1"/>
          <p:nvPr/>
        </p:nvSpPr>
        <p:spPr>
          <a:xfrm>
            <a:off x="8515807" y="6428738"/>
            <a:ext cx="3108962" cy="127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r">
              <a:defRPr sz="900" b="1" spc="200">
                <a:solidFill>
                  <a:srgbClr val="9A9A9A"/>
                </a:solidFill>
                <a:latin typeface="Arial"/>
                <a:ea typeface="Arial"/>
                <a:cs typeface="Arial"/>
                <a:sym typeface="Arial"/>
              </a:defRPr>
            </a:lvl1pPr>
          </a:lstStyle>
          <a:p>
            <a:r>
              <a:t>IDDIC 2026  ·  BREAKING AI</a:t>
            </a:r>
          </a:p>
        </p:txBody>
      </p:sp>
      <p:sp>
        <p:nvSpPr>
          <p:cNvPr id="172" name="Shape 0"/>
          <p:cNvSpPr/>
          <p:nvPr/>
        </p:nvSpPr>
        <p:spPr>
          <a:xfrm>
            <a:off x="566927" y="457200"/>
            <a:ext cx="1234442" cy="384048"/>
          </a:xfrm>
          <a:prstGeom prst="roundRect">
            <a:avLst>
              <a:gd name="adj" fmla="val 50000"/>
            </a:avLst>
          </a:prstGeom>
          <a:solidFill>
            <a:srgbClr val="2E6BFF"/>
          </a:solidFill>
          <a:ln w="12700">
            <a:miter lim="400000"/>
          </a:ln>
        </p:spPr>
        <p:txBody>
          <a:bodyPr lIns="45718" tIns="45718" rIns="45718" bIns="45718"/>
          <a:lstStyle/>
          <a:p>
            <a:pPr>
              <a:defRPr>
                <a:latin typeface="+mn-lt"/>
                <a:ea typeface="+mn-ea"/>
                <a:cs typeface="+mn-cs"/>
                <a:sym typeface="Calibri"/>
              </a:defRPr>
            </a:pPr>
            <a:endParaRPr/>
          </a:p>
        </p:txBody>
      </p:sp>
      <p:sp>
        <p:nvSpPr>
          <p:cNvPr id="173" name="Text 1"/>
          <p:cNvSpPr txBox="1"/>
          <p:nvPr/>
        </p:nvSpPr>
        <p:spPr>
          <a:xfrm>
            <a:off x="566927" y="556674"/>
            <a:ext cx="1234443" cy="1850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defRPr sz="1300" b="1" spc="200">
                <a:solidFill>
                  <a:srgbClr val="FFFFFF"/>
                </a:solidFill>
                <a:latin typeface="Arial"/>
                <a:ea typeface="Arial"/>
                <a:cs typeface="Arial"/>
                <a:sym typeface="Arial"/>
              </a:defRPr>
            </a:lvl1pPr>
          </a:lstStyle>
          <a:p>
            <a:r>
              <a:t>JOUR 3</a:t>
            </a:r>
          </a:p>
        </p:txBody>
      </p:sp>
      <p:sp>
        <p:nvSpPr>
          <p:cNvPr id="174" name="Text 3"/>
          <p:cNvSpPr txBox="1"/>
          <p:nvPr/>
        </p:nvSpPr>
        <p:spPr>
          <a:xfrm>
            <a:off x="538771" y="1664206"/>
            <a:ext cx="5384130" cy="64656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defRPr sz="1400" i="1">
                <a:solidFill>
                  <a:srgbClr val="6E6E6E"/>
                </a:solidFill>
                <a:latin typeface="+mn-lt"/>
                <a:ea typeface="+mn-ea"/>
                <a:cs typeface="+mn-cs"/>
                <a:sym typeface="Calibri"/>
              </a:defRPr>
            </a:lvl1pPr>
          </a:lstStyle>
          <a:p>
            <a:r>
              <a:t>Il ne s’agit pas d’évaluer votre utilisation de l’IA, mais d’observer comment l’IA influence concrètement votre travail et de vous aider à prendre du recul sur l’usage.</a:t>
            </a:r>
          </a:p>
        </p:txBody>
      </p:sp>
      <p:pic>
        <p:nvPicPr>
          <p:cNvPr id="175" name="vidéo-collée.png" descr="vidéo-collée.png"/>
          <p:cNvPicPr>
            <a:picLocks noChangeAspect="1"/>
          </p:cNvPicPr>
          <p:nvPr/>
        </p:nvPicPr>
        <p:blipFill>
          <a:blip r:embed="rId3"/>
          <a:stretch>
            <a:fillRect/>
          </a:stretch>
        </p:blipFill>
        <p:spPr>
          <a:xfrm>
            <a:off x="6928843" y="1416049"/>
            <a:ext cx="4089401" cy="4025901"/>
          </a:xfrm>
          <a:prstGeom prst="rect">
            <a:avLst/>
          </a:prstGeom>
          <a:ln w="12700">
            <a:miter lim="400000"/>
          </a:ln>
        </p:spPr>
      </p:pic>
    </p:spTree>
  </p:cSld>
  <p:clrMapOvr>
    <a:masterClrMapping/>
  </p:clrMapOvr>
  <p:transition spd="med"/>
</p:sld>
</file>

<file path=ppt/theme/theme1.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45718" tIns="45718" rIns="45718" bIns="45718"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8" tIns="45718" rIns="45718" bIns="45718"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45718" tIns="45718" rIns="45718" bIns="45718"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8" tIns="45718" rIns="45718" bIns="45718"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otalTime>41</TotalTime>
  <Words>1003</Words>
  <Application>Microsoft Office PowerPoint</Application>
  <PresentationFormat>Personnalisé</PresentationFormat>
  <Paragraphs>109</Paragraphs>
  <Slides>8</Slides>
  <Notes>0</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8</vt:i4>
      </vt:variant>
    </vt:vector>
  </HeadingPairs>
  <TitlesOfParts>
    <vt:vector size="13" baseType="lpstr">
      <vt:lpstr>Arial</vt:lpstr>
      <vt:lpstr>Calibri</vt:lpstr>
      <vt:lpstr>Calibri Light</vt:lpstr>
      <vt:lpstr>Helvetica</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Levana</dc:creator>
  <cp:lastModifiedBy>Levana BENISTI</cp:lastModifiedBy>
  <cp:revision>2</cp:revision>
  <dcterms:modified xsi:type="dcterms:W3CDTF">2026-09-24T09:30:06Z</dcterms:modified>
</cp:coreProperties>
</file>