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3" r:id="rId6"/>
    <p:sldId id="260" r:id="rId7"/>
    <p:sldId id="261" r:id="rId8"/>
    <p:sldId id="262" r:id="rId9"/>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4660"/>
  </p:normalViewPr>
  <p:slideViewPr>
    <p:cSldViewPr snapToGrid="0">
      <p:cViewPr varScale="1">
        <p:scale>
          <a:sx n="59" d="100"/>
          <a:sy n="59" d="100"/>
        </p:scale>
        <p:origin x="100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e du titre"/>
          <p:cNvSpPr txBox="1">
            <a:spLocks noGrp="1"/>
          </p:cNvSpPr>
          <p:nvPr>
            <p:ph type="title"/>
          </p:nvPr>
        </p:nvSpPr>
        <p:spPr>
          <a:xfrm>
            <a:off x="1824780" y="769937"/>
            <a:ext cx="9743441" cy="16684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lstStyle/>
          <a:p>
            <a:r>
              <a:t>Texte du titre</a:t>
            </a:r>
          </a:p>
        </p:txBody>
      </p:sp>
      <p:sp>
        <p:nvSpPr>
          <p:cNvPr id="3" name="Texte niveau 1…"/>
          <p:cNvSpPr txBox="1">
            <a:spLocks noGrp="1"/>
          </p:cNvSpPr>
          <p:nvPr>
            <p:ph type="body" idx="1"/>
          </p:nvPr>
        </p:nvSpPr>
        <p:spPr>
          <a:xfrm>
            <a:off x="6797994" y="2438400"/>
            <a:ext cx="4770227" cy="4419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lstStyle/>
          <a:p>
            <a:r>
              <a:t>Texte niveau 1</a:t>
            </a:r>
          </a:p>
          <a:p>
            <a:pPr lvl="1"/>
            <a:r>
              <a:t>Texte niveau 2</a:t>
            </a:r>
          </a:p>
          <a:p>
            <a:pPr lvl="2"/>
            <a:r>
              <a:t>Texte niveau 3</a:t>
            </a:r>
          </a:p>
          <a:p>
            <a:pPr lvl="3"/>
            <a:r>
              <a:t>Texte niveau 4</a:t>
            </a:r>
          </a:p>
          <a:p>
            <a:pPr lvl="4"/>
            <a:r>
              <a:t>Texte niveau 5</a:t>
            </a:r>
          </a:p>
        </p:txBody>
      </p:sp>
      <p:sp>
        <p:nvSpPr>
          <p:cNvPr id="4" name="Numéro de diapositive"/>
          <p:cNvSpPr txBox="1">
            <a:spLocks noGrp="1"/>
          </p:cNvSpPr>
          <p:nvPr>
            <p:ph type="sldNum" sz="quarter" idx="2"/>
          </p:nvPr>
        </p:nvSpPr>
        <p:spPr>
          <a:xfrm>
            <a:off x="8469877" y="6232199"/>
            <a:ext cx="258622" cy="248303"/>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Calibri"/>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0"/>
          <p:cNvSpPr txBox="1"/>
          <p:nvPr/>
        </p:nvSpPr>
        <p:spPr>
          <a:xfrm>
            <a:off x="566927" y="1135748"/>
            <a:ext cx="10058401" cy="19738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b="1" spc="400">
                <a:solidFill>
                  <a:srgbClr val="2E6BFF"/>
                </a:solidFill>
                <a:latin typeface="Arial"/>
                <a:ea typeface="Arial"/>
                <a:cs typeface="Arial"/>
                <a:sym typeface="Arial"/>
              </a:defRPr>
            </a:lvl1pPr>
          </a:lstStyle>
          <a:p>
            <a:r>
              <a:t>IDDIC 2026   ·   IA &amp; INNOVATION</a:t>
            </a:r>
          </a:p>
        </p:txBody>
      </p:sp>
      <p:sp>
        <p:nvSpPr>
          <p:cNvPr id="21" name="Text 1"/>
          <p:cNvSpPr txBox="1"/>
          <p:nvPr/>
        </p:nvSpPr>
        <p:spPr>
          <a:xfrm>
            <a:off x="566927" y="2281490"/>
            <a:ext cx="10058401" cy="12952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9200" b="1">
                <a:solidFill>
                  <a:srgbClr val="111111"/>
                </a:solidFill>
                <a:latin typeface="Arial"/>
                <a:ea typeface="Arial"/>
                <a:cs typeface="Arial"/>
                <a:sym typeface="Arial"/>
              </a:defRPr>
            </a:lvl1pPr>
          </a:lstStyle>
          <a:p>
            <a:r>
              <a:t>JOUR 3</a:t>
            </a:r>
          </a:p>
        </p:txBody>
      </p:sp>
      <p:sp>
        <p:nvSpPr>
          <p:cNvPr id="22" name="Text 2"/>
          <p:cNvSpPr txBox="1"/>
          <p:nvPr/>
        </p:nvSpPr>
        <p:spPr>
          <a:xfrm>
            <a:off x="566926" y="3971564"/>
            <a:ext cx="11057842" cy="5303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3800" b="1">
                <a:solidFill>
                  <a:srgbClr val="2E6BFF"/>
                </a:solidFill>
                <a:latin typeface="Arial"/>
                <a:ea typeface="Arial"/>
                <a:cs typeface="Arial"/>
                <a:sym typeface="Arial"/>
              </a:defRPr>
            </a:pPr>
            <a:r>
              <a:t>Tester </a:t>
            </a:r>
            <a:r>
              <a:rPr>
                <a:solidFill>
                  <a:srgbClr val="111111"/>
                </a:solidFill>
              </a:rPr>
              <a:t>avant de construire.</a:t>
            </a:r>
          </a:p>
        </p:txBody>
      </p:sp>
      <p:sp>
        <p:nvSpPr>
          <p:cNvPr id="23" name="Shape 4"/>
          <p:cNvSpPr/>
          <p:nvPr/>
        </p:nvSpPr>
        <p:spPr>
          <a:xfrm>
            <a:off x="566928" y="5303520"/>
            <a:ext cx="6126480" cy="457202"/>
          </a:xfrm>
          <a:prstGeom prst="rect">
            <a:avLst/>
          </a:prstGeom>
          <a:solidFill>
            <a:srgbClr val="FFFFFF"/>
          </a:solidFill>
          <a:ln w="22225">
            <a:solidFill>
              <a:srgbClr val="000000"/>
            </a:solidFill>
          </a:ln>
        </p:spPr>
        <p:txBody>
          <a:bodyPr lIns="45718" tIns="45718" rIns="45718" bIns="45718"/>
          <a:lstStyle/>
          <a:p>
            <a:pPr>
              <a:defRPr>
                <a:latin typeface="+mn-lt"/>
                <a:ea typeface="+mn-ea"/>
                <a:cs typeface="+mn-cs"/>
                <a:sym typeface="Calibri"/>
              </a:defRPr>
            </a:pPr>
            <a:endParaRPr/>
          </a:p>
        </p:txBody>
      </p:sp>
      <p:sp>
        <p:nvSpPr>
          <p:cNvPr id="24" name="Text 5"/>
          <p:cNvSpPr txBox="1"/>
          <p:nvPr/>
        </p:nvSpPr>
        <p:spPr>
          <a:xfrm>
            <a:off x="566928" y="5464347"/>
            <a:ext cx="6126480" cy="1355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000" b="1" spc="50">
                <a:solidFill>
                  <a:srgbClr val="111111"/>
                </a:solidFill>
                <a:latin typeface="Arial"/>
                <a:ea typeface="Arial"/>
                <a:cs typeface="Arial"/>
                <a:sym typeface="Arial"/>
              </a:defRPr>
            </a:lvl1pPr>
          </a:lstStyle>
          <a:p>
            <a:r>
              <a:t>LIVRABLE DU JOUR — M3 · HYPOTHÈSES TESTÉES &amp; VALEUR CONSOLIDÉE</a:t>
            </a:r>
          </a:p>
        </p:txBody>
      </p:sp>
      <p:pic>
        <p:nvPicPr>
          <p:cNvPr id="25"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26" name="Text 6"/>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29"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3</a:t>
            </a:r>
          </a:p>
        </p:txBody>
      </p:sp>
      <p:sp>
        <p:nvSpPr>
          <p:cNvPr id="30" name="Text 2"/>
          <p:cNvSpPr txBox="1"/>
          <p:nvPr/>
        </p:nvSpPr>
        <p:spPr>
          <a:xfrm>
            <a:off x="1984248" y="562815"/>
            <a:ext cx="7315201" cy="1728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6E6E6E"/>
                </a:solidFill>
                <a:latin typeface="Arial"/>
                <a:ea typeface="Arial"/>
                <a:cs typeface="Arial"/>
                <a:sym typeface="Arial"/>
              </a:defRPr>
            </a:lvl1pPr>
          </a:lstStyle>
          <a:p>
            <a:r>
              <a:t>LE FIL DU JOUR</a:t>
            </a:r>
          </a:p>
        </p:txBody>
      </p:sp>
      <p:sp>
        <p:nvSpPr>
          <p:cNvPr id="31" name="Text 3"/>
          <p:cNvSpPr txBox="1"/>
          <p:nvPr/>
        </p:nvSpPr>
        <p:spPr>
          <a:xfrm>
            <a:off x="566926" y="1024127"/>
            <a:ext cx="11057842" cy="4566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200" b="1">
                <a:solidFill>
                  <a:srgbClr val="111111"/>
                </a:solidFill>
                <a:latin typeface="Arial"/>
                <a:ea typeface="Arial"/>
                <a:cs typeface="Arial"/>
                <a:sym typeface="Arial"/>
              </a:defRPr>
            </a:lvl1pPr>
          </a:lstStyle>
          <a:p>
            <a:r>
              <a:t>Ce que vous produisez aujourd'hui</a:t>
            </a:r>
          </a:p>
        </p:txBody>
      </p:sp>
      <p:sp>
        <p:nvSpPr>
          <p:cNvPr id="32" name="Shape 4"/>
          <p:cNvSpPr/>
          <p:nvPr/>
        </p:nvSpPr>
        <p:spPr>
          <a:xfrm>
            <a:off x="566927" y="1874520"/>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n-lt"/>
                <a:ea typeface="+mn-ea"/>
                <a:cs typeface="+mn-cs"/>
                <a:sym typeface="Calibri"/>
              </a:defRPr>
            </a:pPr>
            <a:endParaRPr/>
          </a:p>
        </p:txBody>
      </p:sp>
      <p:sp>
        <p:nvSpPr>
          <p:cNvPr id="33" name="Shape 5"/>
          <p:cNvSpPr/>
          <p:nvPr/>
        </p:nvSpPr>
        <p:spPr>
          <a:xfrm>
            <a:off x="713230" y="2020822"/>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34" name="Text 6"/>
          <p:cNvSpPr txBox="1"/>
          <p:nvPr/>
        </p:nvSpPr>
        <p:spPr>
          <a:xfrm>
            <a:off x="713230" y="2110528"/>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1</a:t>
            </a:r>
          </a:p>
        </p:txBody>
      </p:sp>
      <p:sp>
        <p:nvSpPr>
          <p:cNvPr id="35" name="Text 7"/>
          <p:cNvSpPr txBox="1"/>
          <p:nvPr/>
        </p:nvSpPr>
        <p:spPr>
          <a:xfrm>
            <a:off x="1353310" y="2048578"/>
            <a:ext cx="6492244" cy="209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Les hypothèses à tester</a:t>
            </a:r>
          </a:p>
        </p:txBody>
      </p:sp>
      <p:sp>
        <p:nvSpPr>
          <p:cNvPr id="36" name="Text 8"/>
          <p:cNvSpPr txBox="1"/>
          <p:nvPr/>
        </p:nvSpPr>
        <p:spPr>
          <a:xfrm>
            <a:off x="1353310" y="2344727"/>
            <a:ext cx="6492244"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n-lt"/>
                <a:ea typeface="+mn-ea"/>
                <a:cs typeface="+mn-cs"/>
                <a:sym typeface="Calibri"/>
              </a:defRPr>
            </a:lvl1pPr>
          </a:lstStyle>
          <a:p>
            <a:r>
              <a:t>Transformer vos intuitions en paris qu'on peut vérifier.</a:t>
            </a:r>
          </a:p>
        </p:txBody>
      </p:sp>
      <p:sp>
        <p:nvSpPr>
          <p:cNvPr id="37" name="Shape 9"/>
          <p:cNvSpPr/>
          <p:nvPr/>
        </p:nvSpPr>
        <p:spPr>
          <a:xfrm>
            <a:off x="566927" y="2734055"/>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n-lt"/>
                <a:ea typeface="+mn-ea"/>
                <a:cs typeface="+mn-cs"/>
                <a:sym typeface="Calibri"/>
              </a:defRPr>
            </a:pPr>
            <a:endParaRPr/>
          </a:p>
        </p:txBody>
      </p:sp>
      <p:sp>
        <p:nvSpPr>
          <p:cNvPr id="38" name="Shape 10"/>
          <p:cNvSpPr/>
          <p:nvPr/>
        </p:nvSpPr>
        <p:spPr>
          <a:xfrm>
            <a:off x="713230" y="2880360"/>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39" name="Text 11"/>
          <p:cNvSpPr txBox="1"/>
          <p:nvPr/>
        </p:nvSpPr>
        <p:spPr>
          <a:xfrm>
            <a:off x="713230" y="2970065"/>
            <a:ext cx="475490" cy="2960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2</a:t>
            </a:r>
          </a:p>
        </p:txBody>
      </p:sp>
      <p:sp>
        <p:nvSpPr>
          <p:cNvPr id="40" name="Text 12"/>
          <p:cNvSpPr txBox="1"/>
          <p:nvPr/>
        </p:nvSpPr>
        <p:spPr>
          <a:xfrm>
            <a:off x="1353310" y="2908113"/>
            <a:ext cx="6492244" cy="209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Le protocole de test</a:t>
            </a:r>
          </a:p>
        </p:txBody>
      </p:sp>
      <p:sp>
        <p:nvSpPr>
          <p:cNvPr id="41" name="Text 13"/>
          <p:cNvSpPr txBox="1"/>
          <p:nvPr/>
        </p:nvSpPr>
        <p:spPr>
          <a:xfrm>
            <a:off x="1353310" y="3204262"/>
            <a:ext cx="6492244"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n-lt"/>
                <a:ea typeface="+mn-ea"/>
                <a:cs typeface="+mn-cs"/>
                <a:sym typeface="Calibri"/>
              </a:defRPr>
            </a:lvl1pPr>
          </a:lstStyle>
          <a:p>
            <a:r>
              <a:t>Un scénario, une mission, des points à observer — sans influencer.</a:t>
            </a:r>
          </a:p>
        </p:txBody>
      </p:sp>
      <p:sp>
        <p:nvSpPr>
          <p:cNvPr id="42" name="Shape 14"/>
          <p:cNvSpPr/>
          <p:nvPr/>
        </p:nvSpPr>
        <p:spPr>
          <a:xfrm>
            <a:off x="566927" y="3593591"/>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n-lt"/>
                <a:ea typeface="+mn-ea"/>
                <a:cs typeface="+mn-cs"/>
                <a:sym typeface="Calibri"/>
              </a:defRPr>
            </a:pPr>
            <a:endParaRPr/>
          </a:p>
        </p:txBody>
      </p:sp>
      <p:sp>
        <p:nvSpPr>
          <p:cNvPr id="43" name="Shape 15"/>
          <p:cNvSpPr/>
          <p:nvPr/>
        </p:nvSpPr>
        <p:spPr>
          <a:xfrm>
            <a:off x="713230" y="3739896"/>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44" name="Text 16"/>
          <p:cNvSpPr txBox="1"/>
          <p:nvPr/>
        </p:nvSpPr>
        <p:spPr>
          <a:xfrm>
            <a:off x="713230" y="3829601"/>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3</a:t>
            </a:r>
          </a:p>
        </p:txBody>
      </p:sp>
      <p:sp>
        <p:nvSpPr>
          <p:cNvPr id="45" name="Text 17"/>
          <p:cNvSpPr txBox="1"/>
          <p:nvPr/>
        </p:nvSpPr>
        <p:spPr>
          <a:xfrm>
            <a:off x="1353310" y="3767649"/>
            <a:ext cx="6492244" cy="2096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Les wireframes</a:t>
            </a:r>
          </a:p>
        </p:txBody>
      </p:sp>
      <p:sp>
        <p:nvSpPr>
          <p:cNvPr id="46" name="Text 18"/>
          <p:cNvSpPr txBox="1"/>
          <p:nvPr/>
        </p:nvSpPr>
        <p:spPr>
          <a:xfrm>
            <a:off x="1353310" y="4063798"/>
            <a:ext cx="6492244"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n-lt"/>
                <a:ea typeface="+mn-ea"/>
                <a:cs typeface="+mn-cs"/>
                <a:sym typeface="Calibri"/>
              </a:defRPr>
            </a:lvl1pPr>
          </a:lstStyle>
          <a:p>
            <a:r>
              <a:t>Vos écrans à dessiner dans le carnet Wireframes (fichier séparé).</a:t>
            </a:r>
          </a:p>
        </p:txBody>
      </p:sp>
      <p:sp>
        <p:nvSpPr>
          <p:cNvPr id="47" name="Shape 19"/>
          <p:cNvSpPr/>
          <p:nvPr/>
        </p:nvSpPr>
        <p:spPr>
          <a:xfrm>
            <a:off x="566927" y="4453128"/>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n-lt"/>
                <a:ea typeface="+mn-ea"/>
                <a:cs typeface="+mn-cs"/>
                <a:sym typeface="Calibri"/>
              </a:defRPr>
            </a:pPr>
            <a:endParaRPr/>
          </a:p>
        </p:txBody>
      </p:sp>
      <p:sp>
        <p:nvSpPr>
          <p:cNvPr id="48" name="Shape 20"/>
          <p:cNvSpPr/>
          <p:nvPr/>
        </p:nvSpPr>
        <p:spPr>
          <a:xfrm>
            <a:off x="713230" y="4599432"/>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49" name="Text 21"/>
          <p:cNvSpPr txBox="1"/>
          <p:nvPr/>
        </p:nvSpPr>
        <p:spPr>
          <a:xfrm>
            <a:off x="713230" y="4689137"/>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4</a:t>
            </a:r>
          </a:p>
        </p:txBody>
      </p:sp>
      <p:sp>
        <p:nvSpPr>
          <p:cNvPr id="50" name="Text 22"/>
          <p:cNvSpPr txBox="1"/>
          <p:nvPr/>
        </p:nvSpPr>
        <p:spPr>
          <a:xfrm>
            <a:off x="1353310" y="4627186"/>
            <a:ext cx="6492244" cy="209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La synthèse des tests</a:t>
            </a:r>
          </a:p>
        </p:txBody>
      </p:sp>
      <p:sp>
        <p:nvSpPr>
          <p:cNvPr id="51" name="Text 23"/>
          <p:cNvSpPr txBox="1"/>
          <p:nvPr/>
        </p:nvSpPr>
        <p:spPr>
          <a:xfrm>
            <a:off x="1353310" y="4923335"/>
            <a:ext cx="6492244"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n-lt"/>
                <a:ea typeface="+mn-ea"/>
                <a:cs typeface="+mn-cs"/>
                <a:sym typeface="Calibri"/>
              </a:defRPr>
            </a:lvl1pPr>
          </a:lstStyle>
          <a:p>
            <a:r>
              <a:t>Ce qui a marché, ce qui a coincé, ce qu'on garde.</a:t>
            </a:r>
          </a:p>
        </p:txBody>
      </p:sp>
      <p:sp>
        <p:nvSpPr>
          <p:cNvPr id="52" name="Shape 24"/>
          <p:cNvSpPr/>
          <p:nvPr/>
        </p:nvSpPr>
        <p:spPr>
          <a:xfrm>
            <a:off x="566927" y="5312664"/>
            <a:ext cx="7452361" cy="768098"/>
          </a:xfrm>
          <a:prstGeom prst="roundRect">
            <a:avLst>
              <a:gd name="adj" fmla="val 5952"/>
            </a:avLst>
          </a:prstGeom>
          <a:solidFill>
            <a:srgbClr val="F4F5F8"/>
          </a:solidFill>
          <a:ln w="12700">
            <a:solidFill>
              <a:srgbClr val="DCDFE7"/>
            </a:solidFill>
          </a:ln>
        </p:spPr>
        <p:txBody>
          <a:bodyPr lIns="45718" tIns="45718" rIns="45718" bIns="45718"/>
          <a:lstStyle/>
          <a:p>
            <a:pPr>
              <a:defRPr>
                <a:latin typeface="+mn-lt"/>
                <a:ea typeface="+mn-ea"/>
                <a:cs typeface="+mn-cs"/>
                <a:sym typeface="Calibri"/>
              </a:defRPr>
            </a:pPr>
            <a:endParaRPr/>
          </a:p>
        </p:txBody>
      </p:sp>
      <p:sp>
        <p:nvSpPr>
          <p:cNvPr id="53" name="Shape 25"/>
          <p:cNvSpPr/>
          <p:nvPr/>
        </p:nvSpPr>
        <p:spPr>
          <a:xfrm>
            <a:off x="713230" y="5458967"/>
            <a:ext cx="475490" cy="475490"/>
          </a:xfrm>
          <a:prstGeom prst="roundRect">
            <a:avLst>
              <a:gd name="adj" fmla="val 19231"/>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54" name="Text 26"/>
          <p:cNvSpPr txBox="1"/>
          <p:nvPr/>
        </p:nvSpPr>
        <p:spPr>
          <a:xfrm>
            <a:off x="713230" y="5548674"/>
            <a:ext cx="475490" cy="2960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100" b="1">
                <a:solidFill>
                  <a:srgbClr val="FFFFFF"/>
                </a:solidFill>
                <a:latin typeface="Arial"/>
                <a:ea typeface="Arial"/>
                <a:cs typeface="Arial"/>
                <a:sym typeface="Arial"/>
              </a:defRPr>
            </a:lvl1pPr>
          </a:lstStyle>
          <a:p>
            <a:r>
              <a:t>5</a:t>
            </a:r>
          </a:p>
        </p:txBody>
      </p:sp>
      <p:sp>
        <p:nvSpPr>
          <p:cNvPr id="55" name="Text 27"/>
          <p:cNvSpPr txBox="1"/>
          <p:nvPr/>
        </p:nvSpPr>
        <p:spPr>
          <a:xfrm>
            <a:off x="1353310" y="5486722"/>
            <a:ext cx="6492244" cy="2096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500" b="1">
                <a:solidFill>
                  <a:srgbClr val="111111"/>
                </a:solidFill>
                <a:latin typeface="Arial"/>
                <a:ea typeface="Arial"/>
                <a:cs typeface="Arial"/>
                <a:sym typeface="Arial"/>
              </a:defRPr>
            </a:lvl1pPr>
          </a:lstStyle>
          <a:p>
            <a:r>
              <a:t>Proposition de valeur + qui paie</a:t>
            </a:r>
          </a:p>
        </p:txBody>
      </p:sp>
      <p:sp>
        <p:nvSpPr>
          <p:cNvPr id="56" name="Text 28"/>
          <p:cNvSpPr txBox="1"/>
          <p:nvPr/>
        </p:nvSpPr>
        <p:spPr>
          <a:xfrm>
            <a:off x="1353310" y="5782871"/>
            <a:ext cx="6492244"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a:solidFill>
                  <a:srgbClr val="6E6E6E"/>
                </a:solidFill>
                <a:latin typeface="+mn-lt"/>
                <a:ea typeface="+mn-ea"/>
                <a:cs typeface="+mn-cs"/>
                <a:sym typeface="Calibri"/>
              </a:defRPr>
            </a:lvl1pPr>
          </a:lstStyle>
          <a:p>
            <a:r>
              <a:t>Faire évoluer la valeur, et poser la question du modèle économique.</a:t>
            </a:r>
          </a:p>
        </p:txBody>
      </p:sp>
      <p:sp>
        <p:nvSpPr>
          <p:cNvPr id="57" name="Shape 29"/>
          <p:cNvSpPr/>
          <p:nvPr/>
        </p:nvSpPr>
        <p:spPr>
          <a:xfrm>
            <a:off x="8385047" y="1874520"/>
            <a:ext cx="3239721" cy="4206242"/>
          </a:xfrm>
          <a:prstGeom prst="roundRect">
            <a:avLst>
              <a:gd name="adj" fmla="val 1693"/>
            </a:avLst>
          </a:prstGeom>
          <a:solidFill>
            <a:srgbClr val="10131C"/>
          </a:solidFill>
          <a:ln w="12700">
            <a:miter lim="400000"/>
          </a:ln>
        </p:spPr>
        <p:txBody>
          <a:bodyPr lIns="45718" tIns="45718" rIns="45718" bIns="45718"/>
          <a:lstStyle/>
          <a:p>
            <a:pPr>
              <a:defRPr>
                <a:latin typeface="+mn-lt"/>
                <a:ea typeface="+mn-ea"/>
                <a:cs typeface="+mn-cs"/>
                <a:sym typeface="Calibri"/>
              </a:defRPr>
            </a:pPr>
            <a:endParaRPr/>
          </a:p>
        </p:txBody>
      </p:sp>
      <p:pic>
        <p:nvPicPr>
          <p:cNvPr id="58" name="Image 0" descr="Image 0"/>
          <p:cNvPicPr>
            <a:picLocks noChangeAspect="1"/>
          </p:cNvPicPr>
          <p:nvPr/>
        </p:nvPicPr>
        <p:blipFill>
          <a:blip r:embed="rId2"/>
          <a:stretch>
            <a:fillRect/>
          </a:stretch>
        </p:blipFill>
        <p:spPr>
          <a:xfrm>
            <a:off x="8659368" y="2185416"/>
            <a:ext cx="566930" cy="566930"/>
          </a:xfrm>
          <a:prstGeom prst="rect">
            <a:avLst/>
          </a:prstGeom>
          <a:ln w="12700">
            <a:miter lim="400000"/>
          </a:ln>
        </p:spPr>
      </p:pic>
      <p:sp>
        <p:nvSpPr>
          <p:cNvPr id="59" name="Text 30"/>
          <p:cNvSpPr txBox="1"/>
          <p:nvPr/>
        </p:nvSpPr>
        <p:spPr>
          <a:xfrm>
            <a:off x="8659368" y="2961893"/>
            <a:ext cx="2736801" cy="14783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200">
                <a:solidFill>
                  <a:srgbClr val="2E6BFF"/>
                </a:solidFill>
                <a:latin typeface="Arial"/>
                <a:ea typeface="Arial"/>
                <a:cs typeface="Arial"/>
                <a:sym typeface="Arial"/>
              </a:defRPr>
            </a:lvl1pPr>
          </a:lstStyle>
          <a:p>
            <a:r>
              <a:t>+ EN FIN DE JOURNÉE</a:t>
            </a:r>
          </a:p>
        </p:txBody>
      </p:sp>
      <p:sp>
        <p:nvSpPr>
          <p:cNvPr id="60" name="Text 31"/>
          <p:cNvSpPr txBox="1"/>
          <p:nvPr/>
        </p:nvSpPr>
        <p:spPr>
          <a:xfrm>
            <a:off x="8659368" y="3216606"/>
            <a:ext cx="2736801" cy="3333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2300" b="1">
                <a:solidFill>
                  <a:srgbClr val="FFFFFF"/>
                </a:solidFill>
                <a:latin typeface="Arial"/>
                <a:ea typeface="Arial"/>
                <a:cs typeface="Arial"/>
                <a:sym typeface="Arial"/>
              </a:defRPr>
            </a:lvl1pPr>
          </a:lstStyle>
          <a:p>
            <a:r>
              <a:t>Le Journal IA</a:t>
            </a:r>
          </a:p>
        </p:txBody>
      </p:sp>
      <p:sp>
        <p:nvSpPr>
          <p:cNvPr id="61" name="Text 32"/>
          <p:cNvSpPr txBox="1"/>
          <p:nvPr/>
        </p:nvSpPr>
        <p:spPr>
          <a:xfrm>
            <a:off x="8659368" y="4362389"/>
            <a:ext cx="2691081" cy="8764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nSpc>
                <a:spcPct val="120000"/>
              </a:lnSpc>
              <a:defRPr sz="1300">
                <a:solidFill>
                  <a:srgbClr val="C7CCD8"/>
                </a:solidFill>
                <a:latin typeface="+mn-lt"/>
                <a:ea typeface="+mn-ea"/>
                <a:cs typeface="+mn-cs"/>
                <a:sym typeface="Calibri"/>
              </a:defRPr>
            </a:lvl1pPr>
          </a:lstStyle>
          <a:p>
            <a:r>
              <a:t>Le prototypage, c'est là que l'IA devient tentante. Notez où vous l'utilisez pour tester, générer, ou trancher et ce qui vous surprend.</a:t>
            </a:r>
          </a:p>
        </p:txBody>
      </p:sp>
      <p:pic>
        <p:nvPicPr>
          <p:cNvPr id="62" name="Image 1" descr="Image 1"/>
          <p:cNvPicPr>
            <a:picLocks noChangeAspect="1"/>
          </p:cNvPicPr>
          <p:nvPr/>
        </p:nvPicPr>
        <p:blipFill>
          <a:blip r:embed="rId3"/>
          <a:stretch>
            <a:fillRect/>
          </a:stretch>
        </p:blipFill>
        <p:spPr>
          <a:xfrm>
            <a:off x="566927" y="6382510"/>
            <a:ext cx="868682" cy="223116"/>
          </a:xfrm>
          <a:prstGeom prst="rect">
            <a:avLst/>
          </a:prstGeom>
          <a:ln w="12700">
            <a:miter lim="400000"/>
          </a:ln>
        </p:spPr>
      </p:pic>
      <p:sp>
        <p:nvSpPr>
          <p:cNvPr id="63" name="Text 33"/>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1 / 5</a:t>
            </a:r>
          </a:p>
        </p:txBody>
      </p:sp>
      <p:sp>
        <p:nvSpPr>
          <p:cNvPr id="66"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Les hypothèses à tester</a:t>
            </a:r>
          </a:p>
        </p:txBody>
      </p:sp>
      <p:sp>
        <p:nvSpPr>
          <p:cNvPr id="67" name="Text 4"/>
          <p:cNvSpPr txBox="1"/>
          <p:nvPr/>
        </p:nvSpPr>
        <p:spPr>
          <a:xfrm>
            <a:off x="566927" y="1755648"/>
            <a:ext cx="10874962" cy="18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solidFill>
                  <a:srgbClr val="6E6E6E"/>
                </a:solidFill>
                <a:latin typeface="+mn-lt"/>
                <a:ea typeface="+mn-ea"/>
                <a:cs typeface="+mn-cs"/>
                <a:sym typeface="Calibri"/>
              </a:defRPr>
            </a:lvl1pPr>
          </a:lstStyle>
          <a:p>
            <a:r>
              <a:t>Une bonne hypothèse est un pari précis. On peut avoir tort ou raison.</a:t>
            </a:r>
          </a:p>
        </p:txBody>
      </p:sp>
      <p:sp>
        <p:nvSpPr>
          <p:cNvPr id="68" name="Shape 5"/>
          <p:cNvSpPr/>
          <p:nvPr/>
        </p:nvSpPr>
        <p:spPr>
          <a:xfrm>
            <a:off x="566926" y="2103120"/>
            <a:ext cx="11057842" cy="658370"/>
          </a:xfrm>
          <a:prstGeom prst="rect">
            <a:avLst/>
          </a:prstGeom>
          <a:solidFill>
            <a:srgbClr val="FFFFFF"/>
          </a:solidFill>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69" name="Text 6"/>
          <p:cNvSpPr txBox="1"/>
          <p:nvPr/>
        </p:nvSpPr>
        <p:spPr>
          <a:xfrm>
            <a:off x="786382" y="2353871"/>
            <a:ext cx="10618931" cy="1568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lnSpc>
                <a:spcPct val="104999"/>
              </a:lnSpc>
              <a:defRPr sz="1200" b="1">
                <a:solidFill>
                  <a:srgbClr val="111111"/>
                </a:solidFill>
                <a:latin typeface="+mn-lt"/>
                <a:ea typeface="+mn-ea"/>
                <a:cs typeface="+mn-cs"/>
                <a:sym typeface="Calibri"/>
              </a:defRPr>
            </a:pPr>
            <a:r>
              <a:t>LA FORME D'UN PARI TESTABLE  —  </a:t>
            </a:r>
            <a:r>
              <a:rPr b="0"/>
              <a:t>« On parie que … . Si c'est vrai, on devrait voir … . On saura qu'on s'est trompés si … . »</a:t>
            </a:r>
          </a:p>
        </p:txBody>
      </p:sp>
      <p:sp>
        <p:nvSpPr>
          <p:cNvPr id="70" name="Shape 7"/>
          <p:cNvSpPr/>
          <p:nvPr/>
        </p:nvSpPr>
        <p:spPr>
          <a:xfrm>
            <a:off x="566928" y="2926078"/>
            <a:ext cx="5368900" cy="1466465"/>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71" name="Shape 8"/>
          <p:cNvSpPr/>
          <p:nvPr/>
        </p:nvSpPr>
        <p:spPr>
          <a:xfrm>
            <a:off x="713230" y="3072383"/>
            <a:ext cx="365763" cy="365762"/>
          </a:xfrm>
          <a:prstGeom prst="rect">
            <a:avLst/>
          </a:prstGeom>
          <a:solidFill>
            <a:srgbClr val="000000"/>
          </a:solidFill>
          <a:ln w="12700">
            <a:miter lim="400000"/>
          </a:ln>
        </p:spPr>
        <p:txBody>
          <a:bodyPr lIns="45718" tIns="45718" rIns="45718" bIns="45718"/>
          <a:lstStyle/>
          <a:p>
            <a:pPr>
              <a:defRPr>
                <a:latin typeface="+mn-lt"/>
                <a:ea typeface="+mn-ea"/>
                <a:cs typeface="+mn-cs"/>
                <a:sym typeface="Calibri"/>
              </a:defRPr>
            </a:pPr>
            <a:endParaRPr/>
          </a:p>
        </p:txBody>
      </p:sp>
      <p:sp>
        <p:nvSpPr>
          <p:cNvPr id="72" name="Text 9"/>
          <p:cNvSpPr txBox="1"/>
          <p:nvPr/>
        </p:nvSpPr>
        <p:spPr>
          <a:xfrm>
            <a:off x="713230" y="3144286"/>
            <a:ext cx="365763" cy="2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b="1">
                <a:solidFill>
                  <a:srgbClr val="FFFFFF"/>
                </a:solidFill>
                <a:latin typeface="Arial"/>
                <a:ea typeface="Arial"/>
                <a:cs typeface="Arial"/>
                <a:sym typeface="Arial"/>
              </a:defRPr>
            </a:lvl1pPr>
          </a:lstStyle>
          <a:p>
            <a:r>
              <a:t>H1</a:t>
            </a:r>
          </a:p>
        </p:txBody>
      </p:sp>
      <p:sp>
        <p:nvSpPr>
          <p:cNvPr id="73" name="Text 10"/>
          <p:cNvSpPr txBox="1"/>
          <p:nvPr/>
        </p:nvSpPr>
        <p:spPr>
          <a:xfrm>
            <a:off x="1170432" y="3135499"/>
            <a:ext cx="459166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9A9A9A"/>
                </a:solidFill>
                <a:latin typeface="+mn-lt"/>
                <a:ea typeface="+mn-ea"/>
                <a:cs typeface="+mn-cs"/>
                <a:sym typeface="Calibri"/>
              </a:defRPr>
            </a:lvl1pPr>
          </a:lstStyle>
          <a:p>
            <a:endParaRPr dirty="0"/>
          </a:p>
        </p:txBody>
      </p:sp>
      <p:sp>
        <p:nvSpPr>
          <p:cNvPr id="74" name="Shape 13"/>
          <p:cNvSpPr/>
          <p:nvPr/>
        </p:nvSpPr>
        <p:spPr>
          <a:xfrm>
            <a:off x="6255868" y="2926078"/>
            <a:ext cx="5368900" cy="1466465"/>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75" name="Shape 14"/>
          <p:cNvSpPr/>
          <p:nvPr/>
        </p:nvSpPr>
        <p:spPr>
          <a:xfrm>
            <a:off x="6402172" y="3072383"/>
            <a:ext cx="365762" cy="365762"/>
          </a:xfrm>
          <a:prstGeom prst="rect">
            <a:avLst/>
          </a:prstGeom>
          <a:solidFill>
            <a:srgbClr val="000000"/>
          </a:solidFill>
          <a:ln w="12700">
            <a:miter lim="400000"/>
          </a:ln>
        </p:spPr>
        <p:txBody>
          <a:bodyPr lIns="45718" tIns="45718" rIns="45718" bIns="45718"/>
          <a:lstStyle/>
          <a:p>
            <a:pPr>
              <a:defRPr>
                <a:latin typeface="+mn-lt"/>
                <a:ea typeface="+mn-ea"/>
                <a:cs typeface="+mn-cs"/>
                <a:sym typeface="Calibri"/>
              </a:defRPr>
            </a:pPr>
            <a:endParaRPr/>
          </a:p>
        </p:txBody>
      </p:sp>
      <p:sp>
        <p:nvSpPr>
          <p:cNvPr id="76" name="Text 15"/>
          <p:cNvSpPr txBox="1"/>
          <p:nvPr/>
        </p:nvSpPr>
        <p:spPr>
          <a:xfrm>
            <a:off x="6402172" y="3144286"/>
            <a:ext cx="365762" cy="2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b="1">
                <a:solidFill>
                  <a:srgbClr val="FFFFFF"/>
                </a:solidFill>
                <a:latin typeface="Arial"/>
                <a:ea typeface="Arial"/>
                <a:cs typeface="Arial"/>
                <a:sym typeface="Arial"/>
              </a:defRPr>
            </a:lvl1pPr>
          </a:lstStyle>
          <a:p>
            <a:r>
              <a:t>H2</a:t>
            </a:r>
          </a:p>
        </p:txBody>
      </p:sp>
      <p:sp>
        <p:nvSpPr>
          <p:cNvPr id="77" name="Text 16"/>
          <p:cNvSpPr txBox="1"/>
          <p:nvPr/>
        </p:nvSpPr>
        <p:spPr>
          <a:xfrm>
            <a:off x="6859372" y="3135499"/>
            <a:ext cx="459166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9A9A9A"/>
                </a:solidFill>
                <a:latin typeface="+mn-lt"/>
                <a:ea typeface="+mn-ea"/>
                <a:cs typeface="+mn-cs"/>
                <a:sym typeface="Calibri"/>
              </a:defRPr>
            </a:lvl1pPr>
          </a:lstStyle>
          <a:p>
            <a:endParaRPr dirty="0"/>
          </a:p>
        </p:txBody>
      </p:sp>
      <p:sp>
        <p:nvSpPr>
          <p:cNvPr id="78" name="Shape 19"/>
          <p:cNvSpPr/>
          <p:nvPr/>
        </p:nvSpPr>
        <p:spPr>
          <a:xfrm>
            <a:off x="566928" y="4724398"/>
            <a:ext cx="5368900" cy="1466465"/>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79" name="Shape 20"/>
          <p:cNvSpPr/>
          <p:nvPr/>
        </p:nvSpPr>
        <p:spPr>
          <a:xfrm>
            <a:off x="713230" y="4870703"/>
            <a:ext cx="365763" cy="365762"/>
          </a:xfrm>
          <a:prstGeom prst="rect">
            <a:avLst/>
          </a:prstGeom>
          <a:solidFill>
            <a:srgbClr val="000000"/>
          </a:solidFill>
          <a:ln w="12700">
            <a:miter lim="400000"/>
          </a:ln>
        </p:spPr>
        <p:txBody>
          <a:bodyPr lIns="45718" tIns="45718" rIns="45718" bIns="45718"/>
          <a:lstStyle/>
          <a:p>
            <a:pPr>
              <a:defRPr>
                <a:latin typeface="+mn-lt"/>
                <a:ea typeface="+mn-ea"/>
                <a:cs typeface="+mn-cs"/>
                <a:sym typeface="Calibri"/>
              </a:defRPr>
            </a:pPr>
            <a:endParaRPr/>
          </a:p>
        </p:txBody>
      </p:sp>
      <p:sp>
        <p:nvSpPr>
          <p:cNvPr id="80" name="Text 21"/>
          <p:cNvSpPr txBox="1"/>
          <p:nvPr/>
        </p:nvSpPr>
        <p:spPr>
          <a:xfrm>
            <a:off x="713230" y="4942606"/>
            <a:ext cx="365763" cy="2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b="1">
                <a:solidFill>
                  <a:srgbClr val="FFFFFF"/>
                </a:solidFill>
                <a:latin typeface="Arial"/>
                <a:ea typeface="Arial"/>
                <a:cs typeface="Arial"/>
                <a:sym typeface="Arial"/>
              </a:defRPr>
            </a:lvl1pPr>
          </a:lstStyle>
          <a:p>
            <a:r>
              <a:t>H3</a:t>
            </a:r>
          </a:p>
        </p:txBody>
      </p:sp>
      <p:sp>
        <p:nvSpPr>
          <p:cNvPr id="81" name="Text 22"/>
          <p:cNvSpPr txBox="1"/>
          <p:nvPr/>
        </p:nvSpPr>
        <p:spPr>
          <a:xfrm>
            <a:off x="1170432" y="4933818"/>
            <a:ext cx="459166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9A9A9A"/>
                </a:solidFill>
                <a:latin typeface="+mn-lt"/>
                <a:ea typeface="+mn-ea"/>
                <a:cs typeface="+mn-cs"/>
                <a:sym typeface="Calibri"/>
              </a:defRPr>
            </a:lvl1pPr>
          </a:lstStyle>
          <a:p>
            <a:endParaRPr dirty="0"/>
          </a:p>
        </p:txBody>
      </p:sp>
      <p:sp>
        <p:nvSpPr>
          <p:cNvPr id="82" name="Shape 25"/>
          <p:cNvSpPr/>
          <p:nvPr/>
        </p:nvSpPr>
        <p:spPr>
          <a:xfrm>
            <a:off x="6255868" y="4724398"/>
            <a:ext cx="5368900" cy="1466465"/>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dirty="0"/>
          </a:p>
        </p:txBody>
      </p:sp>
      <p:sp>
        <p:nvSpPr>
          <p:cNvPr id="83" name="Shape 26"/>
          <p:cNvSpPr/>
          <p:nvPr/>
        </p:nvSpPr>
        <p:spPr>
          <a:xfrm>
            <a:off x="6402172" y="4870703"/>
            <a:ext cx="365762" cy="365762"/>
          </a:xfrm>
          <a:prstGeom prst="rect">
            <a:avLst/>
          </a:prstGeom>
          <a:solidFill>
            <a:srgbClr val="000000"/>
          </a:solidFill>
          <a:ln w="12700">
            <a:miter lim="400000"/>
          </a:ln>
        </p:spPr>
        <p:txBody>
          <a:bodyPr lIns="45718" tIns="45718" rIns="45718" bIns="45718"/>
          <a:lstStyle/>
          <a:p>
            <a:pPr>
              <a:defRPr>
                <a:latin typeface="+mn-lt"/>
                <a:ea typeface="+mn-ea"/>
                <a:cs typeface="+mn-cs"/>
                <a:sym typeface="Calibri"/>
              </a:defRPr>
            </a:pPr>
            <a:endParaRPr/>
          </a:p>
        </p:txBody>
      </p:sp>
      <p:sp>
        <p:nvSpPr>
          <p:cNvPr id="84" name="Text 27"/>
          <p:cNvSpPr txBox="1"/>
          <p:nvPr/>
        </p:nvSpPr>
        <p:spPr>
          <a:xfrm>
            <a:off x="6402172" y="4942606"/>
            <a:ext cx="365762" cy="2219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600" b="1">
                <a:solidFill>
                  <a:srgbClr val="FFFFFF"/>
                </a:solidFill>
                <a:latin typeface="Arial"/>
                <a:ea typeface="Arial"/>
                <a:cs typeface="Arial"/>
                <a:sym typeface="Arial"/>
              </a:defRPr>
            </a:lvl1pPr>
          </a:lstStyle>
          <a:p>
            <a:r>
              <a:t>H4</a:t>
            </a:r>
          </a:p>
        </p:txBody>
      </p:sp>
      <p:sp>
        <p:nvSpPr>
          <p:cNvPr id="85" name="Text 28"/>
          <p:cNvSpPr txBox="1"/>
          <p:nvPr/>
        </p:nvSpPr>
        <p:spPr>
          <a:xfrm>
            <a:off x="6859372" y="4933818"/>
            <a:ext cx="4591661"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9A9A9A"/>
                </a:solidFill>
                <a:latin typeface="+mn-lt"/>
                <a:ea typeface="+mn-ea"/>
                <a:cs typeface="+mn-cs"/>
                <a:sym typeface="Calibri"/>
              </a:defRPr>
            </a:lvl1pPr>
          </a:lstStyle>
          <a:p>
            <a:endParaRPr dirty="0"/>
          </a:p>
        </p:txBody>
      </p:sp>
      <p:pic>
        <p:nvPicPr>
          <p:cNvPr id="86"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87" name="Text 31"/>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88"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89"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3</a:t>
            </a:r>
          </a:p>
        </p:txBody>
      </p:sp>
      <p:sp>
        <p:nvSpPr>
          <p:cNvPr id="2" name="ZoneTexte 1">
            <a:extLst>
              <a:ext uri="{FF2B5EF4-FFF2-40B4-BE49-F238E27FC236}">
                <a16:creationId xmlns:a16="http://schemas.microsoft.com/office/drawing/2014/main" id="{473A5B10-B5F0-D89C-DCBB-B0A2FC58489D}"/>
              </a:ext>
            </a:extLst>
          </p:cNvPr>
          <p:cNvSpPr txBox="1"/>
          <p:nvPr/>
        </p:nvSpPr>
        <p:spPr>
          <a:xfrm>
            <a:off x="1257299" y="2930298"/>
            <a:ext cx="4697389" cy="14773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fr-FR" dirty="0"/>
              <a:t>Les clients vont se diriger vers les artistes qui détiennent la certification sur leurs produits« PCE (processus créatif étique)» on saura qu’on sait trompé si ils préfèrent malgré tout se diriger vers ceux qui ne la détiennent pas. </a:t>
            </a:r>
            <a:endParaRPr kumimoji="0" lang="fr-FR" sz="1800" b="0" i="0" u="none" strike="noStrike" cap="none" spc="0" normalizeH="0" baseline="0" dirty="0">
              <a:ln>
                <a:noFill/>
              </a:ln>
              <a:solidFill>
                <a:srgbClr val="000000"/>
              </a:solidFill>
              <a:effectLst/>
              <a:uFillTx/>
              <a:latin typeface="+mj-lt"/>
              <a:ea typeface="+mj-ea"/>
              <a:cs typeface="+mj-cs"/>
              <a:sym typeface="Helvetica"/>
            </a:endParaRPr>
          </a:p>
        </p:txBody>
      </p:sp>
      <p:sp>
        <p:nvSpPr>
          <p:cNvPr id="4" name="ZoneTexte 3">
            <a:extLst>
              <a:ext uri="{FF2B5EF4-FFF2-40B4-BE49-F238E27FC236}">
                <a16:creationId xmlns:a16="http://schemas.microsoft.com/office/drawing/2014/main" id="{AE6C42B4-D9EE-FED9-7091-BFBCEE0B27F4}"/>
              </a:ext>
            </a:extLst>
          </p:cNvPr>
          <p:cNvSpPr txBox="1"/>
          <p:nvPr/>
        </p:nvSpPr>
        <p:spPr>
          <a:xfrm>
            <a:off x="6960529" y="2874482"/>
            <a:ext cx="4444784" cy="15696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fr-FR" sz="1600" dirty="0"/>
              <a:t>Les créatifs indépendants sont prêts à nous communiquer leur processus de création et la documentation nécessaire à la certification </a:t>
            </a:r>
          </a:p>
          <a:p>
            <a:r>
              <a:rPr lang="fr-FR" sz="1600" i="1" dirty="0"/>
              <a:t>On saura qu'on s'est trompés si</a:t>
            </a:r>
            <a:r>
              <a:rPr lang="fr-FR" sz="1600" dirty="0"/>
              <a:t> les créatifs perçoivent cette démarche comme du flicage ou une charge administrative trop lourde.</a:t>
            </a:r>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
        <p:nvSpPr>
          <p:cNvPr id="7" name="ZoneTexte 6">
            <a:extLst>
              <a:ext uri="{FF2B5EF4-FFF2-40B4-BE49-F238E27FC236}">
                <a16:creationId xmlns:a16="http://schemas.microsoft.com/office/drawing/2014/main" id="{A06E9659-CA3E-5BFD-B5C6-AF83F19EA29B}"/>
              </a:ext>
            </a:extLst>
          </p:cNvPr>
          <p:cNvSpPr txBox="1"/>
          <p:nvPr/>
        </p:nvSpPr>
        <p:spPr>
          <a:xfrm>
            <a:off x="1301278" y="4780523"/>
            <a:ext cx="4412264" cy="13542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1600" b="0" i="0" u="none" strike="noStrike" cap="none" spc="0" normalizeH="0" baseline="0" dirty="0">
                <a:ln>
                  <a:noFill/>
                </a:ln>
                <a:solidFill>
                  <a:srgbClr val="000000"/>
                </a:solidFill>
                <a:effectLst/>
                <a:uFillTx/>
                <a:latin typeface="+mj-lt"/>
                <a:ea typeface="+mj-ea"/>
                <a:cs typeface="+mj-cs"/>
                <a:sym typeface="Helvetica"/>
              </a:rPr>
              <a:t>Les clients vont régler plus cher une prestation dont l’artiste détient la certification. </a:t>
            </a:r>
          </a:p>
          <a:p>
            <a:pPr marL="0" marR="0" indent="0" algn="l" defTabSz="914400" rtl="0" fontAlgn="auto" latinLnBrk="0" hangingPunct="0">
              <a:lnSpc>
                <a:spcPct val="100000"/>
              </a:lnSpc>
              <a:spcBef>
                <a:spcPts val="0"/>
              </a:spcBef>
              <a:spcAft>
                <a:spcPts val="0"/>
              </a:spcAft>
              <a:buClrTx/>
              <a:buSzTx/>
              <a:buFontTx/>
              <a:buNone/>
              <a:tabLst/>
            </a:pPr>
            <a:r>
              <a:rPr lang="fr-FR" sz="1600" dirty="0"/>
              <a:t>On saura qu’on sait trompé si les clients se dirige finalement vers les prestations les moins chers sans certification</a:t>
            </a:r>
            <a:r>
              <a:rPr lang="fr-FR" dirty="0"/>
              <a:t>.  </a:t>
            </a:r>
            <a:endParaRPr kumimoji="0" lang="fr-FR" sz="1800" b="0" i="0" u="none" strike="noStrike" cap="none" spc="0" normalizeH="0" baseline="0" dirty="0">
              <a:ln>
                <a:noFill/>
              </a:ln>
              <a:solidFill>
                <a:srgbClr val="000000"/>
              </a:solidFill>
              <a:effectLst/>
              <a:uFillTx/>
              <a:latin typeface="+mj-lt"/>
              <a:ea typeface="+mj-ea"/>
              <a:cs typeface="+mj-cs"/>
              <a:sym typeface="Helvetica"/>
            </a:endParaRPr>
          </a:p>
        </p:txBody>
      </p:sp>
      <p:sp>
        <p:nvSpPr>
          <p:cNvPr id="10" name="ZoneTexte 9">
            <a:extLst>
              <a:ext uri="{FF2B5EF4-FFF2-40B4-BE49-F238E27FC236}">
                <a16:creationId xmlns:a16="http://schemas.microsoft.com/office/drawing/2014/main" id="{91AB8D10-8663-6475-6398-E39365B2764E}"/>
              </a:ext>
            </a:extLst>
          </p:cNvPr>
          <p:cNvSpPr txBox="1"/>
          <p:nvPr/>
        </p:nvSpPr>
        <p:spPr>
          <a:xfrm>
            <a:off x="6960529" y="4870703"/>
            <a:ext cx="4591661" cy="13234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fr-FR" sz="1600" dirty="0"/>
              <a:t>Des acheteurs vont venir nous demander une vérification du produit rendu par l’un des certifiés. On saura qu’on sait trompé s’ils ne viennent pas nous demander ce qui mettra en péril une partie du model de veille. </a:t>
            </a:r>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2 / 5</a:t>
            </a:r>
          </a:p>
        </p:txBody>
      </p:sp>
      <p:sp>
        <p:nvSpPr>
          <p:cNvPr id="92"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Le protocole de test</a:t>
            </a:r>
          </a:p>
        </p:txBody>
      </p:sp>
      <p:sp>
        <p:nvSpPr>
          <p:cNvPr id="93" name="Text 4"/>
          <p:cNvSpPr txBox="1"/>
          <p:nvPr/>
        </p:nvSpPr>
        <p:spPr>
          <a:xfrm>
            <a:off x="566927" y="1501647"/>
            <a:ext cx="10874962" cy="1865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solidFill>
                  <a:srgbClr val="6E6E6E"/>
                </a:solidFill>
                <a:latin typeface="+mn-lt"/>
                <a:ea typeface="+mn-ea"/>
                <a:cs typeface="+mn-cs"/>
                <a:sym typeface="Calibri"/>
              </a:defRPr>
            </a:lvl1pPr>
          </a:lstStyle>
          <a:p>
            <a:r>
              <a:t>On raconte une histoire au testeur, on lui donne une mission, et on observe — sans lui souffler la réponse.</a:t>
            </a:r>
          </a:p>
        </p:txBody>
      </p:sp>
      <p:sp>
        <p:nvSpPr>
          <p:cNvPr id="94" name="Shape 5"/>
          <p:cNvSpPr/>
          <p:nvPr/>
        </p:nvSpPr>
        <p:spPr>
          <a:xfrm>
            <a:off x="566928" y="1894839"/>
            <a:ext cx="5368900" cy="1130619"/>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95" name="Text 6"/>
          <p:cNvSpPr txBox="1"/>
          <p:nvPr/>
        </p:nvSpPr>
        <p:spPr>
          <a:xfrm>
            <a:off x="749808" y="2080569"/>
            <a:ext cx="5003140" cy="1588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① CE QU'ON VEUT VÉRIFIER</a:t>
            </a:r>
          </a:p>
        </p:txBody>
      </p:sp>
      <p:sp>
        <p:nvSpPr>
          <p:cNvPr id="96" name="Text 7"/>
          <p:cNvSpPr txBox="1"/>
          <p:nvPr/>
        </p:nvSpPr>
        <p:spPr>
          <a:xfrm>
            <a:off x="749808" y="2306320"/>
            <a:ext cx="5003140"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sp>
        <p:nvSpPr>
          <p:cNvPr id="97" name="Shape 8"/>
          <p:cNvSpPr/>
          <p:nvPr/>
        </p:nvSpPr>
        <p:spPr>
          <a:xfrm>
            <a:off x="6255868" y="1894839"/>
            <a:ext cx="5368900" cy="1130619"/>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dirty="0"/>
          </a:p>
        </p:txBody>
      </p:sp>
      <p:sp>
        <p:nvSpPr>
          <p:cNvPr id="98" name="Text 9"/>
          <p:cNvSpPr txBox="1"/>
          <p:nvPr/>
        </p:nvSpPr>
        <p:spPr>
          <a:xfrm>
            <a:off x="6438748" y="2080569"/>
            <a:ext cx="5003142" cy="1588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④ CE QU'ON NE DIT SURTOUT PAS</a:t>
            </a:r>
          </a:p>
        </p:txBody>
      </p:sp>
      <p:sp>
        <p:nvSpPr>
          <p:cNvPr id="99" name="Text 10"/>
          <p:cNvSpPr txBox="1"/>
          <p:nvPr/>
        </p:nvSpPr>
        <p:spPr>
          <a:xfrm>
            <a:off x="6438748" y="2306320"/>
            <a:ext cx="5003142"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sp>
        <p:nvSpPr>
          <p:cNvPr id="100" name="Shape 11"/>
          <p:cNvSpPr/>
          <p:nvPr/>
        </p:nvSpPr>
        <p:spPr>
          <a:xfrm>
            <a:off x="566926" y="3200399"/>
            <a:ext cx="11057842" cy="1453118"/>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101" name="Text 12"/>
          <p:cNvSpPr txBox="1"/>
          <p:nvPr/>
        </p:nvSpPr>
        <p:spPr>
          <a:xfrm>
            <a:off x="749806" y="3376986"/>
            <a:ext cx="10692083" cy="1588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00">
                <a:solidFill>
                  <a:srgbClr val="111111"/>
                </a:solidFill>
                <a:latin typeface="Arial"/>
                <a:ea typeface="Arial"/>
                <a:cs typeface="Arial"/>
                <a:sym typeface="Arial"/>
              </a:defRPr>
            </a:lvl1pPr>
          </a:lstStyle>
          <a:p>
            <a:r>
              <a:t>② LE SCÉNARIO — ON PLANTE LE DÉCOR</a:t>
            </a:r>
          </a:p>
        </p:txBody>
      </p:sp>
      <p:sp>
        <p:nvSpPr>
          <p:cNvPr id="102" name="Text 13"/>
          <p:cNvSpPr txBox="1"/>
          <p:nvPr/>
        </p:nvSpPr>
        <p:spPr>
          <a:xfrm>
            <a:off x="749806" y="3665850"/>
            <a:ext cx="10692083"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6E6E6E"/>
                </a:solidFill>
                <a:latin typeface="+mn-lt"/>
                <a:ea typeface="+mn-ea"/>
                <a:cs typeface="+mn-cs"/>
                <a:sym typeface="Calibri"/>
              </a:defRPr>
            </a:lvl1pPr>
          </a:lstStyle>
          <a:p>
            <a:endParaRPr dirty="0"/>
          </a:p>
        </p:txBody>
      </p:sp>
      <p:sp>
        <p:nvSpPr>
          <p:cNvPr id="103" name="Shape 15"/>
          <p:cNvSpPr/>
          <p:nvPr/>
        </p:nvSpPr>
        <p:spPr>
          <a:xfrm>
            <a:off x="566928" y="4826000"/>
            <a:ext cx="5368900" cy="1366523"/>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dirty="0"/>
          </a:p>
        </p:txBody>
      </p:sp>
      <p:sp>
        <p:nvSpPr>
          <p:cNvPr id="104" name="Text 16"/>
          <p:cNvSpPr txBox="1"/>
          <p:nvPr/>
        </p:nvSpPr>
        <p:spPr>
          <a:xfrm>
            <a:off x="749808" y="5011730"/>
            <a:ext cx="5003140" cy="1588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③ POINT DE CONTRÔLE A</a:t>
            </a:r>
          </a:p>
        </p:txBody>
      </p:sp>
      <p:sp>
        <p:nvSpPr>
          <p:cNvPr id="105" name="Text 17"/>
          <p:cNvSpPr txBox="1"/>
          <p:nvPr/>
        </p:nvSpPr>
        <p:spPr>
          <a:xfrm>
            <a:off x="749808" y="5237479"/>
            <a:ext cx="5003140"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sp>
        <p:nvSpPr>
          <p:cNvPr id="106" name="Shape 18"/>
          <p:cNvSpPr/>
          <p:nvPr/>
        </p:nvSpPr>
        <p:spPr>
          <a:xfrm>
            <a:off x="6255868" y="4826000"/>
            <a:ext cx="5368900" cy="1366523"/>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107" name="Text 19"/>
          <p:cNvSpPr txBox="1"/>
          <p:nvPr/>
        </p:nvSpPr>
        <p:spPr>
          <a:xfrm>
            <a:off x="6438748" y="5011730"/>
            <a:ext cx="5003142" cy="1588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③ POINT DE CONTRÔLE B</a:t>
            </a:r>
          </a:p>
        </p:txBody>
      </p:sp>
      <p:sp>
        <p:nvSpPr>
          <p:cNvPr id="108" name="Text 20"/>
          <p:cNvSpPr txBox="1"/>
          <p:nvPr/>
        </p:nvSpPr>
        <p:spPr>
          <a:xfrm>
            <a:off x="6438748" y="5237479"/>
            <a:ext cx="5003142" cy="1846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pic>
        <p:nvPicPr>
          <p:cNvPr id="109"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10" name="Text 21"/>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11"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112"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3</a:t>
            </a:r>
          </a:p>
        </p:txBody>
      </p:sp>
      <p:sp>
        <p:nvSpPr>
          <p:cNvPr id="3" name="ZoneTexte 2">
            <a:extLst>
              <a:ext uri="{FF2B5EF4-FFF2-40B4-BE49-F238E27FC236}">
                <a16:creationId xmlns:a16="http://schemas.microsoft.com/office/drawing/2014/main" id="{8782AB44-6B05-076E-0FF6-F6AA1616247B}"/>
              </a:ext>
            </a:extLst>
          </p:cNvPr>
          <p:cNvSpPr txBox="1"/>
          <p:nvPr/>
        </p:nvSpPr>
        <p:spPr>
          <a:xfrm>
            <a:off x="876081" y="2173145"/>
            <a:ext cx="5059747" cy="830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t>Vérifier si un devis affichant la certification permet à un client de comprendre et d'accepter un prix plus élevé sans contester.</a:t>
            </a:r>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
        <p:nvSpPr>
          <p:cNvPr id="4" name="ZoneTexte 3">
            <a:extLst>
              <a:ext uri="{FF2B5EF4-FFF2-40B4-BE49-F238E27FC236}">
                <a16:creationId xmlns:a16="http://schemas.microsoft.com/office/drawing/2014/main" id="{709C3A86-AC60-E340-630F-7AC171CF6AE4}"/>
              </a:ext>
            </a:extLst>
          </p:cNvPr>
          <p:cNvSpPr txBox="1"/>
          <p:nvPr/>
        </p:nvSpPr>
        <p:spPr>
          <a:xfrm>
            <a:off x="737412" y="3463429"/>
            <a:ext cx="11024518" cy="107721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t>Imagine que tu es un entrepreneur ou un artiste qui lance sa marque. Tu as devant toi deux propositions commerciales pour la création de ton identité visuelle : un devis classique sans détail à 400 €, et un devis à 950 € certifié avec la certification «  processus créatif étique » détaillant le processus créatif. Ta mission : regarde ces deux écrans, choisis avec quel prestataire tu t'engages, et explique-nous ce qui motive ton choix. </a:t>
            </a:r>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
        <p:nvSpPr>
          <p:cNvPr id="5" name="ZoneTexte 4">
            <a:extLst>
              <a:ext uri="{FF2B5EF4-FFF2-40B4-BE49-F238E27FC236}">
                <a16:creationId xmlns:a16="http://schemas.microsoft.com/office/drawing/2014/main" id="{D27C4ABC-E31E-4F8F-CA7E-6920139C459A}"/>
              </a:ext>
            </a:extLst>
          </p:cNvPr>
          <p:cNvSpPr txBox="1"/>
          <p:nvPr/>
        </p:nvSpPr>
        <p:spPr>
          <a:xfrm>
            <a:off x="665177" y="5182068"/>
            <a:ext cx="4857799" cy="830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t>Je regarde si son attention s'arrête spontanément sur la détention de la certification (compréhension visuelle immédiate).</a:t>
            </a:r>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
        <p:nvSpPr>
          <p:cNvPr id="6" name="ZoneTexte 5">
            <a:extLst>
              <a:ext uri="{FF2B5EF4-FFF2-40B4-BE49-F238E27FC236}">
                <a16:creationId xmlns:a16="http://schemas.microsoft.com/office/drawing/2014/main" id="{87D95AAB-2A2A-AA86-FF7C-3533A24B21EE}"/>
              </a:ext>
            </a:extLst>
          </p:cNvPr>
          <p:cNvSpPr txBox="1"/>
          <p:nvPr/>
        </p:nvSpPr>
        <p:spPr>
          <a:xfrm>
            <a:off x="6438748" y="5210240"/>
            <a:ext cx="4340994" cy="830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600" dirty="0"/>
              <a:t>Je regarde s'il comprend la différence entre payer pour une "créativité" vs une "simple exécution graphique automatisée".</a:t>
            </a:r>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
        <p:nvSpPr>
          <p:cNvPr id="7" name="ZoneTexte 6">
            <a:extLst>
              <a:ext uri="{FF2B5EF4-FFF2-40B4-BE49-F238E27FC236}">
                <a16:creationId xmlns:a16="http://schemas.microsoft.com/office/drawing/2014/main" id="{90DA0A4E-F294-CE15-C80A-5272AD53DE30}"/>
              </a:ext>
            </a:extLst>
          </p:cNvPr>
          <p:cNvSpPr txBox="1"/>
          <p:nvPr/>
        </p:nvSpPr>
        <p:spPr>
          <a:xfrm>
            <a:off x="6318558" y="2232281"/>
            <a:ext cx="5306210" cy="738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400" dirty="0"/>
              <a:t>Ne pas mentionner nous-mêmes que l'autre prestataire utilise </a:t>
            </a:r>
            <a:r>
              <a:rPr lang="fr-FR" sz="1400" dirty="0" err="1"/>
              <a:t>Dall-e</a:t>
            </a:r>
            <a:r>
              <a:rPr lang="fr-FR" sz="1400" dirty="0"/>
              <a:t> ou </a:t>
            </a:r>
            <a:r>
              <a:rPr lang="fr-FR" sz="1400" dirty="0" err="1"/>
              <a:t>Midjourney</a:t>
            </a:r>
            <a:r>
              <a:rPr lang="fr-FR" sz="1400" dirty="0"/>
              <a:t>. Ne pas justifier le prix à la place du testeur : le laisser réagir seul face aux deux montants.</a:t>
            </a:r>
            <a:endParaRPr kumimoji="0" lang="fr-FR" sz="1400" b="0" i="0" u="none" strike="noStrike" cap="none" spc="0" normalizeH="0" baseline="0" dirty="0">
              <a:ln>
                <a:noFill/>
              </a:ln>
              <a:solidFill>
                <a:srgbClr val="000000"/>
              </a:solidFill>
              <a:effectLst/>
              <a:uFillTx/>
              <a:latin typeface="+mj-lt"/>
              <a:ea typeface="+mj-ea"/>
              <a:cs typeface="+mj-cs"/>
              <a:sym typeface="Helvetica"/>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C137F-B6AD-BA23-2C62-1ADE0AA089D1}"/>
            </a:ext>
          </a:extLst>
        </p:cNvPr>
        <p:cNvGrpSpPr/>
        <p:nvPr/>
      </p:nvGrpSpPr>
      <p:grpSpPr>
        <a:xfrm>
          <a:off x="0" y="0"/>
          <a:ext cx="0" cy="0"/>
          <a:chOff x="0" y="0"/>
          <a:chExt cx="0" cy="0"/>
        </a:xfrm>
      </p:grpSpPr>
      <p:sp>
        <p:nvSpPr>
          <p:cNvPr id="91" name="Text 2">
            <a:extLst>
              <a:ext uri="{FF2B5EF4-FFF2-40B4-BE49-F238E27FC236}">
                <a16:creationId xmlns:a16="http://schemas.microsoft.com/office/drawing/2014/main" id="{B12DB8BD-5CAF-19A4-7A5C-BA2BCB2A6B32}"/>
              </a:ext>
            </a:extLst>
          </p:cNvPr>
          <p:cNvSpPr txBox="1"/>
          <p:nvPr/>
        </p:nvSpPr>
        <p:spPr>
          <a:xfrm>
            <a:off x="1865376" y="553672"/>
            <a:ext cx="7315201" cy="1728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2 / 5</a:t>
            </a:r>
          </a:p>
        </p:txBody>
      </p:sp>
      <p:sp>
        <p:nvSpPr>
          <p:cNvPr id="92" name="Text 3">
            <a:extLst>
              <a:ext uri="{FF2B5EF4-FFF2-40B4-BE49-F238E27FC236}">
                <a16:creationId xmlns:a16="http://schemas.microsoft.com/office/drawing/2014/main" id="{7CDC0794-736C-4B82-0D2E-18B5B2F9D0EF}"/>
              </a:ext>
            </a:extLst>
          </p:cNvPr>
          <p:cNvSpPr txBox="1"/>
          <p:nvPr/>
        </p:nvSpPr>
        <p:spPr>
          <a:xfrm>
            <a:off x="566926" y="1005838"/>
            <a:ext cx="11057842" cy="419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3000" b="1">
                <a:solidFill>
                  <a:srgbClr val="111111"/>
                </a:solidFill>
                <a:latin typeface="Arial"/>
                <a:ea typeface="Arial"/>
                <a:cs typeface="Arial"/>
                <a:sym typeface="Arial"/>
              </a:defRPr>
            </a:lvl1pPr>
          </a:lstStyle>
          <a:p>
            <a:r>
              <a:t>Le protocole de test</a:t>
            </a:r>
          </a:p>
        </p:txBody>
      </p:sp>
      <p:sp>
        <p:nvSpPr>
          <p:cNvPr id="93" name="Text 4">
            <a:extLst>
              <a:ext uri="{FF2B5EF4-FFF2-40B4-BE49-F238E27FC236}">
                <a16:creationId xmlns:a16="http://schemas.microsoft.com/office/drawing/2014/main" id="{B0B9DF18-A115-5FDE-8D20-883486B7E8C9}"/>
              </a:ext>
            </a:extLst>
          </p:cNvPr>
          <p:cNvSpPr txBox="1"/>
          <p:nvPr/>
        </p:nvSpPr>
        <p:spPr>
          <a:xfrm>
            <a:off x="566927" y="1501647"/>
            <a:ext cx="10874962" cy="1865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500" i="1">
                <a:solidFill>
                  <a:srgbClr val="6E6E6E"/>
                </a:solidFill>
                <a:latin typeface="+mn-lt"/>
                <a:ea typeface="+mn-ea"/>
                <a:cs typeface="+mn-cs"/>
                <a:sym typeface="Calibri"/>
              </a:defRPr>
            </a:lvl1pPr>
          </a:lstStyle>
          <a:p>
            <a:r>
              <a:t>On raconte une histoire au testeur, on lui donne une mission, et on observe — sans lui souffler la réponse.</a:t>
            </a:r>
          </a:p>
        </p:txBody>
      </p:sp>
      <p:sp>
        <p:nvSpPr>
          <p:cNvPr id="94" name="Shape 5">
            <a:extLst>
              <a:ext uri="{FF2B5EF4-FFF2-40B4-BE49-F238E27FC236}">
                <a16:creationId xmlns:a16="http://schemas.microsoft.com/office/drawing/2014/main" id="{8C8C3431-4049-440A-4298-537740A94BD2}"/>
              </a:ext>
            </a:extLst>
          </p:cNvPr>
          <p:cNvSpPr/>
          <p:nvPr/>
        </p:nvSpPr>
        <p:spPr>
          <a:xfrm>
            <a:off x="566928" y="1894839"/>
            <a:ext cx="5368900" cy="1130619"/>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95" name="Text 6">
            <a:extLst>
              <a:ext uri="{FF2B5EF4-FFF2-40B4-BE49-F238E27FC236}">
                <a16:creationId xmlns:a16="http://schemas.microsoft.com/office/drawing/2014/main" id="{E17ADCEB-787E-AF0D-D777-DB6CA76C5014}"/>
              </a:ext>
            </a:extLst>
          </p:cNvPr>
          <p:cNvSpPr txBox="1"/>
          <p:nvPr/>
        </p:nvSpPr>
        <p:spPr>
          <a:xfrm>
            <a:off x="749808" y="2080569"/>
            <a:ext cx="5003140" cy="1588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① CE QU'ON VEUT VÉRIFIER</a:t>
            </a:r>
          </a:p>
        </p:txBody>
      </p:sp>
      <p:sp>
        <p:nvSpPr>
          <p:cNvPr id="96" name="Text 7">
            <a:extLst>
              <a:ext uri="{FF2B5EF4-FFF2-40B4-BE49-F238E27FC236}">
                <a16:creationId xmlns:a16="http://schemas.microsoft.com/office/drawing/2014/main" id="{140F8323-E111-BA35-6499-6F90B6B45455}"/>
              </a:ext>
            </a:extLst>
          </p:cNvPr>
          <p:cNvSpPr txBox="1"/>
          <p:nvPr/>
        </p:nvSpPr>
        <p:spPr>
          <a:xfrm>
            <a:off x="749808" y="2306320"/>
            <a:ext cx="5003140"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sp>
        <p:nvSpPr>
          <p:cNvPr id="97" name="Shape 8">
            <a:extLst>
              <a:ext uri="{FF2B5EF4-FFF2-40B4-BE49-F238E27FC236}">
                <a16:creationId xmlns:a16="http://schemas.microsoft.com/office/drawing/2014/main" id="{25D2925C-A2F4-595A-0B13-489DC54CBE9B}"/>
              </a:ext>
            </a:extLst>
          </p:cNvPr>
          <p:cNvSpPr/>
          <p:nvPr/>
        </p:nvSpPr>
        <p:spPr>
          <a:xfrm>
            <a:off x="6255868" y="1894839"/>
            <a:ext cx="5368900" cy="1130619"/>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dirty="0"/>
          </a:p>
        </p:txBody>
      </p:sp>
      <p:sp>
        <p:nvSpPr>
          <p:cNvPr id="98" name="Text 9">
            <a:extLst>
              <a:ext uri="{FF2B5EF4-FFF2-40B4-BE49-F238E27FC236}">
                <a16:creationId xmlns:a16="http://schemas.microsoft.com/office/drawing/2014/main" id="{D0D6E890-D8F5-3B55-13D0-49881C610B6B}"/>
              </a:ext>
            </a:extLst>
          </p:cNvPr>
          <p:cNvSpPr txBox="1"/>
          <p:nvPr/>
        </p:nvSpPr>
        <p:spPr>
          <a:xfrm>
            <a:off x="6438748" y="2080569"/>
            <a:ext cx="5003142" cy="1588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④ CE QU'ON NE DIT SURTOUT PAS</a:t>
            </a:r>
          </a:p>
        </p:txBody>
      </p:sp>
      <p:sp>
        <p:nvSpPr>
          <p:cNvPr id="99" name="Text 10">
            <a:extLst>
              <a:ext uri="{FF2B5EF4-FFF2-40B4-BE49-F238E27FC236}">
                <a16:creationId xmlns:a16="http://schemas.microsoft.com/office/drawing/2014/main" id="{8E982B2E-D043-96EC-5C64-8028C3CFB91E}"/>
              </a:ext>
            </a:extLst>
          </p:cNvPr>
          <p:cNvSpPr txBox="1"/>
          <p:nvPr/>
        </p:nvSpPr>
        <p:spPr>
          <a:xfrm>
            <a:off x="6438748" y="2306320"/>
            <a:ext cx="5003142"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sp>
        <p:nvSpPr>
          <p:cNvPr id="100" name="Shape 11">
            <a:extLst>
              <a:ext uri="{FF2B5EF4-FFF2-40B4-BE49-F238E27FC236}">
                <a16:creationId xmlns:a16="http://schemas.microsoft.com/office/drawing/2014/main" id="{691BEE68-9D4F-A595-1934-EE9D01C7554F}"/>
              </a:ext>
            </a:extLst>
          </p:cNvPr>
          <p:cNvSpPr/>
          <p:nvPr/>
        </p:nvSpPr>
        <p:spPr>
          <a:xfrm>
            <a:off x="566926" y="3200399"/>
            <a:ext cx="11057842" cy="1453118"/>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101" name="Text 12">
            <a:extLst>
              <a:ext uri="{FF2B5EF4-FFF2-40B4-BE49-F238E27FC236}">
                <a16:creationId xmlns:a16="http://schemas.microsoft.com/office/drawing/2014/main" id="{D00FF57F-478E-722C-FEBA-63034CBBCFF0}"/>
              </a:ext>
            </a:extLst>
          </p:cNvPr>
          <p:cNvSpPr txBox="1"/>
          <p:nvPr/>
        </p:nvSpPr>
        <p:spPr>
          <a:xfrm>
            <a:off x="749806" y="3376986"/>
            <a:ext cx="10692083" cy="158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b="1" spc="100">
                <a:solidFill>
                  <a:srgbClr val="111111"/>
                </a:solidFill>
                <a:latin typeface="Arial"/>
                <a:ea typeface="Arial"/>
                <a:cs typeface="Arial"/>
                <a:sym typeface="Arial"/>
              </a:defRPr>
            </a:lvl1pPr>
          </a:lstStyle>
          <a:p>
            <a:r>
              <a:t>② LE SCÉNARIO — ON PLANTE LE DÉCOR</a:t>
            </a:r>
          </a:p>
        </p:txBody>
      </p:sp>
      <p:sp>
        <p:nvSpPr>
          <p:cNvPr id="102" name="Text 13">
            <a:extLst>
              <a:ext uri="{FF2B5EF4-FFF2-40B4-BE49-F238E27FC236}">
                <a16:creationId xmlns:a16="http://schemas.microsoft.com/office/drawing/2014/main" id="{C49113C3-7101-A582-CF49-A6A1B54C38B8}"/>
              </a:ext>
            </a:extLst>
          </p:cNvPr>
          <p:cNvSpPr txBox="1"/>
          <p:nvPr/>
        </p:nvSpPr>
        <p:spPr>
          <a:xfrm>
            <a:off x="749806" y="3665850"/>
            <a:ext cx="10692083"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200" i="1">
                <a:solidFill>
                  <a:srgbClr val="6E6E6E"/>
                </a:solidFill>
                <a:latin typeface="+mn-lt"/>
                <a:ea typeface="+mn-ea"/>
                <a:cs typeface="+mn-cs"/>
                <a:sym typeface="Calibri"/>
              </a:defRPr>
            </a:lvl1pPr>
          </a:lstStyle>
          <a:p>
            <a:endParaRPr dirty="0"/>
          </a:p>
        </p:txBody>
      </p:sp>
      <p:sp>
        <p:nvSpPr>
          <p:cNvPr id="103" name="Shape 15">
            <a:extLst>
              <a:ext uri="{FF2B5EF4-FFF2-40B4-BE49-F238E27FC236}">
                <a16:creationId xmlns:a16="http://schemas.microsoft.com/office/drawing/2014/main" id="{90146564-FFB5-66EA-F550-CE91E2E81E56}"/>
              </a:ext>
            </a:extLst>
          </p:cNvPr>
          <p:cNvSpPr/>
          <p:nvPr/>
        </p:nvSpPr>
        <p:spPr>
          <a:xfrm>
            <a:off x="566928" y="4826000"/>
            <a:ext cx="5368900" cy="1366523"/>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dirty="0"/>
          </a:p>
        </p:txBody>
      </p:sp>
      <p:sp>
        <p:nvSpPr>
          <p:cNvPr id="104" name="Text 16">
            <a:extLst>
              <a:ext uri="{FF2B5EF4-FFF2-40B4-BE49-F238E27FC236}">
                <a16:creationId xmlns:a16="http://schemas.microsoft.com/office/drawing/2014/main" id="{87ED6039-3A31-5D94-3666-A30CF95E2FDE}"/>
              </a:ext>
            </a:extLst>
          </p:cNvPr>
          <p:cNvSpPr txBox="1"/>
          <p:nvPr/>
        </p:nvSpPr>
        <p:spPr>
          <a:xfrm>
            <a:off x="749808" y="5011730"/>
            <a:ext cx="5003140" cy="158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③ POINT DE CONTRÔLE A</a:t>
            </a:r>
          </a:p>
        </p:txBody>
      </p:sp>
      <p:sp>
        <p:nvSpPr>
          <p:cNvPr id="105" name="Text 17">
            <a:extLst>
              <a:ext uri="{FF2B5EF4-FFF2-40B4-BE49-F238E27FC236}">
                <a16:creationId xmlns:a16="http://schemas.microsoft.com/office/drawing/2014/main" id="{94EAEF23-ABD4-B524-D3E4-B38349F55875}"/>
              </a:ext>
            </a:extLst>
          </p:cNvPr>
          <p:cNvSpPr txBox="1"/>
          <p:nvPr/>
        </p:nvSpPr>
        <p:spPr>
          <a:xfrm>
            <a:off x="749808" y="5237479"/>
            <a:ext cx="5003140"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sp>
        <p:nvSpPr>
          <p:cNvPr id="106" name="Shape 18">
            <a:extLst>
              <a:ext uri="{FF2B5EF4-FFF2-40B4-BE49-F238E27FC236}">
                <a16:creationId xmlns:a16="http://schemas.microsoft.com/office/drawing/2014/main" id="{24F657A7-1161-31C8-F8DD-2CC302E61A15}"/>
              </a:ext>
            </a:extLst>
          </p:cNvPr>
          <p:cNvSpPr/>
          <p:nvPr/>
        </p:nvSpPr>
        <p:spPr>
          <a:xfrm>
            <a:off x="6255868" y="4826000"/>
            <a:ext cx="5368900" cy="1366523"/>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107" name="Text 19">
            <a:extLst>
              <a:ext uri="{FF2B5EF4-FFF2-40B4-BE49-F238E27FC236}">
                <a16:creationId xmlns:a16="http://schemas.microsoft.com/office/drawing/2014/main" id="{F9ED7E85-6EAA-89EC-111E-FC5EF5FA270D}"/>
              </a:ext>
            </a:extLst>
          </p:cNvPr>
          <p:cNvSpPr txBox="1"/>
          <p:nvPr/>
        </p:nvSpPr>
        <p:spPr>
          <a:xfrm>
            <a:off x="6438748" y="5011730"/>
            <a:ext cx="5003142" cy="158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t>③ POINT DE CONTRÔLE B</a:t>
            </a:r>
          </a:p>
        </p:txBody>
      </p:sp>
      <p:sp>
        <p:nvSpPr>
          <p:cNvPr id="108" name="Text 20">
            <a:extLst>
              <a:ext uri="{FF2B5EF4-FFF2-40B4-BE49-F238E27FC236}">
                <a16:creationId xmlns:a16="http://schemas.microsoft.com/office/drawing/2014/main" id="{63242FF9-DF52-663B-C7B6-6559902CE072}"/>
              </a:ext>
            </a:extLst>
          </p:cNvPr>
          <p:cNvSpPr txBox="1"/>
          <p:nvPr/>
        </p:nvSpPr>
        <p:spPr>
          <a:xfrm>
            <a:off x="6438748" y="5237479"/>
            <a:ext cx="5003142" cy="1846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defRPr sz="1200" i="1">
                <a:solidFill>
                  <a:srgbClr val="6E6E6E"/>
                </a:solidFill>
                <a:latin typeface="+mn-lt"/>
                <a:ea typeface="+mn-ea"/>
                <a:cs typeface="+mn-cs"/>
                <a:sym typeface="Calibri"/>
              </a:defRPr>
            </a:lvl1pPr>
          </a:lstStyle>
          <a:p>
            <a:endParaRPr dirty="0"/>
          </a:p>
        </p:txBody>
      </p:sp>
      <p:pic>
        <p:nvPicPr>
          <p:cNvPr id="109" name="Image 0" descr="Image 0">
            <a:extLst>
              <a:ext uri="{FF2B5EF4-FFF2-40B4-BE49-F238E27FC236}">
                <a16:creationId xmlns:a16="http://schemas.microsoft.com/office/drawing/2014/main" id="{D076A173-72EE-C711-B55A-3AC70A30AC04}"/>
              </a:ext>
            </a:extLst>
          </p:cNvPr>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10" name="Text 21">
            <a:extLst>
              <a:ext uri="{FF2B5EF4-FFF2-40B4-BE49-F238E27FC236}">
                <a16:creationId xmlns:a16="http://schemas.microsoft.com/office/drawing/2014/main" id="{71F429F9-4A5C-674A-C7A0-C73445764A3F}"/>
              </a:ext>
            </a:extLst>
          </p:cNvPr>
          <p:cNvSpPr txBox="1"/>
          <p:nvPr/>
        </p:nvSpPr>
        <p:spPr>
          <a:xfrm>
            <a:off x="8515807" y="6428738"/>
            <a:ext cx="3108962" cy="127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11" name="Shape 0">
            <a:extLst>
              <a:ext uri="{FF2B5EF4-FFF2-40B4-BE49-F238E27FC236}">
                <a16:creationId xmlns:a16="http://schemas.microsoft.com/office/drawing/2014/main" id="{D277043F-C420-31E0-2234-D57262FEF81B}"/>
              </a:ext>
            </a:extLst>
          </p:cNvPr>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112" name="Text 1">
            <a:extLst>
              <a:ext uri="{FF2B5EF4-FFF2-40B4-BE49-F238E27FC236}">
                <a16:creationId xmlns:a16="http://schemas.microsoft.com/office/drawing/2014/main" id="{E8101D12-1BCE-00D6-F4D7-854946E31E9C}"/>
              </a:ext>
            </a:extLst>
          </p:cNvPr>
          <p:cNvSpPr txBox="1"/>
          <p:nvPr/>
        </p:nvSpPr>
        <p:spPr>
          <a:xfrm>
            <a:off x="566927" y="556674"/>
            <a:ext cx="1234443" cy="1850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3</a:t>
            </a:r>
          </a:p>
        </p:txBody>
      </p:sp>
      <p:sp>
        <p:nvSpPr>
          <p:cNvPr id="2" name="ZoneTexte 1">
            <a:extLst>
              <a:ext uri="{FF2B5EF4-FFF2-40B4-BE49-F238E27FC236}">
                <a16:creationId xmlns:a16="http://schemas.microsoft.com/office/drawing/2014/main" id="{595AE421-BDE5-B75C-C6E7-1DA62F569DBC}"/>
              </a:ext>
            </a:extLst>
          </p:cNvPr>
          <p:cNvSpPr txBox="1"/>
          <p:nvPr/>
        </p:nvSpPr>
        <p:spPr>
          <a:xfrm>
            <a:off x="629618" y="2109785"/>
            <a:ext cx="5368900" cy="830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1600" b="0" i="0" u="none" strike="noStrike" cap="none" spc="0" normalizeH="0" baseline="0" dirty="0">
                <a:ln>
                  <a:noFill/>
                </a:ln>
                <a:solidFill>
                  <a:srgbClr val="000000"/>
                </a:solidFill>
                <a:effectLst/>
                <a:uFillTx/>
                <a:latin typeface="+mj-lt"/>
                <a:ea typeface="+mj-ea"/>
                <a:cs typeface="+mj-cs"/>
                <a:sym typeface="Helvetica"/>
              </a:rPr>
              <a:t>Nos clients ( artistes </a:t>
            </a:r>
            <a:r>
              <a:rPr lang="fr-FR" sz="1600" dirty="0"/>
              <a:t>/ créateur de contenus </a:t>
            </a:r>
            <a:r>
              <a:rPr lang="fr-FR" sz="1600" dirty="0" err="1"/>
              <a:t>ect</a:t>
            </a:r>
            <a:r>
              <a:rPr lang="fr-FR" sz="1600" dirty="0"/>
              <a:t>) sont prêts à payer une certification sur leur produits/ services afin de rassurer leurs clients sur l’authenticité de leurs produits. </a:t>
            </a:r>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
        <p:nvSpPr>
          <p:cNvPr id="8" name="ZoneTexte 7">
            <a:extLst>
              <a:ext uri="{FF2B5EF4-FFF2-40B4-BE49-F238E27FC236}">
                <a16:creationId xmlns:a16="http://schemas.microsoft.com/office/drawing/2014/main" id="{E6494792-AC20-7E47-0291-97E8FBD85363}"/>
              </a:ext>
            </a:extLst>
          </p:cNvPr>
          <p:cNvSpPr txBox="1"/>
          <p:nvPr/>
        </p:nvSpPr>
        <p:spPr>
          <a:xfrm>
            <a:off x="737411" y="3646590"/>
            <a:ext cx="10440862"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1800" b="0" i="0" u="none" strike="noStrike" cap="none" spc="0" normalizeH="0" baseline="0" dirty="0">
                <a:ln>
                  <a:noFill/>
                </a:ln>
                <a:solidFill>
                  <a:srgbClr val="000000"/>
                </a:solidFill>
                <a:effectLst/>
                <a:uFillTx/>
                <a:latin typeface="+mj-lt"/>
                <a:ea typeface="+mj-ea"/>
                <a:cs typeface="+mj-cs"/>
                <a:sym typeface="Helvetica"/>
              </a:rPr>
              <a:t>On propose à des créateurs la certification « PCE » en leur expliquant le processus de certification et les bénéfices.</a:t>
            </a:r>
          </a:p>
        </p:txBody>
      </p:sp>
      <p:sp>
        <p:nvSpPr>
          <p:cNvPr id="11" name="ZoneTexte 10">
            <a:extLst>
              <a:ext uri="{FF2B5EF4-FFF2-40B4-BE49-F238E27FC236}">
                <a16:creationId xmlns:a16="http://schemas.microsoft.com/office/drawing/2014/main" id="{2641C9AD-3F25-D3AB-7D19-F09D78D19CCB}"/>
              </a:ext>
            </a:extLst>
          </p:cNvPr>
          <p:cNvSpPr txBox="1"/>
          <p:nvPr/>
        </p:nvSpPr>
        <p:spPr>
          <a:xfrm>
            <a:off x="885524" y="5170621"/>
            <a:ext cx="4867424" cy="83099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1600" b="0" i="0" u="none" strike="noStrike" cap="none" spc="0" normalizeH="0" baseline="0" dirty="0">
                <a:ln>
                  <a:noFill/>
                </a:ln>
                <a:solidFill>
                  <a:srgbClr val="000000"/>
                </a:solidFill>
                <a:effectLst/>
                <a:uFillTx/>
                <a:latin typeface="+mj-lt"/>
                <a:ea typeface="+mj-ea"/>
                <a:cs typeface="+mj-cs"/>
                <a:sym typeface="Helvetica"/>
              </a:rPr>
              <a:t>Analyse du dossier au complet (ambition court ou long terme)  les idées de réalisation, processus de créativité , le rapport à l’IA. </a:t>
            </a:r>
          </a:p>
        </p:txBody>
      </p:sp>
      <p:sp>
        <p:nvSpPr>
          <p:cNvPr id="12" name="ZoneTexte 11">
            <a:extLst>
              <a:ext uri="{FF2B5EF4-FFF2-40B4-BE49-F238E27FC236}">
                <a16:creationId xmlns:a16="http://schemas.microsoft.com/office/drawing/2014/main" id="{EF6C977E-8AA2-816C-8FA9-C4D221B470B9}"/>
              </a:ext>
            </a:extLst>
          </p:cNvPr>
          <p:cNvSpPr txBox="1"/>
          <p:nvPr/>
        </p:nvSpPr>
        <p:spPr>
          <a:xfrm>
            <a:off x="6590534" y="5241120"/>
            <a:ext cx="4838958" cy="923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fr-FR" dirty="0"/>
              <a:t>Etude poussée du dossier par une commission (compétences, environnement </a:t>
            </a:r>
            <a:r>
              <a:rPr lang="fr-FR" dirty="0" err="1"/>
              <a:t>ect</a:t>
            </a:r>
            <a:r>
              <a:rPr lang="fr-FR" dirty="0"/>
              <a:t>) </a:t>
            </a:r>
            <a:endParaRPr kumimoji="0" lang="fr-FR" sz="1800" b="0" i="0" u="none" strike="noStrike" cap="none" spc="0" normalizeH="0" baseline="0" dirty="0">
              <a:ln>
                <a:noFill/>
              </a:ln>
              <a:solidFill>
                <a:srgbClr val="000000"/>
              </a:solidFill>
              <a:effectLst/>
              <a:uFillTx/>
              <a:latin typeface="+mj-lt"/>
              <a:ea typeface="+mj-ea"/>
              <a:cs typeface="+mj-cs"/>
              <a:sym typeface="Helvetica"/>
            </a:endParaRPr>
          </a:p>
        </p:txBody>
      </p:sp>
      <p:sp>
        <p:nvSpPr>
          <p:cNvPr id="13" name="ZoneTexte 12">
            <a:extLst>
              <a:ext uri="{FF2B5EF4-FFF2-40B4-BE49-F238E27FC236}">
                <a16:creationId xmlns:a16="http://schemas.microsoft.com/office/drawing/2014/main" id="{F3852B1A-5A7C-15FA-B43E-D9BDA4DE435B}"/>
              </a:ext>
            </a:extLst>
          </p:cNvPr>
          <p:cNvSpPr txBox="1"/>
          <p:nvPr/>
        </p:nvSpPr>
        <p:spPr>
          <a:xfrm>
            <a:off x="6814686" y="2272064"/>
            <a:ext cx="3840480" cy="6463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fr-FR" sz="1800" b="0" i="0" u="none" strike="noStrike" cap="none" spc="0" normalizeH="0" baseline="0" dirty="0">
                <a:ln>
                  <a:noFill/>
                </a:ln>
                <a:solidFill>
                  <a:srgbClr val="000000"/>
                </a:solidFill>
                <a:effectLst/>
                <a:uFillTx/>
                <a:latin typeface="+mj-lt"/>
                <a:ea typeface="+mj-ea"/>
                <a:cs typeface="+mj-cs"/>
                <a:sym typeface="Helvetica"/>
              </a:rPr>
              <a:t>Les critères exactes d’obtention de la certification. </a:t>
            </a:r>
          </a:p>
        </p:txBody>
      </p:sp>
    </p:spTree>
    <p:extLst>
      <p:ext uri="{BB962C8B-B14F-4D97-AF65-F5344CB8AC3E}">
        <p14:creationId xmlns:p14="http://schemas.microsoft.com/office/powerpoint/2010/main" val="268610166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3 / 5</a:t>
            </a:r>
          </a:p>
        </p:txBody>
      </p:sp>
      <p:sp>
        <p:nvSpPr>
          <p:cNvPr id="115"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La synthèse des tests</a:t>
            </a:r>
          </a:p>
        </p:txBody>
      </p:sp>
      <p:sp>
        <p:nvSpPr>
          <p:cNvPr id="116" name="Text 4"/>
          <p:cNvSpPr txBox="1"/>
          <p:nvPr/>
        </p:nvSpPr>
        <p:spPr>
          <a:xfrm>
            <a:off x="566927" y="1501647"/>
            <a:ext cx="10874962" cy="1865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solidFill>
                  <a:srgbClr val="6E6E6E"/>
                </a:solidFill>
                <a:latin typeface="+mn-lt"/>
                <a:ea typeface="+mn-ea"/>
                <a:cs typeface="+mn-cs"/>
                <a:sym typeface="Calibri"/>
              </a:defRPr>
            </a:lvl1pPr>
          </a:lstStyle>
          <a:p>
            <a:r>
              <a:t>Un test « raté » qui vous apprend quelque chose est un test réussi.</a:t>
            </a:r>
          </a:p>
        </p:txBody>
      </p:sp>
      <p:sp>
        <p:nvSpPr>
          <p:cNvPr id="117" name="Shape 5"/>
          <p:cNvSpPr/>
          <p:nvPr/>
        </p:nvSpPr>
        <p:spPr>
          <a:xfrm>
            <a:off x="566928" y="1849120"/>
            <a:ext cx="5368900" cy="1651651"/>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118" name="Text 6"/>
          <p:cNvSpPr txBox="1"/>
          <p:nvPr/>
        </p:nvSpPr>
        <p:spPr>
          <a:xfrm>
            <a:off x="749808" y="2012601"/>
            <a:ext cx="5003140" cy="185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111111"/>
                </a:solidFill>
                <a:latin typeface="Arial"/>
                <a:ea typeface="Arial"/>
                <a:cs typeface="Arial"/>
                <a:sym typeface="Arial"/>
              </a:defRPr>
            </a:lvl1pPr>
          </a:lstStyle>
          <a:p>
            <a:r>
              <a:t>Ce qui a marché / a plu</a:t>
            </a:r>
          </a:p>
        </p:txBody>
      </p:sp>
      <p:sp>
        <p:nvSpPr>
          <p:cNvPr id="119" name="Shape 9"/>
          <p:cNvSpPr/>
          <p:nvPr/>
        </p:nvSpPr>
        <p:spPr>
          <a:xfrm>
            <a:off x="6255868" y="1849120"/>
            <a:ext cx="5368900" cy="1651651"/>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dirty="0"/>
          </a:p>
        </p:txBody>
      </p:sp>
      <p:sp>
        <p:nvSpPr>
          <p:cNvPr id="120" name="Text 10"/>
          <p:cNvSpPr txBox="1"/>
          <p:nvPr/>
        </p:nvSpPr>
        <p:spPr>
          <a:xfrm>
            <a:off x="6438748" y="2012601"/>
            <a:ext cx="5003142" cy="185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111111"/>
                </a:solidFill>
                <a:latin typeface="Arial"/>
                <a:ea typeface="Arial"/>
                <a:cs typeface="Arial"/>
                <a:sym typeface="Arial"/>
              </a:defRPr>
            </a:lvl1pPr>
          </a:lstStyle>
          <a:p>
            <a:r>
              <a:t>Ce qui a coincé</a:t>
            </a:r>
          </a:p>
        </p:txBody>
      </p:sp>
      <p:sp>
        <p:nvSpPr>
          <p:cNvPr id="121" name="Shape 13"/>
          <p:cNvSpPr/>
          <p:nvPr/>
        </p:nvSpPr>
        <p:spPr>
          <a:xfrm>
            <a:off x="566928" y="3710432"/>
            <a:ext cx="5368900" cy="616526"/>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122" name="Text 14"/>
          <p:cNvSpPr txBox="1"/>
          <p:nvPr/>
        </p:nvSpPr>
        <p:spPr>
          <a:xfrm>
            <a:off x="749808" y="3924713"/>
            <a:ext cx="2007450" cy="185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111111"/>
                </a:solidFill>
                <a:latin typeface="Arial"/>
                <a:ea typeface="Arial"/>
                <a:cs typeface="Arial"/>
                <a:sym typeface="Arial"/>
              </a:defRPr>
            </a:lvl1pPr>
          </a:lstStyle>
          <a:p>
            <a:r>
              <a:t>Hypothèses VALIDÉES</a:t>
            </a:r>
          </a:p>
        </p:txBody>
      </p:sp>
      <p:sp>
        <p:nvSpPr>
          <p:cNvPr id="123" name="Shape 21"/>
          <p:cNvSpPr/>
          <p:nvPr/>
        </p:nvSpPr>
        <p:spPr>
          <a:xfrm>
            <a:off x="566928" y="4555744"/>
            <a:ext cx="5368900" cy="1563873"/>
          </a:xfrm>
          <a:prstGeom prst="rect">
            <a:avLst/>
          </a:prstGeom>
          <a:solidFill>
            <a:srgbClr val="FFFFFF"/>
          </a:solidFill>
          <a:ln w="19050">
            <a:solidFill>
              <a:srgbClr val="000000"/>
            </a:solidFill>
          </a:ln>
        </p:spPr>
        <p:txBody>
          <a:bodyPr lIns="45718" tIns="45718" rIns="45718" bIns="45718"/>
          <a:lstStyle/>
          <a:p>
            <a:pPr lvl="0"/>
            <a:endParaRPr lang="fr-FR" sz="1600" dirty="0"/>
          </a:p>
          <a:p>
            <a:pPr lvl="0"/>
            <a:endParaRPr lang="fr-FR" sz="1600" dirty="0"/>
          </a:p>
          <a:p>
            <a:pPr lvl="0"/>
            <a:r>
              <a:rPr lang="fr-FR" sz="1600" dirty="0"/>
              <a:t>Comment mesurer techniquement et prouver le "seuil" d'utilisation de l'IA sans que cela soit une usine à gaz ?</a:t>
            </a:r>
          </a:p>
          <a:p>
            <a:pPr lvl="0"/>
            <a:r>
              <a:rPr lang="fr-FR" sz="1600" dirty="0"/>
              <a:t>Quel modèle économique adopter pour que la certification reste abordable pour les freelances ?</a:t>
            </a:r>
          </a:p>
        </p:txBody>
      </p:sp>
      <p:sp>
        <p:nvSpPr>
          <p:cNvPr id="124" name="Text 22"/>
          <p:cNvSpPr txBox="1"/>
          <p:nvPr/>
        </p:nvSpPr>
        <p:spPr>
          <a:xfrm>
            <a:off x="749808" y="4719225"/>
            <a:ext cx="5003140" cy="185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111111"/>
                </a:solidFill>
                <a:latin typeface="Arial"/>
                <a:ea typeface="Arial"/>
                <a:cs typeface="Arial"/>
                <a:sym typeface="Arial"/>
              </a:defRPr>
            </a:lvl1pPr>
          </a:lstStyle>
          <a:p>
            <a:r>
              <a:t>Les questions qu'on se pose</a:t>
            </a:r>
          </a:p>
        </p:txBody>
      </p:sp>
      <p:sp>
        <p:nvSpPr>
          <p:cNvPr id="125" name="Shape 25"/>
          <p:cNvSpPr/>
          <p:nvPr/>
        </p:nvSpPr>
        <p:spPr>
          <a:xfrm>
            <a:off x="6255868" y="4555744"/>
            <a:ext cx="5368900" cy="1563873"/>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lang="fr-FR" dirty="0">
              <a:latin typeface="+mn-lt"/>
              <a:sym typeface="Calibri"/>
            </a:endParaRPr>
          </a:p>
          <a:p>
            <a:pPr>
              <a:defRPr>
                <a:latin typeface="+mn-lt"/>
                <a:ea typeface="+mn-ea"/>
                <a:cs typeface="+mn-cs"/>
                <a:sym typeface="Calibri"/>
              </a:defRPr>
            </a:pPr>
            <a:r>
              <a:rPr lang="fr-FR" dirty="0">
                <a:latin typeface="+mn-lt"/>
                <a:sym typeface="Calibri"/>
              </a:rPr>
              <a:t>Créer une "Charte de Transparence" </a:t>
            </a:r>
          </a:p>
          <a:p>
            <a:pPr>
              <a:defRPr>
                <a:latin typeface="+mn-lt"/>
                <a:ea typeface="+mn-ea"/>
                <a:cs typeface="+mn-cs"/>
                <a:sym typeface="Calibri"/>
              </a:defRPr>
            </a:pPr>
            <a:endParaRPr lang="fr-FR" dirty="0">
              <a:latin typeface="+mn-lt"/>
              <a:sym typeface="Calibri"/>
            </a:endParaRPr>
          </a:p>
          <a:p>
            <a:pPr>
              <a:defRPr>
                <a:latin typeface="+mn-lt"/>
                <a:ea typeface="+mn-ea"/>
                <a:cs typeface="+mn-cs"/>
                <a:sym typeface="Calibri"/>
              </a:defRPr>
            </a:pPr>
            <a:r>
              <a:rPr lang="fr-FR" dirty="0">
                <a:latin typeface="+mn-lt"/>
                <a:sym typeface="Calibri"/>
              </a:rPr>
              <a:t>Ajouter une simulation de prix (abonnement ou freemium) pour tester si le frein financier disparaît.</a:t>
            </a:r>
            <a:endParaRPr dirty="0"/>
          </a:p>
        </p:txBody>
      </p:sp>
      <p:sp>
        <p:nvSpPr>
          <p:cNvPr id="126" name="Text 26"/>
          <p:cNvSpPr txBox="1"/>
          <p:nvPr/>
        </p:nvSpPr>
        <p:spPr>
          <a:xfrm>
            <a:off x="6438748" y="4719225"/>
            <a:ext cx="5003142" cy="185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111111"/>
                </a:solidFill>
                <a:latin typeface="Arial"/>
                <a:ea typeface="Arial"/>
                <a:cs typeface="Arial"/>
                <a:sym typeface="Arial"/>
              </a:defRPr>
            </a:lvl1pPr>
          </a:lstStyle>
          <a:p>
            <a:r>
              <a:rPr dirty="0"/>
              <a:t>Nos </a:t>
            </a:r>
            <a:r>
              <a:rPr dirty="0" err="1"/>
              <a:t>idées</a:t>
            </a:r>
            <a:r>
              <a:rPr dirty="0"/>
              <a:t> pour le prochain proto</a:t>
            </a:r>
          </a:p>
        </p:txBody>
      </p:sp>
      <p:pic>
        <p:nvPicPr>
          <p:cNvPr id="127"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28" name="Text 29"/>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29" name="Shape 8"/>
          <p:cNvSpPr/>
          <p:nvPr/>
        </p:nvSpPr>
        <p:spPr>
          <a:xfrm>
            <a:off x="3143898"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30" name="Text 9"/>
          <p:cNvSpPr txBox="1"/>
          <p:nvPr/>
        </p:nvSpPr>
        <p:spPr>
          <a:xfrm>
            <a:off x="3143898"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H1</a:t>
            </a:r>
          </a:p>
        </p:txBody>
      </p:sp>
      <p:sp>
        <p:nvSpPr>
          <p:cNvPr id="131" name="Shape 8"/>
          <p:cNvSpPr/>
          <p:nvPr/>
        </p:nvSpPr>
        <p:spPr>
          <a:xfrm>
            <a:off x="3784134"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32" name="Text 9"/>
          <p:cNvSpPr txBox="1"/>
          <p:nvPr/>
        </p:nvSpPr>
        <p:spPr>
          <a:xfrm>
            <a:off x="3784134"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H2</a:t>
            </a:r>
          </a:p>
        </p:txBody>
      </p:sp>
      <p:sp>
        <p:nvSpPr>
          <p:cNvPr id="133" name="Shape 8"/>
          <p:cNvSpPr/>
          <p:nvPr/>
        </p:nvSpPr>
        <p:spPr>
          <a:xfrm>
            <a:off x="4437069"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34" name="Text 9"/>
          <p:cNvSpPr txBox="1"/>
          <p:nvPr/>
        </p:nvSpPr>
        <p:spPr>
          <a:xfrm>
            <a:off x="4437069"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H3</a:t>
            </a:r>
          </a:p>
        </p:txBody>
      </p:sp>
      <p:sp>
        <p:nvSpPr>
          <p:cNvPr id="135" name="Shape 8"/>
          <p:cNvSpPr/>
          <p:nvPr/>
        </p:nvSpPr>
        <p:spPr>
          <a:xfrm>
            <a:off x="5077305"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36" name="Text 9"/>
          <p:cNvSpPr txBox="1"/>
          <p:nvPr/>
        </p:nvSpPr>
        <p:spPr>
          <a:xfrm>
            <a:off x="5077305"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H4</a:t>
            </a:r>
          </a:p>
        </p:txBody>
      </p:sp>
      <p:sp>
        <p:nvSpPr>
          <p:cNvPr id="137" name="Shape 13"/>
          <p:cNvSpPr/>
          <p:nvPr/>
        </p:nvSpPr>
        <p:spPr>
          <a:xfrm>
            <a:off x="6255868" y="3710432"/>
            <a:ext cx="5368900" cy="616526"/>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a:p>
        </p:txBody>
      </p:sp>
      <p:sp>
        <p:nvSpPr>
          <p:cNvPr id="138" name="Text 14"/>
          <p:cNvSpPr txBox="1"/>
          <p:nvPr/>
        </p:nvSpPr>
        <p:spPr>
          <a:xfrm>
            <a:off x="6438748" y="3924713"/>
            <a:ext cx="2106917" cy="185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300" b="1">
                <a:solidFill>
                  <a:srgbClr val="111111"/>
                </a:solidFill>
                <a:latin typeface="Arial"/>
                <a:ea typeface="Arial"/>
                <a:cs typeface="Arial"/>
                <a:sym typeface="Arial"/>
              </a:defRPr>
            </a:lvl1pPr>
          </a:lstStyle>
          <a:p>
            <a:r>
              <a:t>Hypothèses NON validées</a:t>
            </a:r>
          </a:p>
        </p:txBody>
      </p:sp>
      <p:sp>
        <p:nvSpPr>
          <p:cNvPr id="139" name="Shape 8"/>
          <p:cNvSpPr/>
          <p:nvPr/>
        </p:nvSpPr>
        <p:spPr>
          <a:xfrm>
            <a:off x="8832839"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40" name="Text 9"/>
          <p:cNvSpPr txBox="1"/>
          <p:nvPr/>
        </p:nvSpPr>
        <p:spPr>
          <a:xfrm>
            <a:off x="8832839"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H1</a:t>
            </a:r>
          </a:p>
        </p:txBody>
      </p:sp>
      <p:sp>
        <p:nvSpPr>
          <p:cNvPr id="141" name="Shape 8"/>
          <p:cNvSpPr/>
          <p:nvPr/>
        </p:nvSpPr>
        <p:spPr>
          <a:xfrm>
            <a:off x="9473075"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42" name="Text 9"/>
          <p:cNvSpPr txBox="1"/>
          <p:nvPr/>
        </p:nvSpPr>
        <p:spPr>
          <a:xfrm>
            <a:off x="9473075"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H2</a:t>
            </a:r>
          </a:p>
        </p:txBody>
      </p:sp>
      <p:sp>
        <p:nvSpPr>
          <p:cNvPr id="143" name="Shape 8"/>
          <p:cNvSpPr/>
          <p:nvPr/>
        </p:nvSpPr>
        <p:spPr>
          <a:xfrm>
            <a:off x="10126009"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44" name="Text 9"/>
          <p:cNvSpPr txBox="1"/>
          <p:nvPr/>
        </p:nvSpPr>
        <p:spPr>
          <a:xfrm>
            <a:off x="10126009"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H3</a:t>
            </a:r>
          </a:p>
        </p:txBody>
      </p:sp>
      <p:sp>
        <p:nvSpPr>
          <p:cNvPr id="145" name="Shape 8"/>
          <p:cNvSpPr/>
          <p:nvPr/>
        </p:nvSpPr>
        <p:spPr>
          <a:xfrm>
            <a:off x="10766245" y="3835813"/>
            <a:ext cx="365762" cy="365762"/>
          </a:xfrm>
          <a:prstGeom prst="rect">
            <a:avLst/>
          </a:prstGeom>
          <a:ln w="25400">
            <a:solidFill>
              <a:srgbClr val="000000"/>
            </a:solidFill>
          </a:ln>
        </p:spPr>
        <p:txBody>
          <a:bodyPr lIns="45718" tIns="45718" rIns="45718" bIns="45718"/>
          <a:lstStyle/>
          <a:p>
            <a:pPr>
              <a:defRPr>
                <a:latin typeface="+mn-lt"/>
                <a:ea typeface="+mn-ea"/>
                <a:cs typeface="+mn-cs"/>
                <a:sym typeface="Calibri"/>
              </a:defRPr>
            </a:pPr>
            <a:endParaRPr/>
          </a:p>
        </p:txBody>
      </p:sp>
      <p:sp>
        <p:nvSpPr>
          <p:cNvPr id="146" name="Text 9"/>
          <p:cNvSpPr txBox="1"/>
          <p:nvPr/>
        </p:nvSpPr>
        <p:spPr>
          <a:xfrm>
            <a:off x="10766245" y="3897869"/>
            <a:ext cx="365762" cy="2416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b="1">
                <a:latin typeface="+mn-lt"/>
                <a:ea typeface="+mn-ea"/>
                <a:cs typeface="+mn-cs"/>
                <a:sym typeface="Calibri"/>
              </a:defRPr>
            </a:lvl1pPr>
          </a:lstStyle>
          <a:p>
            <a:r>
              <a:t>H4</a:t>
            </a:r>
          </a:p>
        </p:txBody>
      </p:sp>
      <p:sp>
        <p:nvSpPr>
          <p:cNvPr id="147"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148"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3</a:t>
            </a:r>
          </a:p>
        </p:txBody>
      </p:sp>
      <p:sp>
        <p:nvSpPr>
          <p:cNvPr id="2" name="ZoneTexte 1">
            <a:extLst>
              <a:ext uri="{FF2B5EF4-FFF2-40B4-BE49-F238E27FC236}">
                <a16:creationId xmlns:a16="http://schemas.microsoft.com/office/drawing/2014/main" id="{502DA351-4020-2B63-FA60-2D7E272D84A4}"/>
              </a:ext>
            </a:extLst>
          </p:cNvPr>
          <p:cNvSpPr txBox="1"/>
          <p:nvPr/>
        </p:nvSpPr>
        <p:spPr>
          <a:xfrm>
            <a:off x="725017" y="2184917"/>
            <a:ext cx="5198416" cy="16312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r>
              <a:rPr lang="fr-FR" sz="1200" dirty="0"/>
              <a:t>La certification rassure immédiatement sur le professionnalisme et l'absence d'images volées ou "cheap«  dégagé par l’IA.</a:t>
            </a:r>
          </a:p>
          <a:p>
            <a:pPr lvl="0"/>
            <a:r>
              <a:rPr lang="fr-FR" sz="1200" dirty="0"/>
              <a:t>(notamment dans le luxe) qui cherchent à préserver le savoir-faire humain.</a:t>
            </a:r>
          </a:p>
          <a:p>
            <a:pPr lvl="0"/>
            <a:r>
              <a:rPr lang="fr-FR" sz="1200" dirty="0"/>
              <a:t>L'idée n'est pas d'être "</a:t>
            </a:r>
            <a:r>
              <a:rPr lang="fr-FR" sz="1200" dirty="0" err="1"/>
              <a:t>anti-IA</a:t>
            </a:r>
            <a:r>
              <a:rPr lang="fr-FR" sz="1200" dirty="0"/>
              <a:t>", mais de certifier l'humain </a:t>
            </a:r>
            <a:r>
              <a:rPr lang="fr-FR" sz="1200" i="1" dirty="0"/>
              <a:t>assisté</a:t>
            </a:r>
            <a:r>
              <a:rPr lang="fr-FR" sz="1200" dirty="0"/>
              <a:t> par l'IA ("Je mets de l'IA, mais je ne fais pas 100% IA").</a:t>
            </a:r>
          </a:p>
          <a:p>
            <a:pPr lvl="0"/>
            <a:r>
              <a:rPr lang="fr-FR" sz="1200" dirty="0"/>
              <a:t>La protection des œuvres des artistes face aux reproductions générées par l'IA.</a:t>
            </a:r>
          </a:p>
          <a:p>
            <a:endParaRPr kumimoji="0" lang="fr-FR" sz="1600" b="0" i="0" u="none" strike="noStrike" cap="none" spc="0" normalizeH="0" baseline="0" dirty="0">
              <a:ln>
                <a:noFill/>
              </a:ln>
              <a:solidFill>
                <a:srgbClr val="000000"/>
              </a:solidFill>
              <a:effectLst/>
              <a:uFillTx/>
              <a:latin typeface="+mj-lt"/>
              <a:ea typeface="+mj-ea"/>
              <a:cs typeface="+mj-cs"/>
              <a:sym typeface="Helvetica"/>
            </a:endParaRPr>
          </a:p>
        </p:txBody>
      </p:sp>
      <p:sp>
        <p:nvSpPr>
          <p:cNvPr id="4" name="ZoneTexte 3">
            <a:extLst>
              <a:ext uri="{FF2B5EF4-FFF2-40B4-BE49-F238E27FC236}">
                <a16:creationId xmlns:a16="http://schemas.microsoft.com/office/drawing/2014/main" id="{2E28370F-6F46-8556-7DC0-23867E493795}"/>
              </a:ext>
            </a:extLst>
          </p:cNvPr>
          <p:cNvSpPr txBox="1"/>
          <p:nvPr/>
        </p:nvSpPr>
        <p:spPr>
          <a:xfrm>
            <a:off x="6314290" y="2197225"/>
            <a:ext cx="5127599" cy="13234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342900" lvl="0" indent="-342900">
              <a:buFont typeface="Arial" panose="020B0604020202020204" pitchFamily="34" charset="0"/>
              <a:buChar char="•"/>
            </a:pPr>
            <a:r>
              <a:rPr lang="fr-FR" sz="1600" dirty="0"/>
              <a:t>Le flou sur le "seuil" : à quel pourcentage d'utilisation de l'IA perd-on la certification ? La limite est dure à définir.</a:t>
            </a:r>
          </a:p>
          <a:p>
            <a:pPr marL="342900" lvl="0" indent="-342900">
              <a:buFont typeface="Arial" panose="020B0604020202020204" pitchFamily="34" charset="0"/>
              <a:buChar char="•"/>
            </a:pPr>
            <a:r>
              <a:rPr lang="fr-FR" sz="1600" dirty="0"/>
              <a:t>Le coût de la certification pour les indépendants (le photographe craint que ce soit trop cher).</a:t>
            </a:r>
          </a:p>
        </p:txBody>
      </p:sp>
      <p:sp>
        <p:nvSpPr>
          <p:cNvPr id="6" name="Rectangle 5">
            <a:extLst>
              <a:ext uri="{FF2B5EF4-FFF2-40B4-BE49-F238E27FC236}">
                <a16:creationId xmlns:a16="http://schemas.microsoft.com/office/drawing/2014/main" id="{7EC1E161-47B3-D668-8F0E-88671C2693F6}"/>
              </a:ext>
            </a:extLst>
          </p:cNvPr>
          <p:cNvSpPr/>
          <p:nvPr/>
        </p:nvSpPr>
        <p:spPr>
          <a:xfrm>
            <a:off x="3099910" y="3825393"/>
            <a:ext cx="459273" cy="385446"/>
          </a:xfrm>
          <a:prstGeom prst="rect">
            <a:avLst/>
          </a:prstGeom>
          <a:noFill/>
          <a:ln w="5715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fr-FR" sz="1800" b="0" i="0" u="none" strike="noStrike" cap="none" spc="0" normalizeH="0" baseline="0">
              <a:ln>
                <a:noFill/>
              </a:ln>
              <a:solidFill>
                <a:srgbClr val="000000"/>
              </a:solidFill>
              <a:effectLst/>
              <a:uFillTx/>
              <a:latin typeface="+mj-lt"/>
              <a:ea typeface="+mj-ea"/>
              <a:cs typeface="+mj-cs"/>
              <a:sym typeface="Helvetica"/>
            </a:endParaRPr>
          </a:p>
        </p:txBody>
      </p:sp>
      <p:sp>
        <p:nvSpPr>
          <p:cNvPr id="8" name="Rectangle 7">
            <a:extLst>
              <a:ext uri="{FF2B5EF4-FFF2-40B4-BE49-F238E27FC236}">
                <a16:creationId xmlns:a16="http://schemas.microsoft.com/office/drawing/2014/main" id="{81927D49-5CCF-2A6C-1F32-71E0AFC8D21B}"/>
              </a:ext>
            </a:extLst>
          </p:cNvPr>
          <p:cNvSpPr/>
          <p:nvPr/>
        </p:nvSpPr>
        <p:spPr>
          <a:xfrm>
            <a:off x="4390313" y="3811481"/>
            <a:ext cx="459273" cy="385446"/>
          </a:xfrm>
          <a:prstGeom prst="rect">
            <a:avLst/>
          </a:prstGeom>
          <a:noFill/>
          <a:ln w="57150" cap="flat">
            <a:solidFill>
              <a:srgbClr val="FF0000"/>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fr-FR" sz="1800" b="0" i="0" u="none" strike="noStrike" cap="none" spc="0" normalizeH="0" baseline="0">
              <a:ln>
                <a:noFill/>
              </a:ln>
              <a:solidFill>
                <a:srgbClr val="000000"/>
              </a:solidFill>
              <a:effectLst/>
              <a:uFillTx/>
              <a:latin typeface="+mj-lt"/>
              <a:ea typeface="+mj-ea"/>
              <a:cs typeface="+mj-cs"/>
              <a:sym typeface="Helvetica"/>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 2"/>
          <p:cNvSpPr txBox="1"/>
          <p:nvPr/>
        </p:nvSpPr>
        <p:spPr>
          <a:xfrm>
            <a:off x="1865376" y="553672"/>
            <a:ext cx="7315201"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300">
                <a:solidFill>
                  <a:srgbClr val="111111"/>
                </a:solidFill>
                <a:latin typeface="Arial"/>
                <a:ea typeface="Arial"/>
                <a:cs typeface="Arial"/>
                <a:sym typeface="Arial"/>
              </a:defRPr>
            </a:lvl1pPr>
          </a:lstStyle>
          <a:p>
            <a:r>
              <a:t>TEMPLATE 4 / 5</a:t>
            </a:r>
          </a:p>
        </p:txBody>
      </p:sp>
      <p:sp>
        <p:nvSpPr>
          <p:cNvPr id="151" name="Text 3"/>
          <p:cNvSpPr txBox="1"/>
          <p:nvPr/>
        </p:nvSpPr>
        <p:spPr>
          <a:xfrm>
            <a:off x="566926" y="1005838"/>
            <a:ext cx="11057842"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3000" b="1">
                <a:solidFill>
                  <a:srgbClr val="111111"/>
                </a:solidFill>
                <a:latin typeface="Arial"/>
                <a:ea typeface="Arial"/>
                <a:cs typeface="Arial"/>
                <a:sym typeface="Arial"/>
              </a:defRPr>
            </a:lvl1pPr>
          </a:lstStyle>
          <a:p>
            <a:r>
              <a:t>Proposition de valeur : avant → après</a:t>
            </a:r>
          </a:p>
        </p:txBody>
      </p:sp>
      <p:sp>
        <p:nvSpPr>
          <p:cNvPr id="152" name="Text 4"/>
          <p:cNvSpPr txBox="1"/>
          <p:nvPr/>
        </p:nvSpPr>
        <p:spPr>
          <a:xfrm>
            <a:off x="566926" y="1507974"/>
            <a:ext cx="10874962" cy="1865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defRPr sz="1500" i="1">
                <a:solidFill>
                  <a:srgbClr val="6E6E6E"/>
                </a:solidFill>
                <a:latin typeface="+mn-lt"/>
                <a:ea typeface="+mn-ea"/>
                <a:cs typeface="+mn-cs"/>
                <a:sym typeface="Calibri"/>
              </a:defRPr>
            </a:lvl1pPr>
          </a:lstStyle>
          <a:p>
            <a:r>
              <a:rPr dirty="0"/>
              <a:t>Les tests </a:t>
            </a:r>
            <a:r>
              <a:rPr dirty="0" err="1"/>
              <a:t>ont</a:t>
            </a:r>
            <a:r>
              <a:rPr dirty="0"/>
              <a:t> </a:t>
            </a:r>
            <a:r>
              <a:rPr dirty="0" err="1"/>
              <a:t>peut-être</a:t>
            </a:r>
            <a:r>
              <a:rPr dirty="0"/>
              <a:t> </a:t>
            </a:r>
            <a:r>
              <a:rPr dirty="0" err="1"/>
              <a:t>bougé</a:t>
            </a:r>
            <a:r>
              <a:rPr dirty="0"/>
              <a:t> </a:t>
            </a:r>
            <a:r>
              <a:rPr dirty="0" err="1"/>
              <a:t>votre</a:t>
            </a:r>
            <a:r>
              <a:rPr dirty="0"/>
              <a:t> proposition de </a:t>
            </a:r>
            <a:r>
              <a:rPr dirty="0" err="1"/>
              <a:t>valeur</a:t>
            </a:r>
            <a:r>
              <a:rPr dirty="0"/>
              <a:t>.</a:t>
            </a:r>
          </a:p>
        </p:txBody>
      </p:sp>
      <p:sp>
        <p:nvSpPr>
          <p:cNvPr id="153" name="Shape 5"/>
          <p:cNvSpPr/>
          <p:nvPr/>
        </p:nvSpPr>
        <p:spPr>
          <a:xfrm>
            <a:off x="566927" y="2148839"/>
            <a:ext cx="3350669" cy="1766081"/>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lang="fr-FR" dirty="0">
              <a:latin typeface="+mn-lt"/>
              <a:sym typeface="Calibri"/>
            </a:endParaRPr>
          </a:p>
          <a:p>
            <a:pPr>
              <a:defRPr>
                <a:latin typeface="+mn-lt"/>
                <a:ea typeface="+mn-ea"/>
                <a:cs typeface="+mn-cs"/>
                <a:sym typeface="Calibri"/>
              </a:defRPr>
            </a:pPr>
            <a:endParaRPr lang="fr-FR" sz="1600" dirty="0">
              <a:latin typeface="+mn-lt"/>
              <a:sym typeface="Calibri"/>
            </a:endParaRPr>
          </a:p>
          <a:p>
            <a:pPr>
              <a:defRPr>
                <a:latin typeface="+mn-lt"/>
                <a:ea typeface="+mn-ea"/>
                <a:cs typeface="+mn-cs"/>
                <a:sym typeface="Calibri"/>
              </a:defRPr>
            </a:pPr>
            <a:r>
              <a:rPr lang="fr-FR" sz="1600" dirty="0">
                <a:latin typeface="+mn-lt"/>
                <a:sym typeface="Calibri"/>
              </a:rPr>
              <a:t>Pour les créatifs indépendants qui ont besoin de justifier leurs tarifs, notre solution apporte un label valorisant le temps de réflexion humaine pour prouver leur authenticité face à l'IA.</a:t>
            </a:r>
            <a:endParaRPr sz="1600" dirty="0"/>
          </a:p>
        </p:txBody>
      </p:sp>
      <p:sp>
        <p:nvSpPr>
          <p:cNvPr id="154" name="Text 6"/>
          <p:cNvSpPr txBox="1"/>
          <p:nvPr/>
        </p:nvSpPr>
        <p:spPr>
          <a:xfrm>
            <a:off x="749808" y="2263900"/>
            <a:ext cx="2984907" cy="3002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rPr dirty="0"/>
              <a:t>NOTRE PROPOSITION DE VALEUR (FIN J2)</a:t>
            </a:r>
          </a:p>
        </p:txBody>
      </p:sp>
      <p:sp>
        <p:nvSpPr>
          <p:cNvPr id="155" name="Text 7"/>
          <p:cNvSpPr txBox="1"/>
          <p:nvPr/>
        </p:nvSpPr>
        <p:spPr>
          <a:xfrm>
            <a:off x="3972457" y="2920051"/>
            <a:ext cx="384050" cy="3828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600" b="1">
                <a:solidFill>
                  <a:srgbClr val="2E6BFF"/>
                </a:solidFill>
                <a:latin typeface="Arial"/>
                <a:ea typeface="Arial"/>
                <a:cs typeface="Arial"/>
                <a:sym typeface="Arial"/>
              </a:defRPr>
            </a:lvl1pPr>
          </a:lstStyle>
          <a:p>
            <a:r>
              <a:t>→</a:t>
            </a:r>
          </a:p>
        </p:txBody>
      </p:sp>
      <p:sp>
        <p:nvSpPr>
          <p:cNvPr id="156" name="Shape 8"/>
          <p:cNvSpPr/>
          <p:nvPr/>
        </p:nvSpPr>
        <p:spPr>
          <a:xfrm>
            <a:off x="4320553" y="1710864"/>
            <a:ext cx="3538193" cy="2361086"/>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lang="fr-FR" sz="1400" dirty="0">
              <a:latin typeface="+mn-lt"/>
              <a:sym typeface="Calibri"/>
            </a:endParaRPr>
          </a:p>
          <a:p>
            <a:pPr>
              <a:defRPr>
                <a:latin typeface="+mn-lt"/>
                <a:ea typeface="+mn-ea"/>
                <a:cs typeface="+mn-cs"/>
                <a:sym typeface="Calibri"/>
              </a:defRPr>
            </a:pPr>
            <a:r>
              <a:rPr lang="fr-FR" sz="1400" dirty="0">
                <a:latin typeface="+mn-lt"/>
                <a:sym typeface="Calibri"/>
              </a:rPr>
              <a:t>Les retours ont montré que la solution ne doit pas être perçue comme "</a:t>
            </a:r>
            <a:r>
              <a:rPr lang="fr-FR" sz="1400" dirty="0" err="1">
                <a:latin typeface="+mn-lt"/>
                <a:sym typeface="Calibri"/>
              </a:rPr>
              <a:t>Anti-IA</a:t>
            </a:r>
            <a:r>
              <a:rPr lang="fr-FR" sz="1400" dirty="0">
                <a:latin typeface="+mn-lt"/>
                <a:sym typeface="Calibri"/>
              </a:rPr>
              <a:t>", mais comme la garantie d'une "IA maîtrisée par l'humain". De plus, le label n'attire pas seulement pour des questions d'ego, mais parce qu'il permet de viser une clientèle plus haut de gamme (le luxe). Enfin, la question du seuil (la limite d'usage de l'IA) et le coût du label doivent être clarifiés.</a:t>
            </a:r>
            <a:endParaRPr sz="2000" dirty="0"/>
          </a:p>
        </p:txBody>
      </p:sp>
      <p:sp>
        <p:nvSpPr>
          <p:cNvPr id="157" name="Text 9"/>
          <p:cNvSpPr txBox="1"/>
          <p:nvPr/>
        </p:nvSpPr>
        <p:spPr>
          <a:xfrm>
            <a:off x="4597195" y="1750160"/>
            <a:ext cx="2984908" cy="1478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rPr dirty="0"/>
              <a:t>CE QUE LES TESTS ONT CHANGÉ</a:t>
            </a:r>
          </a:p>
        </p:txBody>
      </p:sp>
      <p:sp>
        <p:nvSpPr>
          <p:cNvPr id="158" name="Text 10"/>
          <p:cNvSpPr txBox="1"/>
          <p:nvPr/>
        </p:nvSpPr>
        <p:spPr>
          <a:xfrm>
            <a:off x="7826044" y="2920051"/>
            <a:ext cx="384050" cy="38289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2600" b="1">
                <a:solidFill>
                  <a:srgbClr val="2E6BFF"/>
                </a:solidFill>
                <a:latin typeface="Arial"/>
                <a:ea typeface="Arial"/>
                <a:cs typeface="Arial"/>
                <a:sym typeface="Arial"/>
              </a:defRPr>
            </a:lvl1pPr>
          </a:lstStyle>
          <a:p>
            <a:r>
              <a:t>→</a:t>
            </a:r>
          </a:p>
        </p:txBody>
      </p:sp>
      <p:sp>
        <p:nvSpPr>
          <p:cNvPr id="159" name="Shape 11"/>
          <p:cNvSpPr/>
          <p:nvPr/>
        </p:nvSpPr>
        <p:spPr>
          <a:xfrm>
            <a:off x="8274101" y="1061218"/>
            <a:ext cx="3350668" cy="3010732"/>
          </a:xfrm>
          <a:prstGeom prst="rect">
            <a:avLst/>
          </a:prstGeom>
          <a:solidFill>
            <a:srgbClr val="FFFFFF"/>
          </a:solidFill>
          <a:ln w="19050">
            <a:solidFill>
              <a:srgbClr val="000000"/>
            </a:solidFill>
          </a:ln>
        </p:spPr>
        <p:txBody>
          <a:bodyPr lIns="45718" tIns="45718" rIns="45718" bIns="45718"/>
          <a:lstStyle/>
          <a:p>
            <a:pPr>
              <a:defRPr>
                <a:latin typeface="+mn-lt"/>
                <a:ea typeface="+mn-ea"/>
                <a:cs typeface="+mn-cs"/>
                <a:sym typeface="Calibri"/>
              </a:defRPr>
            </a:pPr>
            <a:endParaRPr lang="fr-FR" sz="1600" b="1" dirty="0">
              <a:latin typeface="+mn-lt"/>
              <a:sym typeface="Calibri"/>
            </a:endParaRPr>
          </a:p>
          <a:p>
            <a:pPr>
              <a:defRPr>
                <a:latin typeface="+mn-lt"/>
                <a:ea typeface="+mn-ea"/>
                <a:cs typeface="+mn-cs"/>
                <a:sym typeface="Calibri"/>
              </a:defRPr>
            </a:pPr>
            <a:endParaRPr lang="fr-FR" sz="1600" b="1" dirty="0">
              <a:latin typeface="+mn-lt"/>
              <a:sym typeface="Calibri"/>
            </a:endParaRPr>
          </a:p>
          <a:p>
            <a:pPr>
              <a:defRPr>
                <a:latin typeface="+mn-lt"/>
                <a:ea typeface="+mn-ea"/>
                <a:cs typeface="+mn-cs"/>
                <a:sym typeface="Calibri"/>
              </a:defRPr>
            </a:pPr>
            <a:r>
              <a:rPr lang="fr-FR" sz="1600" dirty="0">
                <a:latin typeface="+mn-lt"/>
                <a:sym typeface="Calibri"/>
              </a:rPr>
              <a:t>Pour les créatifs et les marques premium, notre label "Processus Créatif Éthique (PCE)" apporte une certification transparente sur le juste dosage entre savoir-faire humain et assistance IA. Contrairement à aujourd'hui, elle protège les artistes du plagiat, crédibilise leur démarche, et permet aux marques de garantir une image authentique à leurs clients.</a:t>
            </a:r>
            <a:endParaRPr sz="1600" dirty="0"/>
          </a:p>
        </p:txBody>
      </p:sp>
      <p:sp>
        <p:nvSpPr>
          <p:cNvPr id="160" name="Text 12"/>
          <p:cNvSpPr txBox="1"/>
          <p:nvPr/>
        </p:nvSpPr>
        <p:spPr>
          <a:xfrm>
            <a:off x="8274100" y="1068246"/>
            <a:ext cx="2984908" cy="338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100" b="1" spc="120">
                <a:solidFill>
                  <a:srgbClr val="111111"/>
                </a:solidFill>
                <a:latin typeface="Arial"/>
                <a:ea typeface="Arial"/>
                <a:cs typeface="Arial"/>
                <a:sym typeface="Arial"/>
              </a:defRPr>
            </a:lvl1pPr>
          </a:lstStyle>
          <a:p>
            <a:r>
              <a:rPr dirty="0"/>
              <a:t>NOTRE PROPOSITION DE VALEUR CONSOLIDÉE</a:t>
            </a:r>
            <a:endParaRPr lang="fr-FR" dirty="0"/>
          </a:p>
        </p:txBody>
      </p:sp>
      <p:sp>
        <p:nvSpPr>
          <p:cNvPr id="161" name="Shape 13"/>
          <p:cNvSpPr/>
          <p:nvPr/>
        </p:nvSpPr>
        <p:spPr>
          <a:xfrm>
            <a:off x="566926" y="4185370"/>
            <a:ext cx="11057842" cy="1759732"/>
          </a:xfrm>
          <a:prstGeom prst="rect">
            <a:avLst/>
          </a:prstGeom>
          <a:solidFill>
            <a:srgbClr val="FFFFFF"/>
          </a:solidFill>
          <a:ln w="25400">
            <a:solidFill>
              <a:srgbClr val="000000"/>
            </a:solidFill>
          </a:ln>
        </p:spPr>
        <p:txBody>
          <a:bodyPr lIns="45718" tIns="45718" rIns="45718" bIns="45718"/>
          <a:lstStyle/>
          <a:p>
            <a:pPr>
              <a:defRPr>
                <a:latin typeface="+mn-lt"/>
                <a:ea typeface="+mn-ea"/>
                <a:cs typeface="+mn-cs"/>
                <a:sym typeface="Calibri"/>
              </a:defRPr>
            </a:pPr>
            <a:endParaRPr lang="fr-FR" dirty="0">
              <a:latin typeface="+mn-lt"/>
              <a:sym typeface="Calibri"/>
            </a:endParaRPr>
          </a:p>
          <a:p>
            <a:pPr>
              <a:defRPr>
                <a:latin typeface="+mn-lt"/>
                <a:ea typeface="+mn-ea"/>
                <a:cs typeface="+mn-cs"/>
                <a:sym typeface="Calibri"/>
              </a:defRPr>
            </a:pPr>
            <a:endParaRPr lang="fr-FR" dirty="0">
              <a:latin typeface="+mn-lt"/>
              <a:sym typeface="Calibri"/>
            </a:endParaRPr>
          </a:p>
          <a:p>
            <a:pPr>
              <a:defRPr>
                <a:latin typeface="+mn-lt"/>
                <a:ea typeface="+mn-ea"/>
                <a:cs typeface="+mn-cs"/>
                <a:sym typeface="Calibri"/>
              </a:defRPr>
            </a:pPr>
            <a:endParaRPr lang="fr-FR" dirty="0">
              <a:latin typeface="+mn-lt"/>
              <a:sym typeface="Calibri"/>
            </a:endParaRPr>
          </a:p>
          <a:p>
            <a:pPr marL="342900" indent="-342900">
              <a:buAutoNum type="arabicPeriod"/>
              <a:defRPr>
                <a:latin typeface="+mn-lt"/>
                <a:ea typeface="+mn-ea"/>
                <a:cs typeface="+mn-cs"/>
                <a:sym typeface="Calibri"/>
              </a:defRPr>
            </a:pPr>
            <a:r>
              <a:rPr lang="fr-FR" dirty="0">
                <a:latin typeface="+mn-lt"/>
                <a:sym typeface="Calibri"/>
              </a:rPr>
              <a:t>Les créatifs / freelances (Modèle abonnement accessible + certification particulière à la demande) </a:t>
            </a:r>
          </a:p>
          <a:p>
            <a:pPr marL="342900" indent="-342900">
              <a:buAutoNum type="arabicPeriod"/>
              <a:defRPr>
                <a:latin typeface="+mn-lt"/>
                <a:ea typeface="+mn-ea"/>
                <a:cs typeface="+mn-cs"/>
                <a:sym typeface="Calibri"/>
              </a:defRPr>
            </a:pPr>
            <a:r>
              <a:rPr lang="fr-FR" dirty="0">
                <a:latin typeface="+mn-lt"/>
                <a:sym typeface="Calibri"/>
              </a:rPr>
              <a:t>Les marques et agences (B2B - Modèle Premium) : Les gros groupes (ex: LVMH, agences de pub) paient plus cher pour certifier leurs campagnes. Ils paient pour protéger leur image de marque. </a:t>
            </a:r>
            <a:endParaRPr dirty="0"/>
          </a:p>
        </p:txBody>
      </p:sp>
      <p:sp>
        <p:nvSpPr>
          <p:cNvPr id="162" name="Text 14"/>
          <p:cNvSpPr txBox="1"/>
          <p:nvPr/>
        </p:nvSpPr>
        <p:spPr>
          <a:xfrm>
            <a:off x="768095" y="4363672"/>
            <a:ext cx="10655505" cy="1728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b="1" spc="50">
                <a:solidFill>
                  <a:srgbClr val="111111"/>
                </a:solidFill>
                <a:latin typeface="Arial"/>
                <a:ea typeface="Arial"/>
                <a:cs typeface="Arial"/>
                <a:sym typeface="Arial"/>
              </a:defRPr>
            </a:lvl1pPr>
          </a:lstStyle>
          <a:p>
            <a:r>
              <a:t>QUI VA PAYER ?  ET POURQUOI ACCEPTERAIT-IL DE PAYER ?</a:t>
            </a:r>
          </a:p>
        </p:txBody>
      </p:sp>
      <p:sp>
        <p:nvSpPr>
          <p:cNvPr id="163" name="Text 15"/>
          <p:cNvSpPr txBox="1"/>
          <p:nvPr/>
        </p:nvSpPr>
        <p:spPr>
          <a:xfrm>
            <a:off x="768095" y="4719118"/>
            <a:ext cx="10655505" cy="156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200" i="1">
                <a:solidFill>
                  <a:srgbClr val="6E6E6E"/>
                </a:solidFill>
                <a:latin typeface="+mn-lt"/>
                <a:ea typeface="+mn-ea"/>
                <a:cs typeface="+mn-cs"/>
                <a:sym typeface="Calibri"/>
              </a:defRPr>
            </a:lvl1pPr>
          </a:lstStyle>
          <a:p>
            <a:r>
              <a:t>Ce n'est pas toujours l'utilisateur. Parfois c'est l'école, l'entreprise, une marque… La réponse prépare votre Business Model Canvas de l'intersession.</a:t>
            </a:r>
          </a:p>
        </p:txBody>
      </p:sp>
      <p:pic>
        <p:nvPicPr>
          <p:cNvPr id="164" name="Image 0" descr="Image 0"/>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65" name="Text 17"/>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66"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167"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3</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 2"/>
          <p:cNvSpPr txBox="1"/>
          <p:nvPr/>
        </p:nvSpPr>
        <p:spPr>
          <a:xfrm>
            <a:off x="566926" y="1043059"/>
            <a:ext cx="3659115" cy="4193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3000" b="1">
                <a:solidFill>
                  <a:srgbClr val="111111"/>
                </a:solidFill>
                <a:latin typeface="Arial"/>
                <a:ea typeface="Arial"/>
                <a:cs typeface="Arial"/>
                <a:sym typeface="Arial"/>
              </a:defRPr>
            </a:lvl1pPr>
          </a:lstStyle>
          <a:p>
            <a:r>
              <a:t>Le Journal IA</a:t>
            </a:r>
          </a:p>
        </p:txBody>
      </p:sp>
      <p:pic>
        <p:nvPicPr>
          <p:cNvPr id="170" name="Image 1" descr="Image 1"/>
          <p:cNvPicPr>
            <a:picLocks noChangeAspect="1"/>
          </p:cNvPicPr>
          <p:nvPr/>
        </p:nvPicPr>
        <p:blipFill>
          <a:blip r:embed="rId2"/>
          <a:stretch>
            <a:fillRect/>
          </a:stretch>
        </p:blipFill>
        <p:spPr>
          <a:xfrm>
            <a:off x="566927" y="6382510"/>
            <a:ext cx="868682" cy="223116"/>
          </a:xfrm>
          <a:prstGeom prst="rect">
            <a:avLst/>
          </a:prstGeom>
          <a:ln w="12700">
            <a:miter lim="400000"/>
          </a:ln>
        </p:spPr>
      </p:pic>
      <p:sp>
        <p:nvSpPr>
          <p:cNvPr id="171" name="Text 28"/>
          <p:cNvSpPr txBox="1"/>
          <p:nvPr/>
        </p:nvSpPr>
        <p:spPr>
          <a:xfrm>
            <a:off x="8515807" y="6428738"/>
            <a:ext cx="310896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r">
              <a:defRPr sz="900" b="1" spc="200">
                <a:solidFill>
                  <a:srgbClr val="9A9A9A"/>
                </a:solidFill>
                <a:latin typeface="Arial"/>
                <a:ea typeface="Arial"/>
                <a:cs typeface="Arial"/>
                <a:sym typeface="Arial"/>
              </a:defRPr>
            </a:lvl1pPr>
          </a:lstStyle>
          <a:p>
            <a:r>
              <a:t>IDDIC 2026  ·  BREAKING AI</a:t>
            </a:r>
          </a:p>
        </p:txBody>
      </p:sp>
      <p:sp>
        <p:nvSpPr>
          <p:cNvPr id="172" name="Shape 0"/>
          <p:cNvSpPr/>
          <p:nvPr/>
        </p:nvSpPr>
        <p:spPr>
          <a:xfrm>
            <a:off x="566927" y="457200"/>
            <a:ext cx="1234442" cy="384048"/>
          </a:xfrm>
          <a:prstGeom prst="roundRect">
            <a:avLst>
              <a:gd name="adj" fmla="val 50000"/>
            </a:avLst>
          </a:prstGeom>
          <a:solidFill>
            <a:srgbClr val="2E6BFF"/>
          </a:solidFill>
          <a:ln w="12700">
            <a:miter lim="400000"/>
          </a:ln>
        </p:spPr>
        <p:txBody>
          <a:bodyPr lIns="45718" tIns="45718" rIns="45718" bIns="45718"/>
          <a:lstStyle/>
          <a:p>
            <a:pPr>
              <a:defRPr>
                <a:latin typeface="+mn-lt"/>
                <a:ea typeface="+mn-ea"/>
                <a:cs typeface="+mn-cs"/>
                <a:sym typeface="Calibri"/>
              </a:defRPr>
            </a:pPr>
            <a:endParaRPr/>
          </a:p>
        </p:txBody>
      </p:sp>
      <p:sp>
        <p:nvSpPr>
          <p:cNvPr id="173" name="Text 1"/>
          <p:cNvSpPr txBox="1"/>
          <p:nvPr/>
        </p:nvSpPr>
        <p:spPr>
          <a:xfrm>
            <a:off x="566927" y="556674"/>
            <a:ext cx="1234443" cy="1850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lgn="ctr">
              <a:defRPr sz="1300" b="1" spc="200">
                <a:solidFill>
                  <a:srgbClr val="FFFFFF"/>
                </a:solidFill>
                <a:latin typeface="Arial"/>
                <a:ea typeface="Arial"/>
                <a:cs typeface="Arial"/>
                <a:sym typeface="Arial"/>
              </a:defRPr>
            </a:lvl1pPr>
          </a:lstStyle>
          <a:p>
            <a:r>
              <a:t>JOUR 3</a:t>
            </a:r>
          </a:p>
        </p:txBody>
      </p:sp>
      <p:sp>
        <p:nvSpPr>
          <p:cNvPr id="174" name="Text 3"/>
          <p:cNvSpPr txBox="1"/>
          <p:nvPr/>
        </p:nvSpPr>
        <p:spPr>
          <a:xfrm>
            <a:off x="538771" y="1664206"/>
            <a:ext cx="5384130" cy="6465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lvl1pPr>
              <a:defRPr sz="1400" i="1">
                <a:solidFill>
                  <a:srgbClr val="6E6E6E"/>
                </a:solidFill>
                <a:latin typeface="+mn-lt"/>
                <a:ea typeface="+mn-ea"/>
                <a:cs typeface="+mn-cs"/>
                <a:sym typeface="Calibri"/>
              </a:defRPr>
            </a:lvl1pPr>
          </a:lstStyle>
          <a:p>
            <a:r>
              <a:t>Il ne s’agit pas d’évaluer votre utilisation de l’IA, mais d’observer comment l’IA influence concrètement votre travail et de vous aider à prendre du recul sur l’usage.</a:t>
            </a:r>
          </a:p>
        </p:txBody>
      </p:sp>
      <p:pic>
        <p:nvPicPr>
          <p:cNvPr id="175" name="vidéo-collée.png" descr="vidéo-collée.png"/>
          <p:cNvPicPr>
            <a:picLocks noChangeAspect="1"/>
          </p:cNvPicPr>
          <p:nvPr/>
        </p:nvPicPr>
        <p:blipFill>
          <a:blip r:embed="rId3"/>
          <a:stretch>
            <a:fillRect/>
          </a:stretch>
        </p:blipFill>
        <p:spPr>
          <a:xfrm>
            <a:off x="6928843" y="1416049"/>
            <a:ext cx="4089401" cy="4025901"/>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72</TotalTime>
  <Words>1386</Words>
  <Application>Microsoft Office PowerPoint</Application>
  <PresentationFormat>Personnalisé</PresentationFormat>
  <Paragraphs>135</Paragraphs>
  <Slides>8</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8</vt:i4>
      </vt:variant>
    </vt:vector>
  </HeadingPairs>
  <TitlesOfParts>
    <vt:vector size="13" baseType="lpstr">
      <vt:lpstr>Arial</vt:lpstr>
      <vt:lpstr>Calibri</vt:lpstr>
      <vt:lpstr>Calibri Light</vt:lpstr>
      <vt:lpstr>Helvetica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Levana</dc:creator>
  <cp:lastModifiedBy>Levana BENISTI</cp:lastModifiedBy>
  <cp:revision>3</cp:revision>
  <dcterms:modified xsi:type="dcterms:W3CDTF">2026-10-15T07:58:04Z</dcterms:modified>
</cp:coreProperties>
</file>