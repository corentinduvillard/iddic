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5" r:id="rId6"/>
    <p:sldId id="260" r:id="rId7"/>
    <p:sldId id="266" r:id="rId8"/>
    <p:sldId id="261" r:id="rId9"/>
    <p:sldId id="262" r:id="rId10"/>
    <p:sldId id="263" r:id="rId11"/>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257" autoAdjust="0"/>
    <p:restoredTop sz="94660"/>
  </p:normalViewPr>
  <p:slideViewPr>
    <p:cSldViewPr snapToGrid="0">
      <p:cViewPr varScale="1">
        <p:scale>
          <a:sx n="59" d="100"/>
          <a:sy n="59" d="100"/>
        </p:scale>
        <p:origin x="688"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6" name="Shape 26"/>
          <p:cNvSpPr>
            <a:spLocks noGrp="1" noRot="1" noChangeAspect="1"/>
          </p:cNvSpPr>
          <p:nvPr>
            <p:ph type="sldImg"/>
          </p:nvPr>
        </p:nvSpPr>
        <p:spPr>
          <a:xfrm>
            <a:off x="1143000" y="685800"/>
            <a:ext cx="4572000" cy="3429000"/>
          </a:xfrm>
          <a:prstGeom prst="rect">
            <a:avLst/>
          </a:prstGeom>
        </p:spPr>
        <p:txBody>
          <a:bodyPr/>
          <a:lstStyle/>
          <a:p>
            <a:endParaRPr/>
          </a:p>
        </p:txBody>
      </p:sp>
      <p:sp>
        <p:nvSpPr>
          <p:cNvPr id="27" name="Shape 2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1" name="Numéro de diapositive"/>
          <p:cNvSpPr txBox="1">
            <a:spLocks noGrp="1"/>
          </p:cNvSpPr>
          <p:nvPr>
            <p:ph type="sldNum" sz="quarter" idx="2"/>
          </p:nvPr>
        </p:nvSpPr>
        <p:spPr>
          <a:xfrm>
            <a:off x="8469877" y="6232199"/>
            <a:ext cx="258622" cy="248303"/>
          </a:xfrm>
          <a:prstGeom prst="rect">
            <a:avLst/>
          </a:prstGeom>
        </p:spPr>
        <p:txBody>
          <a:bodyPr lIns="45718" tIns="45718" rIns="45718" bIns="45718"/>
          <a:lstStyle>
            <a:lvl1pPr>
              <a:defRPr>
                <a:solidFill>
                  <a:srgbClr val="000000"/>
                </a:solidFill>
                <a:latin typeface="+mj-lt"/>
                <a:ea typeface="+mj-ea"/>
                <a:cs typeface="+mj-cs"/>
                <a:sym typeface="Calibri"/>
              </a:defRPr>
            </a:lvl1pPr>
          </a:lstStyle>
          <a:p>
            <a:fld id="{86CB4B4D-7CA3-9044-876B-883B54F8677D}" type="slidenum">
              <a:t>‹N°›</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e du titre"/>
          <p:cNvSpPr txBox="1">
            <a:spLocks noGrp="1"/>
          </p:cNvSpPr>
          <p:nvPr>
            <p:ph type="title"/>
          </p:nvPr>
        </p:nvSpPr>
        <p:spPr>
          <a:xfrm>
            <a:off x="837326" y="368316"/>
            <a:ext cx="10504648" cy="132418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72" tIns="45672" rIns="45672" bIns="45672" anchor="ctr">
            <a:normAutofit/>
          </a:bodyPr>
          <a:lstStyle/>
          <a:p>
            <a:r>
              <a:t>Texte du titre</a:t>
            </a:r>
          </a:p>
        </p:txBody>
      </p:sp>
      <p:sp>
        <p:nvSpPr>
          <p:cNvPr id="3" name="Texte niveau 1…"/>
          <p:cNvSpPr txBox="1">
            <a:spLocks noGrp="1"/>
          </p:cNvSpPr>
          <p:nvPr>
            <p:ph type="body" idx="1"/>
          </p:nvPr>
        </p:nvSpPr>
        <p:spPr>
          <a:xfrm>
            <a:off x="837326" y="1827295"/>
            <a:ext cx="10504648" cy="434680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72" tIns="45672" rIns="45672" bIns="45672">
            <a:normAutofit/>
          </a:bodyPr>
          <a:lstStyle/>
          <a:p>
            <a:r>
              <a:t>Texte niveau 1</a:t>
            </a:r>
          </a:p>
          <a:p>
            <a:pPr lvl="1"/>
            <a:r>
              <a:t>Texte niveau 2</a:t>
            </a:r>
          </a:p>
          <a:p>
            <a:pPr lvl="2"/>
            <a:r>
              <a:t>Texte niveau 3</a:t>
            </a:r>
          </a:p>
          <a:p>
            <a:pPr lvl="3"/>
            <a:r>
              <a:t>Texte niveau 4</a:t>
            </a:r>
          </a:p>
          <a:p>
            <a:pPr lvl="4"/>
            <a:r>
              <a:t>Texte niveau 5</a:t>
            </a:r>
          </a:p>
        </p:txBody>
      </p:sp>
      <p:sp>
        <p:nvSpPr>
          <p:cNvPr id="4" name="Numéro de diapositive"/>
          <p:cNvSpPr txBox="1">
            <a:spLocks noGrp="1"/>
          </p:cNvSpPr>
          <p:nvPr>
            <p:ph type="sldNum" sz="quarter" idx="2"/>
          </p:nvPr>
        </p:nvSpPr>
        <p:spPr>
          <a:xfrm>
            <a:off x="11068414" y="6401100"/>
            <a:ext cx="273560" cy="269145"/>
          </a:xfrm>
          <a:prstGeom prst="rect">
            <a:avLst/>
          </a:prstGeom>
          <a:ln w="12700">
            <a:miter lim="400000"/>
          </a:ln>
        </p:spPr>
        <p:txBody>
          <a:bodyPr wrap="none" lIns="45672" tIns="45672" rIns="45672" bIns="45672" anchor="ctr">
            <a:spAutoFit/>
          </a:bodyPr>
          <a:lstStyle>
            <a:lvl1pPr algn="r">
              <a:defRPr sz="1200">
                <a:solidFill>
                  <a:srgbClr val="757575"/>
                </a:solidFill>
                <a:latin typeface="Aptos"/>
                <a:ea typeface="Aptos"/>
                <a:cs typeface="Aptos"/>
                <a:sym typeface="Aptos"/>
              </a:defRPr>
            </a:lvl1pPr>
          </a:lstStyle>
          <a:p>
            <a:fld id="{86CB4B4D-7CA3-9044-876B-883B54F8677D}" type="slidenum">
              <a:t>‹N°›</a:t>
            </a:fld>
            <a:endParaRPr/>
          </a:p>
        </p:txBody>
      </p:sp>
    </p:spTree>
  </p:cSld>
  <p:clrMap bg1="lt1" tx1="dk1" bg2="lt2" tx2="dk2" accent1="accent1" accent2="accent2" accent3="accent3" accent4="accent4" accent5="accent5" accent6="accent6" hlink="hlink" folHlink="folHlink"/>
  <p:sldLayoutIdLst>
    <p:sldLayoutId id="2147483649" r:id="rId1"/>
  </p:sldLayoutIdLst>
  <p:transition spd="med"/>
  <p:txStyles>
    <p:titleStyle>
      <a:lvl1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Aptos Display"/>
          <a:ea typeface="Aptos Display"/>
          <a:cs typeface="Aptos Display"/>
          <a:sym typeface="Aptos Display"/>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Aptos"/>
          <a:ea typeface="Aptos"/>
          <a:cs typeface="Aptos"/>
          <a:sym typeface="Aptos"/>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Aptos"/>
          <a:ea typeface="Aptos"/>
          <a:cs typeface="Aptos"/>
          <a:sym typeface="Aptos"/>
        </a:defRPr>
      </a:lvl2pPr>
      <a:lvl3pPr marL="1234438" marR="0" indent="-320038"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Aptos"/>
          <a:ea typeface="Aptos"/>
          <a:cs typeface="Aptos"/>
          <a:sym typeface="Aptos"/>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Aptos"/>
          <a:ea typeface="Aptos"/>
          <a:cs typeface="Aptos"/>
          <a:sym typeface="Aptos"/>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Aptos"/>
          <a:ea typeface="Aptos"/>
          <a:cs typeface="Aptos"/>
          <a:sym typeface="Aptos"/>
        </a:defRPr>
      </a:lvl5pPr>
      <a:lvl6pPr marL="26060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Aptos"/>
          <a:ea typeface="Aptos"/>
          <a:cs typeface="Aptos"/>
          <a:sym typeface="Aptos"/>
        </a:defRPr>
      </a:lvl6pPr>
      <a:lvl7pPr marL="30632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Aptos"/>
          <a:ea typeface="Aptos"/>
          <a:cs typeface="Aptos"/>
          <a:sym typeface="Aptos"/>
        </a:defRPr>
      </a:lvl7pPr>
      <a:lvl8pPr marL="3520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Aptos"/>
          <a:ea typeface="Aptos"/>
          <a:cs typeface="Aptos"/>
          <a:sym typeface="Aptos"/>
        </a:defRPr>
      </a:lvl8pPr>
      <a:lvl9pPr marL="39776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Aptos"/>
          <a:ea typeface="Aptos"/>
          <a:cs typeface="Aptos"/>
          <a:sym typeface="Aptos"/>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ptos"/>
        </a:defRPr>
      </a:lvl1pPr>
      <a:lvl2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ptos"/>
        </a:defRPr>
      </a:lvl2pPr>
      <a:lvl3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ptos"/>
        </a:defRPr>
      </a:lvl3pPr>
      <a:lvl4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ptos"/>
        </a:defRPr>
      </a:lvl4pPr>
      <a:lvl5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ptos"/>
        </a:defRPr>
      </a:lvl5pPr>
      <a:lvl6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ptos"/>
        </a:defRPr>
      </a:lvl6pPr>
      <a:lvl7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ptos"/>
        </a:defRPr>
      </a:lvl7pPr>
      <a:lvl8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ptos"/>
        </a:defRPr>
      </a:lvl8pPr>
      <a:lvl9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pto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 0"/>
          <p:cNvSpPr txBox="1"/>
          <p:nvPr/>
        </p:nvSpPr>
        <p:spPr>
          <a:xfrm>
            <a:off x="566927" y="1135748"/>
            <a:ext cx="10058401" cy="19738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400" b="1" spc="400">
                <a:solidFill>
                  <a:srgbClr val="2E6BFF"/>
                </a:solidFill>
                <a:latin typeface="Arial"/>
                <a:ea typeface="Arial"/>
                <a:cs typeface="Arial"/>
                <a:sym typeface="Arial"/>
              </a:defRPr>
            </a:lvl1pPr>
          </a:lstStyle>
          <a:p>
            <a:r>
              <a:t>IDDIC 2026   ·   IA &amp; INNOVATION</a:t>
            </a:r>
          </a:p>
        </p:txBody>
      </p:sp>
      <p:sp>
        <p:nvSpPr>
          <p:cNvPr id="30" name="Text 1"/>
          <p:cNvSpPr txBox="1"/>
          <p:nvPr/>
        </p:nvSpPr>
        <p:spPr>
          <a:xfrm>
            <a:off x="566927" y="2281490"/>
            <a:ext cx="10058401" cy="12952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200" b="1">
                <a:solidFill>
                  <a:srgbClr val="111111"/>
                </a:solidFill>
                <a:latin typeface="Arial"/>
                <a:ea typeface="Arial"/>
                <a:cs typeface="Arial"/>
                <a:sym typeface="Arial"/>
              </a:defRPr>
            </a:lvl1pPr>
          </a:lstStyle>
          <a:p>
            <a:r>
              <a:t>JOUR 2</a:t>
            </a:r>
          </a:p>
        </p:txBody>
      </p:sp>
      <p:sp>
        <p:nvSpPr>
          <p:cNvPr id="31" name="Text 2"/>
          <p:cNvSpPr txBox="1"/>
          <p:nvPr/>
        </p:nvSpPr>
        <p:spPr>
          <a:xfrm>
            <a:off x="566926" y="3971564"/>
            <a:ext cx="11057842" cy="5303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defRPr sz="3800" b="1">
                <a:solidFill>
                  <a:srgbClr val="111111"/>
                </a:solidFill>
                <a:latin typeface="Arial"/>
                <a:ea typeface="Arial"/>
                <a:cs typeface="Arial"/>
                <a:sym typeface="Arial"/>
              </a:defRPr>
            </a:pPr>
            <a:r>
              <a:t>Écouter le terrain. </a:t>
            </a:r>
            <a:r>
              <a:rPr>
                <a:solidFill>
                  <a:srgbClr val="2E6BFF"/>
                </a:solidFill>
              </a:rPr>
              <a:t>Comprendre le besoin.</a:t>
            </a:r>
          </a:p>
        </p:txBody>
      </p:sp>
      <p:sp>
        <p:nvSpPr>
          <p:cNvPr id="32" name="Shape 4"/>
          <p:cNvSpPr/>
          <p:nvPr/>
        </p:nvSpPr>
        <p:spPr>
          <a:xfrm>
            <a:off x="566926" y="5303520"/>
            <a:ext cx="6035044" cy="457202"/>
          </a:xfrm>
          <a:prstGeom prst="rect">
            <a:avLst/>
          </a:prstGeom>
          <a:solidFill>
            <a:srgbClr val="FFFFFF"/>
          </a:solidFill>
          <a:ln w="22225">
            <a:solidFill>
              <a:srgbClr val="000000"/>
            </a:solidFill>
          </a:ln>
        </p:spPr>
        <p:txBody>
          <a:bodyPr lIns="45718" tIns="45718" rIns="45718" bIns="45718"/>
          <a:lstStyle/>
          <a:p>
            <a:pPr>
              <a:defRPr>
                <a:latin typeface="+mj-lt"/>
                <a:ea typeface="+mj-ea"/>
                <a:cs typeface="+mj-cs"/>
                <a:sym typeface="Calibri"/>
              </a:defRPr>
            </a:pPr>
            <a:endParaRPr/>
          </a:p>
        </p:txBody>
      </p:sp>
      <p:sp>
        <p:nvSpPr>
          <p:cNvPr id="33" name="Text 5"/>
          <p:cNvSpPr txBox="1"/>
          <p:nvPr/>
        </p:nvSpPr>
        <p:spPr>
          <a:xfrm>
            <a:off x="566926" y="5464347"/>
            <a:ext cx="6035044" cy="1355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000" b="1" spc="50">
                <a:solidFill>
                  <a:srgbClr val="111111"/>
                </a:solidFill>
                <a:latin typeface="Arial"/>
                <a:ea typeface="Arial"/>
                <a:cs typeface="Arial"/>
                <a:sym typeface="Arial"/>
              </a:defRPr>
            </a:lvl1pPr>
          </a:lstStyle>
          <a:p>
            <a:r>
              <a:t>LIVRABLE DU JOUR — M2 · BESOINS VALIDÉS &amp; PROPOSITION DE VALEUR</a:t>
            </a:r>
          </a:p>
        </p:txBody>
      </p:sp>
      <p:pic>
        <p:nvPicPr>
          <p:cNvPr id="34" name="Image 0" descr="Image 0"/>
          <p:cNvPicPr>
            <a:picLocks noChangeAspect="1"/>
          </p:cNvPicPr>
          <p:nvPr/>
        </p:nvPicPr>
        <p:blipFill>
          <a:blip r:embed="rId2"/>
          <a:stretch>
            <a:fillRect/>
          </a:stretch>
        </p:blipFill>
        <p:spPr>
          <a:xfrm>
            <a:off x="566927" y="6382510"/>
            <a:ext cx="868682" cy="223116"/>
          </a:xfrm>
          <a:prstGeom prst="rect">
            <a:avLst/>
          </a:prstGeom>
          <a:ln w="12700">
            <a:miter lim="400000"/>
          </a:ln>
        </p:spPr>
      </p:pic>
      <p:sp>
        <p:nvSpPr>
          <p:cNvPr id="35" name="Text 6"/>
          <p:cNvSpPr txBox="1"/>
          <p:nvPr/>
        </p:nvSpPr>
        <p:spPr>
          <a:xfrm>
            <a:off x="8515807" y="6428738"/>
            <a:ext cx="310896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900" b="1" spc="200">
                <a:solidFill>
                  <a:srgbClr val="9A9A9A"/>
                </a:solidFill>
                <a:latin typeface="Arial"/>
                <a:ea typeface="Arial"/>
                <a:cs typeface="Arial"/>
                <a:sym typeface="Arial"/>
              </a:defRPr>
            </a:lvl1pPr>
          </a:lstStyle>
          <a:p>
            <a:r>
              <a:t>IDDIC 2026  ·  BREAKING AI</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Shape 0"/>
          <p:cNvSpPr/>
          <p:nvPr/>
        </p:nvSpPr>
        <p:spPr>
          <a:xfrm>
            <a:off x="566927" y="457200"/>
            <a:ext cx="1234442" cy="384048"/>
          </a:xfrm>
          <a:prstGeom prst="roundRect">
            <a:avLst>
              <a:gd name="adj" fmla="val 50000"/>
            </a:avLst>
          </a:prstGeom>
          <a:solidFill>
            <a:srgbClr val="2E6BFF"/>
          </a:solidFill>
          <a:ln w="12700">
            <a:miter lim="400000"/>
          </a:ln>
        </p:spPr>
        <p:txBody>
          <a:bodyPr lIns="45718" tIns="45718" rIns="45718" bIns="45718"/>
          <a:lstStyle/>
          <a:p>
            <a:pPr>
              <a:defRPr>
                <a:latin typeface="+mj-lt"/>
                <a:ea typeface="+mj-ea"/>
                <a:cs typeface="+mj-cs"/>
                <a:sym typeface="Calibri"/>
              </a:defRPr>
            </a:pPr>
            <a:endParaRPr/>
          </a:p>
        </p:txBody>
      </p:sp>
      <p:sp>
        <p:nvSpPr>
          <p:cNvPr id="38" name="Text 1"/>
          <p:cNvSpPr txBox="1"/>
          <p:nvPr/>
        </p:nvSpPr>
        <p:spPr>
          <a:xfrm>
            <a:off x="566927" y="556674"/>
            <a:ext cx="1234443" cy="1850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300" b="1" spc="200">
                <a:solidFill>
                  <a:srgbClr val="FFFFFF"/>
                </a:solidFill>
                <a:latin typeface="Arial"/>
                <a:ea typeface="Arial"/>
                <a:cs typeface="Arial"/>
                <a:sym typeface="Arial"/>
              </a:defRPr>
            </a:lvl1pPr>
          </a:lstStyle>
          <a:p>
            <a:r>
              <a:t>JOUR 2</a:t>
            </a:r>
          </a:p>
        </p:txBody>
      </p:sp>
      <p:sp>
        <p:nvSpPr>
          <p:cNvPr id="39" name="Text 2"/>
          <p:cNvSpPr txBox="1"/>
          <p:nvPr/>
        </p:nvSpPr>
        <p:spPr>
          <a:xfrm>
            <a:off x="1984248" y="562815"/>
            <a:ext cx="7315201" cy="1728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b="1" spc="300">
                <a:solidFill>
                  <a:srgbClr val="6E6E6E"/>
                </a:solidFill>
                <a:latin typeface="Arial"/>
                <a:ea typeface="Arial"/>
                <a:cs typeface="Arial"/>
                <a:sym typeface="Arial"/>
              </a:defRPr>
            </a:lvl1pPr>
          </a:lstStyle>
          <a:p>
            <a:r>
              <a:t>LE FIL DU JOUR</a:t>
            </a:r>
          </a:p>
        </p:txBody>
      </p:sp>
      <p:sp>
        <p:nvSpPr>
          <p:cNvPr id="40" name="Text 3"/>
          <p:cNvSpPr txBox="1"/>
          <p:nvPr/>
        </p:nvSpPr>
        <p:spPr>
          <a:xfrm>
            <a:off x="566926" y="1024127"/>
            <a:ext cx="11057842" cy="4566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3200" b="1">
                <a:solidFill>
                  <a:srgbClr val="111111"/>
                </a:solidFill>
                <a:latin typeface="Arial"/>
                <a:ea typeface="Arial"/>
                <a:cs typeface="Arial"/>
                <a:sym typeface="Arial"/>
              </a:defRPr>
            </a:lvl1pPr>
          </a:lstStyle>
          <a:p>
            <a:r>
              <a:t>Ce que vous produisez aujourd'hui</a:t>
            </a:r>
          </a:p>
        </p:txBody>
      </p:sp>
      <p:sp>
        <p:nvSpPr>
          <p:cNvPr id="41" name="Shape 4"/>
          <p:cNvSpPr/>
          <p:nvPr/>
        </p:nvSpPr>
        <p:spPr>
          <a:xfrm>
            <a:off x="566927" y="1874520"/>
            <a:ext cx="7452361" cy="768098"/>
          </a:xfrm>
          <a:prstGeom prst="roundRect">
            <a:avLst>
              <a:gd name="adj" fmla="val 5952"/>
            </a:avLst>
          </a:prstGeom>
          <a:solidFill>
            <a:srgbClr val="F4F5F8"/>
          </a:solidFill>
          <a:ln w="12700">
            <a:solidFill>
              <a:srgbClr val="DCDFE7"/>
            </a:solidFill>
          </a:ln>
        </p:spPr>
        <p:txBody>
          <a:bodyPr lIns="45718" tIns="45718" rIns="45718" bIns="45718"/>
          <a:lstStyle/>
          <a:p>
            <a:pPr>
              <a:defRPr>
                <a:latin typeface="+mj-lt"/>
                <a:ea typeface="+mj-ea"/>
                <a:cs typeface="+mj-cs"/>
                <a:sym typeface="Calibri"/>
              </a:defRPr>
            </a:pPr>
            <a:endParaRPr/>
          </a:p>
        </p:txBody>
      </p:sp>
      <p:sp>
        <p:nvSpPr>
          <p:cNvPr id="42" name="Shape 5"/>
          <p:cNvSpPr/>
          <p:nvPr/>
        </p:nvSpPr>
        <p:spPr>
          <a:xfrm>
            <a:off x="713230" y="2020822"/>
            <a:ext cx="475490" cy="475490"/>
          </a:xfrm>
          <a:prstGeom prst="roundRect">
            <a:avLst>
              <a:gd name="adj" fmla="val 19231"/>
            </a:avLst>
          </a:prstGeom>
          <a:solidFill>
            <a:srgbClr val="2E6BFF"/>
          </a:solidFill>
          <a:ln w="12700">
            <a:miter lim="400000"/>
          </a:ln>
        </p:spPr>
        <p:txBody>
          <a:bodyPr lIns="45718" tIns="45718" rIns="45718" bIns="45718"/>
          <a:lstStyle/>
          <a:p>
            <a:pPr>
              <a:defRPr>
                <a:latin typeface="+mj-lt"/>
                <a:ea typeface="+mj-ea"/>
                <a:cs typeface="+mj-cs"/>
                <a:sym typeface="Calibri"/>
              </a:defRPr>
            </a:pPr>
            <a:endParaRPr/>
          </a:p>
        </p:txBody>
      </p:sp>
      <p:sp>
        <p:nvSpPr>
          <p:cNvPr id="43" name="Text 6"/>
          <p:cNvSpPr txBox="1"/>
          <p:nvPr/>
        </p:nvSpPr>
        <p:spPr>
          <a:xfrm>
            <a:off x="713230" y="2110528"/>
            <a:ext cx="475490" cy="2960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2100" b="1">
                <a:solidFill>
                  <a:srgbClr val="FFFFFF"/>
                </a:solidFill>
                <a:latin typeface="Arial"/>
                <a:ea typeface="Arial"/>
                <a:cs typeface="Arial"/>
                <a:sym typeface="Arial"/>
              </a:defRPr>
            </a:lvl1pPr>
          </a:lstStyle>
          <a:p>
            <a:r>
              <a:t>1</a:t>
            </a:r>
          </a:p>
        </p:txBody>
      </p:sp>
      <p:sp>
        <p:nvSpPr>
          <p:cNvPr id="44" name="Text 7"/>
          <p:cNvSpPr txBox="1"/>
          <p:nvPr/>
        </p:nvSpPr>
        <p:spPr>
          <a:xfrm>
            <a:off x="1353310" y="2048578"/>
            <a:ext cx="6492244" cy="2096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500" b="1">
                <a:solidFill>
                  <a:srgbClr val="111111"/>
                </a:solidFill>
                <a:latin typeface="Arial"/>
                <a:ea typeface="Arial"/>
                <a:cs typeface="Arial"/>
                <a:sym typeface="Arial"/>
              </a:defRPr>
            </a:lvl1pPr>
          </a:lstStyle>
          <a:p>
            <a:r>
              <a:t>L'art de la bonne question</a:t>
            </a:r>
          </a:p>
        </p:txBody>
      </p:sp>
      <p:sp>
        <p:nvSpPr>
          <p:cNvPr id="45" name="Text 8"/>
          <p:cNvSpPr txBox="1"/>
          <p:nvPr/>
        </p:nvSpPr>
        <p:spPr>
          <a:xfrm>
            <a:off x="1353310" y="2344727"/>
            <a:ext cx="6492244" cy="1568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a:solidFill>
                  <a:srgbClr val="6E6E6E"/>
                </a:solidFill>
                <a:latin typeface="+mj-lt"/>
                <a:ea typeface="+mj-ea"/>
                <a:cs typeface="+mj-cs"/>
                <a:sym typeface="Calibri"/>
              </a:defRPr>
            </a:lvl1pPr>
          </a:lstStyle>
          <a:p>
            <a:r>
              <a:t>Poser des questions ouvertes, ancrées dans le vécu, sans souffler la réponse.</a:t>
            </a:r>
          </a:p>
        </p:txBody>
      </p:sp>
      <p:sp>
        <p:nvSpPr>
          <p:cNvPr id="46" name="Shape 9"/>
          <p:cNvSpPr/>
          <p:nvPr/>
        </p:nvSpPr>
        <p:spPr>
          <a:xfrm>
            <a:off x="566927" y="2734055"/>
            <a:ext cx="7452361" cy="768098"/>
          </a:xfrm>
          <a:prstGeom prst="roundRect">
            <a:avLst>
              <a:gd name="adj" fmla="val 5952"/>
            </a:avLst>
          </a:prstGeom>
          <a:solidFill>
            <a:srgbClr val="F4F5F8"/>
          </a:solidFill>
          <a:ln w="12700">
            <a:solidFill>
              <a:srgbClr val="DCDFE7"/>
            </a:solidFill>
          </a:ln>
        </p:spPr>
        <p:txBody>
          <a:bodyPr lIns="45718" tIns="45718" rIns="45718" bIns="45718"/>
          <a:lstStyle/>
          <a:p>
            <a:pPr>
              <a:defRPr>
                <a:latin typeface="+mj-lt"/>
                <a:ea typeface="+mj-ea"/>
                <a:cs typeface="+mj-cs"/>
                <a:sym typeface="Calibri"/>
              </a:defRPr>
            </a:pPr>
            <a:endParaRPr/>
          </a:p>
        </p:txBody>
      </p:sp>
      <p:sp>
        <p:nvSpPr>
          <p:cNvPr id="47" name="Shape 10"/>
          <p:cNvSpPr/>
          <p:nvPr/>
        </p:nvSpPr>
        <p:spPr>
          <a:xfrm>
            <a:off x="713230" y="2880360"/>
            <a:ext cx="475490" cy="475490"/>
          </a:xfrm>
          <a:prstGeom prst="roundRect">
            <a:avLst>
              <a:gd name="adj" fmla="val 19231"/>
            </a:avLst>
          </a:prstGeom>
          <a:solidFill>
            <a:srgbClr val="2E6BFF"/>
          </a:solidFill>
          <a:ln w="12700">
            <a:miter lim="400000"/>
          </a:ln>
        </p:spPr>
        <p:txBody>
          <a:bodyPr lIns="45718" tIns="45718" rIns="45718" bIns="45718"/>
          <a:lstStyle/>
          <a:p>
            <a:pPr>
              <a:defRPr>
                <a:latin typeface="+mj-lt"/>
                <a:ea typeface="+mj-ea"/>
                <a:cs typeface="+mj-cs"/>
                <a:sym typeface="Calibri"/>
              </a:defRPr>
            </a:pPr>
            <a:endParaRPr/>
          </a:p>
        </p:txBody>
      </p:sp>
      <p:sp>
        <p:nvSpPr>
          <p:cNvPr id="48" name="Text 11"/>
          <p:cNvSpPr txBox="1"/>
          <p:nvPr/>
        </p:nvSpPr>
        <p:spPr>
          <a:xfrm>
            <a:off x="713230" y="2970065"/>
            <a:ext cx="475490" cy="2960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2100" b="1">
                <a:solidFill>
                  <a:srgbClr val="FFFFFF"/>
                </a:solidFill>
                <a:latin typeface="Arial"/>
                <a:ea typeface="Arial"/>
                <a:cs typeface="Arial"/>
                <a:sym typeface="Arial"/>
              </a:defRPr>
            </a:lvl1pPr>
          </a:lstStyle>
          <a:p>
            <a:r>
              <a:t>2</a:t>
            </a:r>
          </a:p>
        </p:txBody>
      </p:sp>
      <p:sp>
        <p:nvSpPr>
          <p:cNvPr id="49" name="Text 12"/>
          <p:cNvSpPr txBox="1"/>
          <p:nvPr/>
        </p:nvSpPr>
        <p:spPr>
          <a:xfrm>
            <a:off x="1353310" y="2908113"/>
            <a:ext cx="6492244" cy="2096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500" b="1">
                <a:solidFill>
                  <a:srgbClr val="111111"/>
                </a:solidFill>
                <a:latin typeface="Arial"/>
                <a:ea typeface="Arial"/>
                <a:cs typeface="Arial"/>
                <a:sym typeface="Arial"/>
              </a:defRPr>
            </a:lvl1pPr>
          </a:lstStyle>
          <a:p>
            <a:r>
              <a:t>La récolte de verbatims</a:t>
            </a:r>
          </a:p>
        </p:txBody>
      </p:sp>
      <p:sp>
        <p:nvSpPr>
          <p:cNvPr id="50" name="Text 13"/>
          <p:cNvSpPr txBox="1"/>
          <p:nvPr/>
        </p:nvSpPr>
        <p:spPr>
          <a:xfrm>
            <a:off x="1353310" y="3204262"/>
            <a:ext cx="6492244" cy="1568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a:solidFill>
                  <a:srgbClr val="6E6E6E"/>
                </a:solidFill>
                <a:latin typeface="+mj-lt"/>
                <a:ea typeface="+mj-ea"/>
                <a:cs typeface="+mj-cs"/>
                <a:sym typeface="Calibri"/>
              </a:defRPr>
            </a:lvl1pPr>
          </a:lstStyle>
          <a:p>
            <a:r>
              <a:t>Capturer les phrases exactes — et la question qui les a fait sortir.</a:t>
            </a:r>
          </a:p>
        </p:txBody>
      </p:sp>
      <p:sp>
        <p:nvSpPr>
          <p:cNvPr id="51" name="Shape 14"/>
          <p:cNvSpPr/>
          <p:nvPr/>
        </p:nvSpPr>
        <p:spPr>
          <a:xfrm>
            <a:off x="566927" y="3593591"/>
            <a:ext cx="7452361" cy="768098"/>
          </a:xfrm>
          <a:prstGeom prst="roundRect">
            <a:avLst>
              <a:gd name="adj" fmla="val 5952"/>
            </a:avLst>
          </a:prstGeom>
          <a:solidFill>
            <a:srgbClr val="F4F5F8"/>
          </a:solidFill>
          <a:ln w="12700">
            <a:solidFill>
              <a:srgbClr val="DCDFE7"/>
            </a:solidFill>
          </a:ln>
        </p:spPr>
        <p:txBody>
          <a:bodyPr lIns="45718" tIns="45718" rIns="45718" bIns="45718"/>
          <a:lstStyle/>
          <a:p>
            <a:pPr>
              <a:defRPr>
                <a:latin typeface="+mj-lt"/>
                <a:ea typeface="+mj-ea"/>
                <a:cs typeface="+mj-cs"/>
                <a:sym typeface="Calibri"/>
              </a:defRPr>
            </a:pPr>
            <a:endParaRPr/>
          </a:p>
        </p:txBody>
      </p:sp>
      <p:sp>
        <p:nvSpPr>
          <p:cNvPr id="52" name="Shape 15"/>
          <p:cNvSpPr/>
          <p:nvPr/>
        </p:nvSpPr>
        <p:spPr>
          <a:xfrm>
            <a:off x="713230" y="3739896"/>
            <a:ext cx="475490" cy="475490"/>
          </a:xfrm>
          <a:prstGeom prst="roundRect">
            <a:avLst>
              <a:gd name="adj" fmla="val 19231"/>
            </a:avLst>
          </a:prstGeom>
          <a:solidFill>
            <a:srgbClr val="2E6BFF"/>
          </a:solidFill>
          <a:ln w="12700">
            <a:miter lim="400000"/>
          </a:ln>
        </p:spPr>
        <p:txBody>
          <a:bodyPr lIns="45718" tIns="45718" rIns="45718" bIns="45718"/>
          <a:lstStyle/>
          <a:p>
            <a:pPr>
              <a:defRPr>
                <a:latin typeface="+mj-lt"/>
                <a:ea typeface="+mj-ea"/>
                <a:cs typeface="+mj-cs"/>
                <a:sym typeface="Calibri"/>
              </a:defRPr>
            </a:pPr>
            <a:endParaRPr/>
          </a:p>
        </p:txBody>
      </p:sp>
      <p:sp>
        <p:nvSpPr>
          <p:cNvPr id="53" name="Text 16"/>
          <p:cNvSpPr txBox="1"/>
          <p:nvPr/>
        </p:nvSpPr>
        <p:spPr>
          <a:xfrm>
            <a:off x="713230" y="3829601"/>
            <a:ext cx="475490" cy="2960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2100" b="1">
                <a:solidFill>
                  <a:srgbClr val="FFFFFF"/>
                </a:solidFill>
                <a:latin typeface="Arial"/>
                <a:ea typeface="Arial"/>
                <a:cs typeface="Arial"/>
                <a:sym typeface="Arial"/>
              </a:defRPr>
            </a:lvl1pPr>
          </a:lstStyle>
          <a:p>
            <a:r>
              <a:t>3</a:t>
            </a:r>
          </a:p>
        </p:txBody>
      </p:sp>
      <p:sp>
        <p:nvSpPr>
          <p:cNvPr id="54" name="Text 17"/>
          <p:cNvSpPr txBox="1"/>
          <p:nvPr/>
        </p:nvSpPr>
        <p:spPr>
          <a:xfrm>
            <a:off x="1353310" y="3767649"/>
            <a:ext cx="6492244" cy="2096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500" b="1">
                <a:solidFill>
                  <a:srgbClr val="111111"/>
                </a:solidFill>
                <a:latin typeface="Arial"/>
                <a:ea typeface="Arial"/>
                <a:cs typeface="Arial"/>
                <a:sym typeface="Arial"/>
              </a:defRPr>
            </a:lvl1pPr>
          </a:lstStyle>
          <a:p>
            <a:r>
              <a:t>Du verbatim au besoin</a:t>
            </a:r>
          </a:p>
        </p:txBody>
      </p:sp>
      <p:sp>
        <p:nvSpPr>
          <p:cNvPr id="55" name="Text 18"/>
          <p:cNvSpPr txBox="1"/>
          <p:nvPr/>
        </p:nvSpPr>
        <p:spPr>
          <a:xfrm>
            <a:off x="1353310" y="4063798"/>
            <a:ext cx="6492244" cy="1568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a:solidFill>
                  <a:srgbClr val="6E6E6E"/>
                </a:solidFill>
                <a:latin typeface="+mj-lt"/>
                <a:ea typeface="+mj-ea"/>
                <a:cs typeface="+mj-cs"/>
                <a:sym typeface="Calibri"/>
              </a:defRPr>
            </a:lvl1pPr>
          </a:lstStyle>
          <a:p>
            <a:r>
              <a:t>Remonter de ce qu'on dit à ce dont on a vraiment besoin.</a:t>
            </a:r>
          </a:p>
        </p:txBody>
      </p:sp>
      <p:sp>
        <p:nvSpPr>
          <p:cNvPr id="56" name="Shape 19"/>
          <p:cNvSpPr/>
          <p:nvPr/>
        </p:nvSpPr>
        <p:spPr>
          <a:xfrm>
            <a:off x="566927" y="4453128"/>
            <a:ext cx="7452361" cy="768098"/>
          </a:xfrm>
          <a:prstGeom prst="roundRect">
            <a:avLst>
              <a:gd name="adj" fmla="val 5952"/>
            </a:avLst>
          </a:prstGeom>
          <a:solidFill>
            <a:srgbClr val="F4F5F8"/>
          </a:solidFill>
          <a:ln w="12700">
            <a:solidFill>
              <a:srgbClr val="DCDFE7"/>
            </a:solidFill>
          </a:ln>
        </p:spPr>
        <p:txBody>
          <a:bodyPr lIns="45718" tIns="45718" rIns="45718" bIns="45718"/>
          <a:lstStyle/>
          <a:p>
            <a:pPr>
              <a:defRPr>
                <a:latin typeface="+mj-lt"/>
                <a:ea typeface="+mj-ea"/>
                <a:cs typeface="+mj-cs"/>
                <a:sym typeface="Calibri"/>
              </a:defRPr>
            </a:pPr>
            <a:endParaRPr/>
          </a:p>
        </p:txBody>
      </p:sp>
      <p:sp>
        <p:nvSpPr>
          <p:cNvPr id="57" name="Shape 20"/>
          <p:cNvSpPr/>
          <p:nvPr/>
        </p:nvSpPr>
        <p:spPr>
          <a:xfrm>
            <a:off x="713230" y="4599432"/>
            <a:ext cx="475490" cy="475490"/>
          </a:xfrm>
          <a:prstGeom prst="roundRect">
            <a:avLst>
              <a:gd name="adj" fmla="val 19231"/>
            </a:avLst>
          </a:prstGeom>
          <a:solidFill>
            <a:srgbClr val="2E6BFF"/>
          </a:solidFill>
          <a:ln w="12700">
            <a:miter lim="400000"/>
          </a:ln>
        </p:spPr>
        <p:txBody>
          <a:bodyPr lIns="45718" tIns="45718" rIns="45718" bIns="45718"/>
          <a:lstStyle/>
          <a:p>
            <a:pPr>
              <a:defRPr>
                <a:latin typeface="+mj-lt"/>
                <a:ea typeface="+mj-ea"/>
                <a:cs typeface="+mj-cs"/>
                <a:sym typeface="Calibri"/>
              </a:defRPr>
            </a:pPr>
            <a:endParaRPr/>
          </a:p>
        </p:txBody>
      </p:sp>
      <p:sp>
        <p:nvSpPr>
          <p:cNvPr id="58" name="Text 21"/>
          <p:cNvSpPr txBox="1"/>
          <p:nvPr/>
        </p:nvSpPr>
        <p:spPr>
          <a:xfrm>
            <a:off x="713230" y="4689137"/>
            <a:ext cx="475490" cy="2960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2100" b="1">
                <a:solidFill>
                  <a:srgbClr val="FFFFFF"/>
                </a:solidFill>
                <a:latin typeface="Arial"/>
                <a:ea typeface="Arial"/>
                <a:cs typeface="Arial"/>
                <a:sym typeface="Arial"/>
              </a:defRPr>
            </a:lvl1pPr>
          </a:lstStyle>
          <a:p>
            <a:r>
              <a:t>4</a:t>
            </a:r>
          </a:p>
        </p:txBody>
      </p:sp>
      <p:sp>
        <p:nvSpPr>
          <p:cNvPr id="59" name="Text 22"/>
          <p:cNvSpPr txBox="1"/>
          <p:nvPr/>
        </p:nvSpPr>
        <p:spPr>
          <a:xfrm>
            <a:off x="1353310" y="4627186"/>
            <a:ext cx="6492244" cy="2096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500" b="1">
                <a:solidFill>
                  <a:srgbClr val="111111"/>
                </a:solidFill>
                <a:latin typeface="Arial"/>
                <a:ea typeface="Arial"/>
                <a:cs typeface="Arial"/>
                <a:sym typeface="Arial"/>
              </a:defRPr>
            </a:lvl1pPr>
          </a:lstStyle>
          <a:p>
            <a:r>
              <a:t>Vos 3 personas</a:t>
            </a:r>
          </a:p>
        </p:txBody>
      </p:sp>
      <p:sp>
        <p:nvSpPr>
          <p:cNvPr id="60" name="Text 23"/>
          <p:cNvSpPr txBox="1"/>
          <p:nvPr/>
        </p:nvSpPr>
        <p:spPr>
          <a:xfrm>
            <a:off x="1353310" y="4923335"/>
            <a:ext cx="6492244" cy="1568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a:solidFill>
                  <a:srgbClr val="6E6E6E"/>
                </a:solidFill>
                <a:latin typeface="+mj-lt"/>
                <a:ea typeface="+mj-ea"/>
                <a:cs typeface="+mj-cs"/>
                <a:sym typeface="Calibri"/>
              </a:defRPr>
            </a:lvl1pPr>
          </a:lstStyle>
          <a:p>
            <a:r>
              <a:t>Donner un visage à ceux que vous avez rencontrés.</a:t>
            </a:r>
          </a:p>
        </p:txBody>
      </p:sp>
      <p:sp>
        <p:nvSpPr>
          <p:cNvPr id="61" name="Shape 24"/>
          <p:cNvSpPr/>
          <p:nvPr/>
        </p:nvSpPr>
        <p:spPr>
          <a:xfrm>
            <a:off x="566927" y="5312664"/>
            <a:ext cx="7452361" cy="768098"/>
          </a:xfrm>
          <a:prstGeom prst="roundRect">
            <a:avLst>
              <a:gd name="adj" fmla="val 5952"/>
            </a:avLst>
          </a:prstGeom>
          <a:solidFill>
            <a:srgbClr val="F4F5F8"/>
          </a:solidFill>
          <a:ln w="12700">
            <a:solidFill>
              <a:srgbClr val="DCDFE7"/>
            </a:solidFill>
          </a:ln>
        </p:spPr>
        <p:txBody>
          <a:bodyPr lIns="45718" tIns="45718" rIns="45718" bIns="45718"/>
          <a:lstStyle/>
          <a:p>
            <a:pPr>
              <a:defRPr>
                <a:latin typeface="+mj-lt"/>
                <a:ea typeface="+mj-ea"/>
                <a:cs typeface="+mj-cs"/>
                <a:sym typeface="Calibri"/>
              </a:defRPr>
            </a:pPr>
            <a:endParaRPr/>
          </a:p>
        </p:txBody>
      </p:sp>
      <p:sp>
        <p:nvSpPr>
          <p:cNvPr id="62" name="Shape 25"/>
          <p:cNvSpPr/>
          <p:nvPr/>
        </p:nvSpPr>
        <p:spPr>
          <a:xfrm>
            <a:off x="713230" y="5458967"/>
            <a:ext cx="475490" cy="475490"/>
          </a:xfrm>
          <a:prstGeom prst="roundRect">
            <a:avLst>
              <a:gd name="adj" fmla="val 19231"/>
            </a:avLst>
          </a:prstGeom>
          <a:solidFill>
            <a:srgbClr val="2E6BFF"/>
          </a:solidFill>
          <a:ln w="12700">
            <a:miter lim="400000"/>
          </a:ln>
        </p:spPr>
        <p:txBody>
          <a:bodyPr lIns="45718" tIns="45718" rIns="45718" bIns="45718"/>
          <a:lstStyle/>
          <a:p>
            <a:pPr>
              <a:defRPr>
                <a:latin typeface="+mj-lt"/>
                <a:ea typeface="+mj-ea"/>
                <a:cs typeface="+mj-cs"/>
                <a:sym typeface="Calibri"/>
              </a:defRPr>
            </a:pPr>
            <a:endParaRPr/>
          </a:p>
        </p:txBody>
      </p:sp>
      <p:sp>
        <p:nvSpPr>
          <p:cNvPr id="63" name="Text 26"/>
          <p:cNvSpPr txBox="1"/>
          <p:nvPr/>
        </p:nvSpPr>
        <p:spPr>
          <a:xfrm>
            <a:off x="713230" y="5548674"/>
            <a:ext cx="475490" cy="2960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2100" b="1">
                <a:solidFill>
                  <a:srgbClr val="FFFFFF"/>
                </a:solidFill>
                <a:latin typeface="Arial"/>
                <a:ea typeface="Arial"/>
                <a:cs typeface="Arial"/>
                <a:sym typeface="Arial"/>
              </a:defRPr>
            </a:lvl1pPr>
          </a:lstStyle>
          <a:p>
            <a:r>
              <a:t>5</a:t>
            </a:r>
          </a:p>
        </p:txBody>
      </p:sp>
      <p:sp>
        <p:nvSpPr>
          <p:cNvPr id="64" name="Text 27"/>
          <p:cNvSpPr txBox="1"/>
          <p:nvPr/>
        </p:nvSpPr>
        <p:spPr>
          <a:xfrm>
            <a:off x="1353310" y="5486722"/>
            <a:ext cx="6492244" cy="2096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500" b="1">
                <a:solidFill>
                  <a:srgbClr val="111111"/>
                </a:solidFill>
                <a:latin typeface="Arial"/>
                <a:ea typeface="Arial"/>
                <a:cs typeface="Arial"/>
                <a:sym typeface="Arial"/>
              </a:defRPr>
            </a:lvl1pPr>
          </a:lstStyle>
          <a:p>
            <a:r>
              <a:t>Problématique affinée + proposition de valeur</a:t>
            </a:r>
          </a:p>
        </p:txBody>
      </p:sp>
      <p:sp>
        <p:nvSpPr>
          <p:cNvPr id="65" name="Text 28"/>
          <p:cNvSpPr txBox="1"/>
          <p:nvPr/>
        </p:nvSpPr>
        <p:spPr>
          <a:xfrm>
            <a:off x="1353310" y="5782871"/>
            <a:ext cx="6492244" cy="1568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a:solidFill>
                  <a:srgbClr val="6E6E6E"/>
                </a:solidFill>
                <a:latin typeface="+mj-lt"/>
                <a:ea typeface="+mj-ea"/>
                <a:cs typeface="+mj-cs"/>
                <a:sym typeface="Calibri"/>
              </a:defRPr>
            </a:lvl1pPr>
          </a:lstStyle>
          <a:p>
            <a:r>
              <a:t>Reformuler la question, et dire ce que votre solution changerait.</a:t>
            </a:r>
          </a:p>
        </p:txBody>
      </p:sp>
      <p:sp>
        <p:nvSpPr>
          <p:cNvPr id="66" name="Shape 29"/>
          <p:cNvSpPr/>
          <p:nvPr/>
        </p:nvSpPr>
        <p:spPr>
          <a:xfrm>
            <a:off x="8385047" y="1874520"/>
            <a:ext cx="3239721" cy="4206242"/>
          </a:xfrm>
          <a:prstGeom prst="roundRect">
            <a:avLst>
              <a:gd name="adj" fmla="val 1693"/>
            </a:avLst>
          </a:prstGeom>
          <a:solidFill>
            <a:srgbClr val="10131C"/>
          </a:solidFill>
          <a:ln w="12700">
            <a:miter lim="400000"/>
          </a:ln>
        </p:spPr>
        <p:txBody>
          <a:bodyPr lIns="45718" tIns="45718" rIns="45718" bIns="45718"/>
          <a:lstStyle/>
          <a:p>
            <a:pPr>
              <a:defRPr>
                <a:latin typeface="+mj-lt"/>
                <a:ea typeface="+mj-ea"/>
                <a:cs typeface="+mj-cs"/>
                <a:sym typeface="Calibri"/>
              </a:defRPr>
            </a:pPr>
            <a:endParaRPr/>
          </a:p>
        </p:txBody>
      </p:sp>
      <p:pic>
        <p:nvPicPr>
          <p:cNvPr id="67" name="Image 0" descr="Image 0"/>
          <p:cNvPicPr>
            <a:picLocks noChangeAspect="1"/>
          </p:cNvPicPr>
          <p:nvPr/>
        </p:nvPicPr>
        <p:blipFill>
          <a:blip r:embed="rId2"/>
          <a:stretch>
            <a:fillRect/>
          </a:stretch>
        </p:blipFill>
        <p:spPr>
          <a:xfrm>
            <a:off x="8659368" y="2185416"/>
            <a:ext cx="566930" cy="566930"/>
          </a:xfrm>
          <a:prstGeom prst="rect">
            <a:avLst/>
          </a:prstGeom>
          <a:ln w="12700">
            <a:miter lim="400000"/>
          </a:ln>
        </p:spPr>
      </p:pic>
      <p:sp>
        <p:nvSpPr>
          <p:cNvPr id="68" name="Text 30"/>
          <p:cNvSpPr txBox="1"/>
          <p:nvPr/>
        </p:nvSpPr>
        <p:spPr>
          <a:xfrm>
            <a:off x="8659368" y="2961893"/>
            <a:ext cx="2736801" cy="14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b="1" spc="200">
                <a:solidFill>
                  <a:srgbClr val="2E6BFF"/>
                </a:solidFill>
                <a:latin typeface="Arial"/>
                <a:ea typeface="Arial"/>
                <a:cs typeface="Arial"/>
                <a:sym typeface="Arial"/>
              </a:defRPr>
            </a:lvl1pPr>
          </a:lstStyle>
          <a:p>
            <a:r>
              <a:t>+ EN FIN DE JOURNÉE</a:t>
            </a:r>
          </a:p>
        </p:txBody>
      </p:sp>
      <p:sp>
        <p:nvSpPr>
          <p:cNvPr id="69" name="Text 31"/>
          <p:cNvSpPr txBox="1"/>
          <p:nvPr/>
        </p:nvSpPr>
        <p:spPr>
          <a:xfrm>
            <a:off x="8659368" y="3216606"/>
            <a:ext cx="2736801" cy="3333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300" b="1">
                <a:solidFill>
                  <a:srgbClr val="FFFFFF"/>
                </a:solidFill>
                <a:latin typeface="Arial"/>
                <a:ea typeface="Arial"/>
                <a:cs typeface="Arial"/>
                <a:sym typeface="Arial"/>
              </a:defRPr>
            </a:lvl1pPr>
          </a:lstStyle>
          <a:p>
            <a:r>
              <a:t>Le Journal IA</a:t>
            </a:r>
          </a:p>
        </p:txBody>
      </p:sp>
      <p:pic>
        <p:nvPicPr>
          <p:cNvPr id="70" name="Image 1" descr="Image 1"/>
          <p:cNvPicPr>
            <a:picLocks noChangeAspect="1"/>
          </p:cNvPicPr>
          <p:nvPr/>
        </p:nvPicPr>
        <p:blipFill>
          <a:blip r:embed="rId3"/>
          <a:stretch>
            <a:fillRect/>
          </a:stretch>
        </p:blipFill>
        <p:spPr>
          <a:xfrm>
            <a:off x="566927" y="6382510"/>
            <a:ext cx="868682" cy="223116"/>
          </a:xfrm>
          <a:prstGeom prst="rect">
            <a:avLst/>
          </a:prstGeom>
          <a:ln w="12700">
            <a:miter lim="400000"/>
          </a:ln>
        </p:spPr>
      </p:pic>
      <p:sp>
        <p:nvSpPr>
          <p:cNvPr id="71" name="Text 33"/>
          <p:cNvSpPr txBox="1"/>
          <p:nvPr/>
        </p:nvSpPr>
        <p:spPr>
          <a:xfrm>
            <a:off x="8515807" y="6428738"/>
            <a:ext cx="310896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900" b="1" spc="200">
                <a:solidFill>
                  <a:srgbClr val="9A9A9A"/>
                </a:solidFill>
                <a:latin typeface="Arial"/>
                <a:ea typeface="Arial"/>
                <a:cs typeface="Arial"/>
                <a:sym typeface="Arial"/>
              </a:defRPr>
            </a:lvl1pPr>
          </a:lstStyle>
          <a:p>
            <a:r>
              <a:t>IDDIC 2026  ·  BREAKING AI</a:t>
            </a:r>
          </a:p>
        </p:txBody>
      </p:sp>
      <p:sp>
        <p:nvSpPr>
          <p:cNvPr id="72" name="Text 32"/>
          <p:cNvSpPr txBox="1"/>
          <p:nvPr/>
        </p:nvSpPr>
        <p:spPr>
          <a:xfrm>
            <a:off x="8641080" y="3977745"/>
            <a:ext cx="2727657" cy="6398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nSpc>
                <a:spcPct val="120000"/>
              </a:lnSpc>
              <a:defRPr sz="1300">
                <a:solidFill>
                  <a:srgbClr val="C7CCD8"/>
                </a:solidFill>
                <a:latin typeface="+mj-lt"/>
                <a:ea typeface="+mj-ea"/>
                <a:cs typeface="+mj-cs"/>
                <a:sym typeface="Calibri"/>
              </a:defRPr>
            </a:lvl1pPr>
          </a:lstStyle>
          <a:p>
            <a:r>
              <a:t>L’équipe note comment elle a (ou non) utilisé l'IA dans la journée et ce qui l'a surprise. Sans jugement.</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Text 2"/>
          <p:cNvSpPr txBox="1"/>
          <p:nvPr/>
        </p:nvSpPr>
        <p:spPr>
          <a:xfrm>
            <a:off x="1865376" y="553672"/>
            <a:ext cx="7315201" cy="1728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b="1" spc="300">
                <a:solidFill>
                  <a:srgbClr val="111111"/>
                </a:solidFill>
                <a:latin typeface="Arial"/>
                <a:ea typeface="Arial"/>
                <a:cs typeface="Arial"/>
                <a:sym typeface="Arial"/>
              </a:defRPr>
            </a:lvl1pPr>
          </a:lstStyle>
          <a:p>
            <a:r>
              <a:t>TEMPLATE 1 / 6</a:t>
            </a:r>
          </a:p>
        </p:txBody>
      </p:sp>
      <p:sp>
        <p:nvSpPr>
          <p:cNvPr id="75" name="Text 3"/>
          <p:cNvSpPr txBox="1"/>
          <p:nvPr/>
        </p:nvSpPr>
        <p:spPr>
          <a:xfrm>
            <a:off x="566926" y="1005838"/>
            <a:ext cx="11057842" cy="4193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3000" b="1">
                <a:solidFill>
                  <a:srgbClr val="111111"/>
                </a:solidFill>
                <a:latin typeface="Arial"/>
                <a:ea typeface="Arial"/>
                <a:cs typeface="Arial"/>
                <a:sym typeface="Arial"/>
              </a:defRPr>
            </a:lvl1pPr>
          </a:lstStyle>
          <a:p>
            <a:r>
              <a:t>L'art de la bonne question</a:t>
            </a:r>
          </a:p>
        </p:txBody>
      </p:sp>
      <p:sp>
        <p:nvSpPr>
          <p:cNvPr id="76" name="Text 4"/>
          <p:cNvSpPr txBox="1"/>
          <p:nvPr/>
        </p:nvSpPr>
        <p:spPr>
          <a:xfrm>
            <a:off x="5492925" y="1154748"/>
            <a:ext cx="5890352" cy="1865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500" i="1">
                <a:solidFill>
                  <a:srgbClr val="6E6E6E"/>
                </a:solidFill>
                <a:latin typeface="+mj-lt"/>
                <a:ea typeface="+mj-ea"/>
                <a:cs typeface="+mj-cs"/>
                <a:sym typeface="Calibri"/>
              </a:defRPr>
            </a:lvl1pPr>
          </a:lstStyle>
          <a:p>
            <a:r>
              <a:t>Effectuez une dizaine d’interviews</a:t>
            </a:r>
          </a:p>
        </p:txBody>
      </p:sp>
      <p:sp>
        <p:nvSpPr>
          <p:cNvPr id="77" name="Shape 5"/>
          <p:cNvSpPr/>
          <p:nvPr/>
        </p:nvSpPr>
        <p:spPr>
          <a:xfrm>
            <a:off x="566928" y="1729738"/>
            <a:ext cx="5368900" cy="786386"/>
          </a:xfrm>
          <a:prstGeom prst="rect">
            <a:avLst/>
          </a:prstGeom>
          <a:solidFill>
            <a:srgbClr val="FFFFFF"/>
          </a:solidFill>
          <a:ln w="19050">
            <a:solidFill>
              <a:srgbClr val="000000"/>
            </a:solidFill>
          </a:ln>
        </p:spPr>
        <p:txBody>
          <a:bodyPr lIns="45718" tIns="45718" rIns="45718" bIns="45718"/>
          <a:lstStyle/>
          <a:p>
            <a:pPr>
              <a:defRPr>
                <a:latin typeface="+mj-lt"/>
                <a:ea typeface="+mj-ea"/>
                <a:cs typeface="+mj-cs"/>
                <a:sym typeface="Calibri"/>
              </a:defRPr>
            </a:pPr>
            <a:endParaRPr/>
          </a:p>
        </p:txBody>
      </p:sp>
      <p:sp>
        <p:nvSpPr>
          <p:cNvPr id="78" name="Shape 6"/>
          <p:cNvSpPr/>
          <p:nvPr/>
        </p:nvSpPr>
        <p:spPr>
          <a:xfrm>
            <a:off x="694944" y="1857755"/>
            <a:ext cx="365762" cy="365762"/>
          </a:xfrm>
          <a:prstGeom prst="rect">
            <a:avLst/>
          </a:prstGeom>
          <a:solidFill>
            <a:srgbClr val="000000"/>
          </a:solidFill>
          <a:ln w="12700">
            <a:miter lim="400000"/>
          </a:ln>
        </p:spPr>
        <p:txBody>
          <a:bodyPr lIns="45718" tIns="45718" rIns="45718" bIns="45718"/>
          <a:lstStyle/>
          <a:p>
            <a:pPr>
              <a:defRPr>
                <a:latin typeface="+mj-lt"/>
                <a:ea typeface="+mj-ea"/>
                <a:cs typeface="+mj-cs"/>
                <a:sym typeface="Calibri"/>
              </a:defRPr>
            </a:pPr>
            <a:endParaRPr/>
          </a:p>
        </p:txBody>
      </p:sp>
      <p:sp>
        <p:nvSpPr>
          <p:cNvPr id="79" name="Text 7"/>
          <p:cNvSpPr txBox="1"/>
          <p:nvPr/>
        </p:nvSpPr>
        <p:spPr>
          <a:xfrm>
            <a:off x="694944" y="1929658"/>
            <a:ext cx="365762" cy="2219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600" b="1">
                <a:solidFill>
                  <a:srgbClr val="FFFFFF"/>
                </a:solidFill>
                <a:latin typeface="Arial"/>
                <a:ea typeface="Arial"/>
                <a:cs typeface="Arial"/>
                <a:sym typeface="Arial"/>
              </a:defRPr>
            </a:lvl1pPr>
          </a:lstStyle>
          <a:p>
            <a:r>
              <a:t>1</a:t>
            </a:r>
          </a:p>
        </p:txBody>
      </p:sp>
      <p:sp>
        <p:nvSpPr>
          <p:cNvPr id="80" name="Text 8"/>
          <p:cNvSpPr txBox="1"/>
          <p:nvPr/>
        </p:nvSpPr>
        <p:spPr>
          <a:xfrm>
            <a:off x="1170430" y="1868791"/>
            <a:ext cx="4637384" cy="19738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400" b="1">
                <a:solidFill>
                  <a:srgbClr val="111111"/>
                </a:solidFill>
                <a:latin typeface="Arial"/>
                <a:ea typeface="Arial"/>
                <a:cs typeface="Arial"/>
                <a:sym typeface="Arial"/>
              </a:defRPr>
            </a:lvl1pPr>
          </a:lstStyle>
          <a:p>
            <a:r>
              <a:t>Ouverte</a:t>
            </a:r>
          </a:p>
        </p:txBody>
      </p:sp>
      <p:sp>
        <p:nvSpPr>
          <p:cNvPr id="81" name="Text 9"/>
          <p:cNvSpPr txBox="1"/>
          <p:nvPr/>
        </p:nvSpPr>
        <p:spPr>
          <a:xfrm>
            <a:off x="1170432" y="2095499"/>
            <a:ext cx="4591661" cy="299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100">
                <a:solidFill>
                  <a:srgbClr val="6E6E6E"/>
                </a:solidFill>
                <a:latin typeface="+mj-lt"/>
                <a:ea typeface="+mj-ea"/>
                <a:cs typeface="+mj-cs"/>
                <a:sym typeface="Calibri"/>
              </a:defRPr>
            </a:lvl1pPr>
          </a:lstStyle>
          <a:p>
            <a:r>
              <a:t>« Raconte-moi la dernière fois que… » plutôt que « Est-ce que tu aimes… ? » (qui se répond par oui/non).</a:t>
            </a:r>
          </a:p>
        </p:txBody>
      </p:sp>
      <p:sp>
        <p:nvSpPr>
          <p:cNvPr id="82" name="Shape 10"/>
          <p:cNvSpPr/>
          <p:nvPr/>
        </p:nvSpPr>
        <p:spPr>
          <a:xfrm>
            <a:off x="566928" y="2879850"/>
            <a:ext cx="5368900" cy="786386"/>
          </a:xfrm>
          <a:prstGeom prst="rect">
            <a:avLst/>
          </a:prstGeom>
          <a:solidFill>
            <a:srgbClr val="FFFFFF"/>
          </a:solidFill>
          <a:ln w="19050">
            <a:solidFill>
              <a:srgbClr val="000000"/>
            </a:solidFill>
          </a:ln>
        </p:spPr>
        <p:txBody>
          <a:bodyPr lIns="45718" tIns="45718" rIns="45718" bIns="45718"/>
          <a:lstStyle/>
          <a:p>
            <a:pPr>
              <a:defRPr>
                <a:latin typeface="+mj-lt"/>
                <a:ea typeface="+mj-ea"/>
                <a:cs typeface="+mj-cs"/>
                <a:sym typeface="Calibri"/>
              </a:defRPr>
            </a:pPr>
            <a:endParaRPr/>
          </a:p>
        </p:txBody>
      </p:sp>
      <p:sp>
        <p:nvSpPr>
          <p:cNvPr id="83" name="Shape 11"/>
          <p:cNvSpPr/>
          <p:nvPr/>
        </p:nvSpPr>
        <p:spPr>
          <a:xfrm>
            <a:off x="694944" y="3007866"/>
            <a:ext cx="365762" cy="365762"/>
          </a:xfrm>
          <a:prstGeom prst="rect">
            <a:avLst/>
          </a:prstGeom>
          <a:solidFill>
            <a:srgbClr val="000000"/>
          </a:solidFill>
          <a:ln w="12700">
            <a:miter lim="400000"/>
          </a:ln>
        </p:spPr>
        <p:txBody>
          <a:bodyPr lIns="45718" tIns="45718" rIns="45718" bIns="45718"/>
          <a:lstStyle/>
          <a:p>
            <a:pPr>
              <a:defRPr>
                <a:latin typeface="+mj-lt"/>
                <a:ea typeface="+mj-ea"/>
                <a:cs typeface="+mj-cs"/>
                <a:sym typeface="Calibri"/>
              </a:defRPr>
            </a:pPr>
            <a:endParaRPr/>
          </a:p>
        </p:txBody>
      </p:sp>
      <p:sp>
        <p:nvSpPr>
          <p:cNvPr id="84" name="Text 12"/>
          <p:cNvSpPr txBox="1"/>
          <p:nvPr/>
        </p:nvSpPr>
        <p:spPr>
          <a:xfrm>
            <a:off x="694944" y="3079770"/>
            <a:ext cx="365762" cy="2219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600" b="1">
                <a:solidFill>
                  <a:srgbClr val="FFFFFF"/>
                </a:solidFill>
                <a:latin typeface="Arial"/>
                <a:ea typeface="Arial"/>
                <a:cs typeface="Arial"/>
                <a:sym typeface="Arial"/>
              </a:defRPr>
            </a:lvl1pPr>
          </a:lstStyle>
          <a:p>
            <a:r>
              <a:t>2</a:t>
            </a:r>
          </a:p>
        </p:txBody>
      </p:sp>
      <p:sp>
        <p:nvSpPr>
          <p:cNvPr id="85" name="Text 13"/>
          <p:cNvSpPr txBox="1"/>
          <p:nvPr/>
        </p:nvSpPr>
        <p:spPr>
          <a:xfrm>
            <a:off x="1170430" y="3018903"/>
            <a:ext cx="4637384" cy="19738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400" b="1">
                <a:solidFill>
                  <a:srgbClr val="111111"/>
                </a:solidFill>
                <a:latin typeface="Arial"/>
                <a:ea typeface="Arial"/>
                <a:cs typeface="Arial"/>
                <a:sym typeface="Arial"/>
              </a:defRPr>
            </a:lvl1pPr>
          </a:lstStyle>
          <a:p>
            <a:r>
              <a:t>Ancrée dans le vécu</a:t>
            </a:r>
          </a:p>
        </p:txBody>
      </p:sp>
      <p:sp>
        <p:nvSpPr>
          <p:cNvPr id="86" name="Text 14"/>
          <p:cNvSpPr txBox="1"/>
          <p:nvPr/>
        </p:nvSpPr>
        <p:spPr>
          <a:xfrm>
            <a:off x="1170432" y="3245610"/>
            <a:ext cx="4591661" cy="299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100">
                <a:solidFill>
                  <a:srgbClr val="6E6E6E"/>
                </a:solidFill>
                <a:latin typeface="+mj-lt"/>
                <a:ea typeface="+mj-ea"/>
                <a:cs typeface="+mj-cs"/>
                <a:sym typeface="Calibri"/>
              </a:defRPr>
            </a:lvl1pPr>
          </a:lstStyle>
          <a:p>
            <a:r>
              <a:t>On creuse le passé réel, pas les intentions : « la dernière fois », « la fois où ça a coincé ».</a:t>
            </a:r>
          </a:p>
        </p:txBody>
      </p:sp>
      <p:sp>
        <p:nvSpPr>
          <p:cNvPr id="87" name="Shape 15"/>
          <p:cNvSpPr/>
          <p:nvPr/>
        </p:nvSpPr>
        <p:spPr>
          <a:xfrm>
            <a:off x="566928" y="4029964"/>
            <a:ext cx="5368900" cy="786386"/>
          </a:xfrm>
          <a:prstGeom prst="rect">
            <a:avLst/>
          </a:prstGeom>
          <a:solidFill>
            <a:srgbClr val="FFFFFF"/>
          </a:solidFill>
          <a:ln w="19050">
            <a:solidFill>
              <a:srgbClr val="000000"/>
            </a:solidFill>
          </a:ln>
        </p:spPr>
        <p:txBody>
          <a:bodyPr lIns="45718" tIns="45718" rIns="45718" bIns="45718"/>
          <a:lstStyle/>
          <a:p>
            <a:pPr>
              <a:defRPr>
                <a:latin typeface="+mj-lt"/>
                <a:ea typeface="+mj-ea"/>
                <a:cs typeface="+mj-cs"/>
                <a:sym typeface="Calibri"/>
              </a:defRPr>
            </a:pPr>
            <a:endParaRPr/>
          </a:p>
        </p:txBody>
      </p:sp>
      <p:sp>
        <p:nvSpPr>
          <p:cNvPr id="88" name="Shape 16"/>
          <p:cNvSpPr/>
          <p:nvPr/>
        </p:nvSpPr>
        <p:spPr>
          <a:xfrm>
            <a:off x="694944" y="4157979"/>
            <a:ext cx="365762" cy="365762"/>
          </a:xfrm>
          <a:prstGeom prst="rect">
            <a:avLst/>
          </a:prstGeom>
          <a:solidFill>
            <a:srgbClr val="000000"/>
          </a:solidFill>
          <a:ln w="12700">
            <a:miter lim="400000"/>
          </a:ln>
        </p:spPr>
        <p:txBody>
          <a:bodyPr lIns="45718" tIns="45718" rIns="45718" bIns="45718"/>
          <a:lstStyle/>
          <a:p>
            <a:pPr>
              <a:defRPr>
                <a:latin typeface="+mj-lt"/>
                <a:ea typeface="+mj-ea"/>
                <a:cs typeface="+mj-cs"/>
                <a:sym typeface="Calibri"/>
              </a:defRPr>
            </a:pPr>
            <a:endParaRPr/>
          </a:p>
        </p:txBody>
      </p:sp>
      <p:sp>
        <p:nvSpPr>
          <p:cNvPr id="89" name="Text 17"/>
          <p:cNvSpPr txBox="1"/>
          <p:nvPr/>
        </p:nvSpPr>
        <p:spPr>
          <a:xfrm>
            <a:off x="694944" y="4229882"/>
            <a:ext cx="365762" cy="2219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600" b="1">
                <a:solidFill>
                  <a:srgbClr val="FFFFFF"/>
                </a:solidFill>
                <a:latin typeface="Arial"/>
                <a:ea typeface="Arial"/>
                <a:cs typeface="Arial"/>
                <a:sym typeface="Arial"/>
              </a:defRPr>
            </a:lvl1pPr>
          </a:lstStyle>
          <a:p>
            <a:r>
              <a:t>3</a:t>
            </a:r>
          </a:p>
        </p:txBody>
      </p:sp>
      <p:sp>
        <p:nvSpPr>
          <p:cNvPr id="90" name="Text 18"/>
          <p:cNvSpPr txBox="1"/>
          <p:nvPr/>
        </p:nvSpPr>
        <p:spPr>
          <a:xfrm>
            <a:off x="1170430" y="4169016"/>
            <a:ext cx="4637384" cy="19738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400" b="1">
                <a:solidFill>
                  <a:srgbClr val="111111"/>
                </a:solidFill>
                <a:latin typeface="Arial"/>
                <a:ea typeface="Arial"/>
                <a:cs typeface="Arial"/>
                <a:sym typeface="Arial"/>
              </a:defRPr>
            </a:lvl1pPr>
          </a:lstStyle>
          <a:p>
            <a:r>
              <a:t>Sans souffler la solution</a:t>
            </a:r>
          </a:p>
        </p:txBody>
      </p:sp>
      <p:sp>
        <p:nvSpPr>
          <p:cNvPr id="91" name="Text 19"/>
          <p:cNvSpPr txBox="1"/>
          <p:nvPr/>
        </p:nvSpPr>
        <p:spPr>
          <a:xfrm>
            <a:off x="1170432" y="4395723"/>
            <a:ext cx="4591661" cy="2993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100">
                <a:solidFill>
                  <a:srgbClr val="6E6E6E"/>
                </a:solidFill>
                <a:latin typeface="+mj-lt"/>
                <a:ea typeface="+mj-ea"/>
                <a:cs typeface="+mj-cs"/>
                <a:sym typeface="Calibri"/>
              </a:defRPr>
            </a:lvl1pPr>
          </a:lstStyle>
          <a:p>
            <a:r>
              <a:t>On ne propose rien. On écoute le problème. La solution, c'est votre travail plus tard.</a:t>
            </a:r>
          </a:p>
        </p:txBody>
      </p:sp>
      <p:sp>
        <p:nvSpPr>
          <p:cNvPr id="92" name="Shape 20"/>
          <p:cNvSpPr/>
          <p:nvPr/>
        </p:nvSpPr>
        <p:spPr>
          <a:xfrm>
            <a:off x="566928" y="5195951"/>
            <a:ext cx="5368900" cy="868682"/>
          </a:xfrm>
          <a:prstGeom prst="rect">
            <a:avLst/>
          </a:prstGeom>
          <a:solidFill>
            <a:srgbClr val="FFFFFF"/>
          </a:solidFill>
          <a:ln w="25400">
            <a:solidFill>
              <a:srgbClr val="000000"/>
            </a:solidFill>
          </a:ln>
        </p:spPr>
        <p:txBody>
          <a:bodyPr lIns="45718" tIns="45718" rIns="45718" bIns="45718"/>
          <a:lstStyle/>
          <a:p>
            <a:pPr>
              <a:defRPr>
                <a:latin typeface="+mj-lt"/>
                <a:ea typeface="+mj-ea"/>
                <a:cs typeface="+mj-cs"/>
                <a:sym typeface="Calibri"/>
              </a:defRPr>
            </a:pPr>
            <a:endParaRPr/>
          </a:p>
        </p:txBody>
      </p:sp>
      <p:sp>
        <p:nvSpPr>
          <p:cNvPr id="93" name="Text 21"/>
          <p:cNvSpPr txBox="1"/>
          <p:nvPr/>
        </p:nvSpPr>
        <p:spPr>
          <a:xfrm>
            <a:off x="786384" y="5452686"/>
            <a:ext cx="4929988" cy="35520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lnSpc>
                <a:spcPct val="104999"/>
              </a:lnSpc>
              <a:defRPr sz="1200" b="1">
                <a:solidFill>
                  <a:srgbClr val="111111"/>
                </a:solidFill>
                <a:latin typeface="+mj-lt"/>
                <a:ea typeface="+mj-ea"/>
                <a:cs typeface="+mj-cs"/>
                <a:sym typeface="Calibri"/>
              </a:defRPr>
            </a:pPr>
            <a:r>
              <a:t>ON TRANSFORME  —  </a:t>
            </a:r>
            <a:r>
              <a:rPr b="0"/>
              <a:t>« Tu utiliserais une appli de covoiturage ? » → « Raconte-moi ton dernier trajet galère. » On part du réel, pas du produit.</a:t>
            </a:r>
          </a:p>
        </p:txBody>
      </p:sp>
      <p:sp>
        <p:nvSpPr>
          <p:cNvPr id="94" name="Shape 22"/>
          <p:cNvSpPr/>
          <p:nvPr/>
        </p:nvSpPr>
        <p:spPr>
          <a:xfrm>
            <a:off x="6255868" y="1718229"/>
            <a:ext cx="5368900" cy="4333587"/>
          </a:xfrm>
          <a:prstGeom prst="rect">
            <a:avLst/>
          </a:prstGeom>
          <a:solidFill>
            <a:srgbClr val="FFFFFF"/>
          </a:solidFill>
          <a:ln w="19050">
            <a:solidFill>
              <a:srgbClr val="000000"/>
            </a:solidFill>
          </a:ln>
        </p:spPr>
        <p:txBody>
          <a:bodyPr lIns="45718" tIns="45718" rIns="45718" bIns="45718"/>
          <a:lstStyle/>
          <a:p>
            <a:pPr>
              <a:defRPr>
                <a:latin typeface="+mj-lt"/>
                <a:ea typeface="+mj-ea"/>
                <a:cs typeface="+mj-cs"/>
                <a:sym typeface="Calibri"/>
              </a:defRPr>
            </a:pPr>
            <a:endParaRPr/>
          </a:p>
        </p:txBody>
      </p:sp>
      <p:sp>
        <p:nvSpPr>
          <p:cNvPr id="95" name="Text 23"/>
          <p:cNvSpPr txBox="1"/>
          <p:nvPr/>
        </p:nvSpPr>
        <p:spPr>
          <a:xfrm>
            <a:off x="6438748" y="1910840"/>
            <a:ext cx="5003142" cy="1478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b="1" spc="120">
                <a:solidFill>
                  <a:srgbClr val="111111"/>
                </a:solidFill>
                <a:latin typeface="Arial"/>
                <a:ea typeface="Arial"/>
                <a:cs typeface="Arial"/>
                <a:sym typeface="Arial"/>
              </a:defRPr>
            </a:lvl1pPr>
          </a:lstStyle>
          <a:p>
            <a:r>
              <a:t>NOS 3-4 QUESTIONS D'OUVERTURE</a:t>
            </a:r>
          </a:p>
        </p:txBody>
      </p:sp>
      <p:sp>
        <p:nvSpPr>
          <p:cNvPr id="96" name="Text 24"/>
          <p:cNvSpPr txBox="1"/>
          <p:nvPr/>
        </p:nvSpPr>
        <p:spPr>
          <a:xfrm>
            <a:off x="6438748" y="2131059"/>
            <a:ext cx="5003142" cy="1568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200" i="1">
                <a:solidFill>
                  <a:srgbClr val="6E6E6E"/>
                </a:solidFill>
                <a:latin typeface="+mj-lt"/>
                <a:ea typeface="+mj-ea"/>
                <a:cs typeface="+mj-cs"/>
                <a:sym typeface="Calibri"/>
              </a:defRPr>
            </a:lvl1pPr>
          </a:lstStyle>
          <a:p>
            <a:r>
              <a:t>Testez-les entre vous avant d'aller sur le terrain.</a:t>
            </a:r>
          </a:p>
        </p:txBody>
      </p:sp>
      <p:pic>
        <p:nvPicPr>
          <p:cNvPr id="97" name="Image 0" descr="Image 0"/>
          <p:cNvPicPr>
            <a:picLocks noChangeAspect="1"/>
          </p:cNvPicPr>
          <p:nvPr/>
        </p:nvPicPr>
        <p:blipFill>
          <a:blip r:embed="rId2"/>
          <a:stretch>
            <a:fillRect/>
          </a:stretch>
        </p:blipFill>
        <p:spPr>
          <a:xfrm>
            <a:off x="566927" y="6382510"/>
            <a:ext cx="868682" cy="223116"/>
          </a:xfrm>
          <a:prstGeom prst="rect">
            <a:avLst/>
          </a:prstGeom>
          <a:ln w="12700">
            <a:miter lim="400000"/>
          </a:ln>
        </p:spPr>
      </p:pic>
      <p:sp>
        <p:nvSpPr>
          <p:cNvPr id="98" name="Text 28"/>
          <p:cNvSpPr txBox="1"/>
          <p:nvPr/>
        </p:nvSpPr>
        <p:spPr>
          <a:xfrm>
            <a:off x="8515807" y="6428738"/>
            <a:ext cx="310896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900" b="1" spc="200">
                <a:solidFill>
                  <a:srgbClr val="9A9A9A"/>
                </a:solidFill>
                <a:latin typeface="Arial"/>
                <a:ea typeface="Arial"/>
                <a:cs typeface="Arial"/>
                <a:sym typeface="Arial"/>
              </a:defRPr>
            </a:lvl1pPr>
          </a:lstStyle>
          <a:p>
            <a:r>
              <a:t>IDDIC 2026  ·  BREAKING AI</a:t>
            </a:r>
          </a:p>
        </p:txBody>
      </p:sp>
      <p:sp>
        <p:nvSpPr>
          <p:cNvPr id="99" name="Shape 0"/>
          <p:cNvSpPr/>
          <p:nvPr/>
        </p:nvSpPr>
        <p:spPr>
          <a:xfrm>
            <a:off x="566927" y="457200"/>
            <a:ext cx="1234442" cy="384048"/>
          </a:xfrm>
          <a:prstGeom prst="roundRect">
            <a:avLst>
              <a:gd name="adj" fmla="val 50000"/>
            </a:avLst>
          </a:prstGeom>
          <a:solidFill>
            <a:srgbClr val="2E6BFF"/>
          </a:solidFill>
          <a:ln w="12700">
            <a:miter lim="400000"/>
          </a:ln>
        </p:spPr>
        <p:txBody>
          <a:bodyPr lIns="45718" tIns="45718" rIns="45718" bIns="45718"/>
          <a:lstStyle/>
          <a:p>
            <a:pPr>
              <a:defRPr>
                <a:latin typeface="+mj-lt"/>
                <a:ea typeface="+mj-ea"/>
                <a:cs typeface="+mj-cs"/>
                <a:sym typeface="Calibri"/>
              </a:defRPr>
            </a:pPr>
            <a:endParaRPr/>
          </a:p>
        </p:txBody>
      </p:sp>
      <p:sp>
        <p:nvSpPr>
          <p:cNvPr id="100" name="Text 1"/>
          <p:cNvSpPr txBox="1"/>
          <p:nvPr/>
        </p:nvSpPr>
        <p:spPr>
          <a:xfrm>
            <a:off x="566927" y="556674"/>
            <a:ext cx="1234443" cy="1850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300" b="1" spc="200">
                <a:solidFill>
                  <a:srgbClr val="FFFFFF"/>
                </a:solidFill>
                <a:latin typeface="Arial"/>
                <a:ea typeface="Arial"/>
                <a:cs typeface="Arial"/>
                <a:sym typeface="Arial"/>
              </a:defRPr>
            </a:lvl1pPr>
          </a:lstStyle>
          <a:p>
            <a:r>
              <a:t>JOUR 2</a:t>
            </a:r>
          </a:p>
        </p:txBody>
      </p:sp>
      <p:sp>
        <p:nvSpPr>
          <p:cNvPr id="2" name="ZoneTexte 1">
            <a:extLst>
              <a:ext uri="{FF2B5EF4-FFF2-40B4-BE49-F238E27FC236}">
                <a16:creationId xmlns:a16="http://schemas.microsoft.com/office/drawing/2014/main" id="{F8E32B1B-CB2E-1FD9-CC34-DDD7D1F7289B}"/>
              </a:ext>
            </a:extLst>
          </p:cNvPr>
          <p:cNvSpPr txBox="1"/>
          <p:nvPr/>
        </p:nvSpPr>
        <p:spPr>
          <a:xfrm>
            <a:off x="6365597" y="2326796"/>
            <a:ext cx="5246775" cy="313931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lvl="0" fontAlgn="base"/>
            <a:r>
              <a:rPr lang="fr-FR" sz="1600" dirty="0"/>
              <a:t>1. Présentez vous : dans quel secteur d’activité travaillez vous , Quel est votre poste, quel est votre tranche d'âge? Quelles sont vos missions principales ? </a:t>
            </a:r>
          </a:p>
          <a:p>
            <a:pPr lvl="0" fontAlgn="base"/>
            <a:r>
              <a:rPr lang="fr-FR" sz="1600" dirty="0"/>
              <a:t>2. Comment votre travail à t-il évolué depuis le COVID? </a:t>
            </a:r>
          </a:p>
          <a:p>
            <a:pPr lvl="0" fontAlgn="base"/>
            <a:r>
              <a:rPr lang="fr-FR" sz="1600" dirty="0"/>
              <a:t>3. Quels outils informatiques utilisez-vous au quotidien ? </a:t>
            </a:r>
          </a:p>
          <a:p>
            <a:pPr lvl="0" fontAlgn="base"/>
            <a:r>
              <a:rPr lang="fr-FR" sz="1600" dirty="0"/>
              <a:t>4. Si demain vous deviez recruter , quelles compétences techniques seraient attendues? </a:t>
            </a:r>
          </a:p>
          <a:p>
            <a:pPr lvl="0" fontAlgn="base"/>
            <a:r>
              <a:rPr lang="fr-FR" sz="1600" dirty="0"/>
              <a:t>5. Etes vous informé de la législation qui entoure l'intelligence artificielle  ? Si oui, qu’en pensez vous ? </a:t>
            </a:r>
          </a:p>
          <a:p>
            <a:pPr lvl="0" fontAlgn="base"/>
            <a:r>
              <a:rPr lang="fr-FR" sz="1600" dirty="0"/>
              <a:t>6. Comment imaginez-vous l'évolution de votre entreprise dans 10 ans? </a:t>
            </a:r>
          </a:p>
          <a:p>
            <a:pPr marL="0" marR="0" indent="0" algn="l" defTabSz="914400" rtl="0" fontAlgn="auto" latinLnBrk="0" hangingPunct="0">
              <a:lnSpc>
                <a:spcPct val="100000"/>
              </a:lnSpc>
              <a:spcBef>
                <a:spcPts val="0"/>
              </a:spcBef>
              <a:spcAft>
                <a:spcPts val="0"/>
              </a:spcAft>
              <a:buClrTx/>
              <a:buSzTx/>
              <a:buFontTx/>
              <a:buNone/>
              <a:tabLst/>
            </a:pPr>
            <a:endParaRPr kumimoji="0" lang="fr-FR" sz="1800" b="0" i="0" u="none" strike="noStrike" cap="none" spc="0" normalizeH="0" baseline="0" dirty="0">
              <a:ln>
                <a:noFill/>
              </a:ln>
              <a:solidFill>
                <a:srgbClr val="000000"/>
              </a:solidFill>
              <a:effectLst/>
              <a:uFillTx/>
              <a:latin typeface="+mn-lt"/>
              <a:ea typeface="+mn-ea"/>
              <a:cs typeface="+mn-cs"/>
              <a:sym typeface="Helvetica"/>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ext 2"/>
          <p:cNvSpPr txBox="1"/>
          <p:nvPr/>
        </p:nvSpPr>
        <p:spPr>
          <a:xfrm>
            <a:off x="1865376" y="553672"/>
            <a:ext cx="7315201" cy="1728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b="1" spc="300">
                <a:solidFill>
                  <a:srgbClr val="111111"/>
                </a:solidFill>
                <a:latin typeface="Arial"/>
                <a:ea typeface="Arial"/>
                <a:cs typeface="Arial"/>
                <a:sym typeface="Arial"/>
              </a:defRPr>
            </a:lvl1pPr>
          </a:lstStyle>
          <a:p>
            <a:r>
              <a:t>TEMPLATE 2 / 6</a:t>
            </a:r>
          </a:p>
        </p:txBody>
      </p:sp>
      <p:sp>
        <p:nvSpPr>
          <p:cNvPr id="103" name="Text 3"/>
          <p:cNvSpPr txBox="1"/>
          <p:nvPr/>
        </p:nvSpPr>
        <p:spPr>
          <a:xfrm>
            <a:off x="566926" y="1005838"/>
            <a:ext cx="11057842" cy="4193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3000" b="1">
                <a:solidFill>
                  <a:srgbClr val="111111"/>
                </a:solidFill>
                <a:latin typeface="Arial"/>
                <a:ea typeface="Arial"/>
                <a:cs typeface="Arial"/>
                <a:sym typeface="Arial"/>
              </a:defRPr>
            </a:lvl1pPr>
          </a:lstStyle>
          <a:p>
            <a:r>
              <a:rPr dirty="0"/>
              <a:t>La </a:t>
            </a:r>
            <a:r>
              <a:rPr dirty="0" err="1"/>
              <a:t>récolte</a:t>
            </a:r>
            <a:r>
              <a:rPr dirty="0"/>
              <a:t> de verbatims</a:t>
            </a:r>
          </a:p>
        </p:txBody>
      </p:sp>
      <p:sp>
        <p:nvSpPr>
          <p:cNvPr id="104" name="Text 5"/>
          <p:cNvSpPr txBox="1"/>
          <p:nvPr/>
        </p:nvSpPr>
        <p:spPr>
          <a:xfrm>
            <a:off x="749806" y="1577085"/>
            <a:ext cx="3566162" cy="14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b="1" spc="100">
                <a:solidFill>
                  <a:srgbClr val="2E6BFF"/>
                </a:solidFill>
                <a:latin typeface="Arial"/>
                <a:ea typeface="Arial"/>
                <a:cs typeface="Arial"/>
                <a:sym typeface="Arial"/>
              </a:defRPr>
            </a:lvl1pPr>
          </a:lstStyle>
          <a:p>
            <a:r>
              <a:t>LA QUESTION QU'ON A POSÉE</a:t>
            </a:r>
          </a:p>
        </p:txBody>
      </p:sp>
      <p:sp>
        <p:nvSpPr>
          <p:cNvPr id="105" name="Text 6"/>
          <p:cNvSpPr txBox="1"/>
          <p:nvPr/>
        </p:nvSpPr>
        <p:spPr>
          <a:xfrm>
            <a:off x="4681728" y="1577085"/>
            <a:ext cx="6760159" cy="14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b="1" spc="100">
                <a:solidFill>
                  <a:srgbClr val="2E6BFF"/>
                </a:solidFill>
                <a:latin typeface="Arial"/>
                <a:ea typeface="Arial"/>
                <a:cs typeface="Arial"/>
                <a:sym typeface="Arial"/>
              </a:defRPr>
            </a:lvl1pPr>
          </a:lstStyle>
          <a:p>
            <a:r>
              <a:t>LE VERBATIM (MOT POUR MOT, ENTRE « »)</a:t>
            </a:r>
          </a:p>
        </p:txBody>
      </p:sp>
      <p:sp>
        <p:nvSpPr>
          <p:cNvPr id="106" name="Shape 7"/>
          <p:cNvSpPr/>
          <p:nvPr/>
        </p:nvSpPr>
        <p:spPr>
          <a:xfrm>
            <a:off x="566927" y="1886349"/>
            <a:ext cx="3931923" cy="1268332"/>
          </a:xfrm>
          <a:prstGeom prst="rect">
            <a:avLst/>
          </a:prstGeom>
          <a:solidFill>
            <a:srgbClr val="FFFFFF"/>
          </a:solidFill>
          <a:ln w="19050">
            <a:solidFill>
              <a:srgbClr val="000000"/>
            </a:solidFill>
          </a:ln>
        </p:spPr>
        <p:txBody>
          <a:bodyPr lIns="45718" tIns="45718" rIns="45718" bIns="45718"/>
          <a:lstStyle/>
          <a:p>
            <a:pPr>
              <a:defRPr>
                <a:latin typeface="+mj-lt"/>
                <a:ea typeface="+mj-ea"/>
                <a:cs typeface="+mj-cs"/>
                <a:sym typeface="Calibri"/>
              </a:defRPr>
            </a:pPr>
            <a:endParaRPr/>
          </a:p>
        </p:txBody>
      </p:sp>
      <p:sp>
        <p:nvSpPr>
          <p:cNvPr id="107" name="Shape 8"/>
          <p:cNvSpPr/>
          <p:nvPr/>
        </p:nvSpPr>
        <p:spPr>
          <a:xfrm>
            <a:off x="4498847" y="1886349"/>
            <a:ext cx="7125922" cy="1268332"/>
          </a:xfrm>
          <a:prstGeom prst="rect">
            <a:avLst/>
          </a:prstGeom>
          <a:solidFill>
            <a:srgbClr val="FFFFFF"/>
          </a:solidFill>
          <a:ln w="19050">
            <a:solidFill>
              <a:srgbClr val="000000"/>
            </a:solidFill>
          </a:ln>
        </p:spPr>
        <p:txBody>
          <a:bodyPr lIns="45718" tIns="45718" rIns="45718" bIns="45718"/>
          <a:lstStyle/>
          <a:p>
            <a:pPr>
              <a:defRPr>
                <a:latin typeface="+mj-lt"/>
                <a:ea typeface="+mj-ea"/>
                <a:cs typeface="+mj-cs"/>
                <a:sym typeface="Calibri"/>
              </a:defRPr>
            </a:pPr>
            <a:endParaRPr/>
          </a:p>
        </p:txBody>
      </p:sp>
      <p:sp>
        <p:nvSpPr>
          <p:cNvPr id="108" name="Shape 9"/>
          <p:cNvSpPr/>
          <p:nvPr/>
        </p:nvSpPr>
        <p:spPr>
          <a:xfrm>
            <a:off x="566927" y="2875514"/>
            <a:ext cx="3931923" cy="1106971"/>
          </a:xfrm>
          <a:prstGeom prst="rect">
            <a:avLst/>
          </a:prstGeom>
          <a:solidFill>
            <a:srgbClr val="FFFFFF"/>
          </a:solidFill>
          <a:ln w="19050">
            <a:solidFill>
              <a:srgbClr val="000000"/>
            </a:solidFill>
          </a:ln>
        </p:spPr>
        <p:txBody>
          <a:bodyPr lIns="45718" tIns="45718" rIns="45718" bIns="45718"/>
          <a:lstStyle/>
          <a:p>
            <a:pPr>
              <a:defRPr>
                <a:latin typeface="+mj-lt"/>
                <a:ea typeface="+mj-ea"/>
                <a:cs typeface="+mj-cs"/>
                <a:sym typeface="Calibri"/>
              </a:defRPr>
            </a:pPr>
            <a:r>
              <a:rPr lang="fr-FR" dirty="0">
                <a:latin typeface="+mj-lt"/>
                <a:sym typeface="Calibri"/>
              </a:rPr>
              <a:t>Comment votre travail à t-il évolué depuis l'ouverture?</a:t>
            </a:r>
            <a:endParaRPr dirty="0"/>
          </a:p>
        </p:txBody>
      </p:sp>
      <p:sp>
        <p:nvSpPr>
          <p:cNvPr id="109" name="Shape 10"/>
          <p:cNvSpPr/>
          <p:nvPr/>
        </p:nvSpPr>
        <p:spPr>
          <a:xfrm>
            <a:off x="4498847" y="2875514"/>
            <a:ext cx="7125922" cy="1106971"/>
          </a:xfrm>
          <a:prstGeom prst="rect">
            <a:avLst/>
          </a:prstGeom>
          <a:solidFill>
            <a:srgbClr val="FFFFFF"/>
          </a:solidFill>
          <a:ln w="19050">
            <a:solidFill>
              <a:srgbClr val="000000"/>
            </a:solidFill>
          </a:ln>
        </p:spPr>
        <p:txBody>
          <a:bodyPr lIns="45718" tIns="45718" rIns="45718" bIns="45718"/>
          <a:lstStyle/>
          <a:p>
            <a:pPr>
              <a:defRPr>
                <a:latin typeface="+mj-lt"/>
                <a:ea typeface="+mj-ea"/>
                <a:cs typeface="+mj-cs"/>
                <a:sym typeface="Calibri"/>
              </a:defRPr>
            </a:pPr>
            <a:r>
              <a:rPr lang="fr-FR" b="1" dirty="0">
                <a:latin typeface="+mj-lt"/>
                <a:sym typeface="Calibri"/>
              </a:rPr>
              <a:t>« Les réseaux de manière générale sont inondés de contenus générés par l'IA » </a:t>
            </a:r>
          </a:p>
          <a:p>
            <a:pPr>
              <a:defRPr>
                <a:latin typeface="+mj-lt"/>
                <a:ea typeface="+mj-ea"/>
                <a:cs typeface="+mj-cs"/>
                <a:sym typeface="Calibri"/>
              </a:defRPr>
            </a:pPr>
            <a:r>
              <a:rPr lang="fr-FR" dirty="0">
                <a:latin typeface="+mj-lt"/>
                <a:sym typeface="Calibri"/>
              </a:rPr>
              <a:t>Tatoueuse, 23 ans</a:t>
            </a:r>
            <a:endParaRPr dirty="0"/>
          </a:p>
        </p:txBody>
      </p:sp>
      <p:sp>
        <p:nvSpPr>
          <p:cNvPr id="110" name="Shape 11"/>
          <p:cNvSpPr/>
          <p:nvPr/>
        </p:nvSpPr>
        <p:spPr>
          <a:xfrm>
            <a:off x="566927" y="3959473"/>
            <a:ext cx="3931923" cy="1022447"/>
          </a:xfrm>
          <a:prstGeom prst="rect">
            <a:avLst/>
          </a:prstGeom>
          <a:solidFill>
            <a:srgbClr val="FFFFFF"/>
          </a:solidFill>
          <a:ln w="19050">
            <a:solidFill>
              <a:srgbClr val="000000"/>
            </a:solidFill>
          </a:ln>
        </p:spPr>
        <p:txBody>
          <a:bodyPr lIns="45718" tIns="45718" rIns="45718" bIns="45718"/>
          <a:lstStyle/>
          <a:p>
            <a:pPr>
              <a:defRPr>
                <a:latin typeface="+mj-lt"/>
                <a:ea typeface="+mj-ea"/>
                <a:cs typeface="+mj-cs"/>
                <a:sym typeface="Calibri"/>
              </a:defRPr>
            </a:pPr>
            <a:r>
              <a:rPr lang="fr-FR">
                <a:latin typeface="+mj-lt"/>
                <a:sym typeface="Calibri"/>
              </a:rPr>
              <a:t>Comment imaginez-vous l'évolution de votre entreprise dans 10 ans?</a:t>
            </a:r>
            <a:endParaRPr/>
          </a:p>
        </p:txBody>
      </p:sp>
      <p:sp>
        <p:nvSpPr>
          <p:cNvPr id="111" name="Shape 12"/>
          <p:cNvSpPr/>
          <p:nvPr/>
        </p:nvSpPr>
        <p:spPr>
          <a:xfrm>
            <a:off x="4498847" y="3955760"/>
            <a:ext cx="7125922" cy="1029874"/>
          </a:xfrm>
          <a:prstGeom prst="rect">
            <a:avLst/>
          </a:prstGeom>
          <a:solidFill>
            <a:srgbClr val="FFFFFF"/>
          </a:solidFill>
          <a:ln w="19050">
            <a:solidFill>
              <a:srgbClr val="000000"/>
            </a:solidFill>
          </a:ln>
        </p:spPr>
        <p:txBody>
          <a:bodyPr lIns="45718" tIns="45718" rIns="45718" bIns="45718"/>
          <a:lstStyle/>
          <a:p>
            <a:pPr>
              <a:defRPr>
                <a:latin typeface="+mj-lt"/>
                <a:ea typeface="+mj-ea"/>
                <a:cs typeface="+mj-cs"/>
                <a:sym typeface="Calibri"/>
              </a:defRPr>
            </a:pPr>
            <a:r>
              <a:rPr lang="fr-FR" b="1" dirty="0">
                <a:latin typeface="+mj-lt"/>
                <a:sym typeface="Calibri"/>
              </a:rPr>
              <a:t>« mon quotidien demandera plus de créativité et d'audace pour concurrencer l'IA c'est sur ».</a:t>
            </a:r>
          </a:p>
          <a:p>
            <a:pPr>
              <a:defRPr>
                <a:latin typeface="+mj-lt"/>
                <a:ea typeface="+mj-ea"/>
                <a:cs typeface="+mj-cs"/>
                <a:sym typeface="Calibri"/>
              </a:defRPr>
            </a:pPr>
            <a:r>
              <a:rPr lang="fr-FR" dirty="0">
                <a:latin typeface="+mj-lt"/>
                <a:sym typeface="Calibri"/>
              </a:rPr>
              <a:t>Tatoueuse, 23 ans</a:t>
            </a:r>
            <a:endParaRPr dirty="0"/>
          </a:p>
        </p:txBody>
      </p:sp>
      <p:sp>
        <p:nvSpPr>
          <p:cNvPr id="112" name="Shape 13"/>
          <p:cNvSpPr/>
          <p:nvPr/>
        </p:nvSpPr>
        <p:spPr>
          <a:xfrm>
            <a:off x="566927" y="4973173"/>
            <a:ext cx="3931923" cy="1022448"/>
          </a:xfrm>
          <a:prstGeom prst="rect">
            <a:avLst/>
          </a:prstGeom>
          <a:solidFill>
            <a:srgbClr val="FFFFFF"/>
          </a:solidFill>
          <a:ln w="19050">
            <a:solidFill>
              <a:srgbClr val="000000"/>
            </a:solidFill>
          </a:ln>
        </p:spPr>
        <p:txBody>
          <a:bodyPr lIns="45718" tIns="45718" rIns="45718" bIns="45718"/>
          <a:lstStyle/>
          <a:p>
            <a:pPr>
              <a:defRPr>
                <a:latin typeface="+mj-lt"/>
                <a:ea typeface="+mj-ea"/>
                <a:cs typeface="+mj-cs"/>
                <a:sym typeface="Calibri"/>
              </a:defRPr>
            </a:pPr>
            <a:r>
              <a:rPr lang="fr-FR" dirty="0">
                <a:latin typeface="+mj-lt"/>
                <a:sym typeface="Calibri"/>
              </a:rPr>
              <a:t>Quels sont pour toi les avantages, mais aussi les points négatifs ou les limites de l'IA dans ton quotidien de DA? </a:t>
            </a:r>
            <a:endParaRPr dirty="0"/>
          </a:p>
        </p:txBody>
      </p:sp>
      <p:sp>
        <p:nvSpPr>
          <p:cNvPr id="113" name="Shape 14"/>
          <p:cNvSpPr/>
          <p:nvPr/>
        </p:nvSpPr>
        <p:spPr>
          <a:xfrm>
            <a:off x="4498847" y="4973173"/>
            <a:ext cx="7125922" cy="1022448"/>
          </a:xfrm>
          <a:prstGeom prst="rect">
            <a:avLst/>
          </a:prstGeom>
          <a:solidFill>
            <a:srgbClr val="FFFFFF"/>
          </a:solidFill>
          <a:ln w="19050">
            <a:solidFill>
              <a:srgbClr val="000000"/>
            </a:solidFill>
          </a:ln>
        </p:spPr>
        <p:txBody>
          <a:bodyPr lIns="45718" tIns="45718" rIns="45718" bIns="45718"/>
          <a:lstStyle/>
          <a:p>
            <a:pPr>
              <a:defRPr>
                <a:latin typeface="+mj-lt"/>
                <a:ea typeface="+mj-ea"/>
                <a:cs typeface="+mj-cs"/>
                <a:sym typeface="Calibri"/>
              </a:defRPr>
            </a:pPr>
            <a:r>
              <a:rPr lang="fr-FR" b="1" dirty="0">
                <a:latin typeface="+mj-lt"/>
                <a:sym typeface="Calibri"/>
              </a:rPr>
              <a:t>« le commun des mortels pense qu'avec l'IA tout est possible et rapide, mais ce n'est pas toujours le cas. Et l'IA si c'est mal géré, ça se voit... »</a:t>
            </a:r>
          </a:p>
          <a:p>
            <a:pPr>
              <a:defRPr>
                <a:latin typeface="+mj-lt"/>
                <a:ea typeface="+mj-ea"/>
                <a:cs typeface="+mj-cs"/>
                <a:sym typeface="Calibri"/>
              </a:defRPr>
            </a:pPr>
            <a:r>
              <a:rPr lang="fr-FR" dirty="0">
                <a:sym typeface="Calibri"/>
              </a:rPr>
              <a:t>Directrice Artistique (Freelance)</a:t>
            </a:r>
          </a:p>
          <a:p>
            <a:pPr>
              <a:defRPr>
                <a:latin typeface="+mj-lt"/>
                <a:ea typeface="+mj-ea"/>
                <a:cs typeface="+mj-cs"/>
                <a:sym typeface="Calibri"/>
              </a:defRPr>
            </a:pPr>
            <a:endParaRPr dirty="0"/>
          </a:p>
        </p:txBody>
      </p:sp>
      <p:pic>
        <p:nvPicPr>
          <p:cNvPr id="114" name="Image 0" descr="Image 0"/>
          <p:cNvPicPr>
            <a:picLocks noChangeAspect="1"/>
          </p:cNvPicPr>
          <p:nvPr/>
        </p:nvPicPr>
        <p:blipFill>
          <a:blip r:embed="rId2"/>
          <a:stretch>
            <a:fillRect/>
          </a:stretch>
        </p:blipFill>
        <p:spPr>
          <a:xfrm>
            <a:off x="566927" y="6382510"/>
            <a:ext cx="868682" cy="223116"/>
          </a:xfrm>
          <a:prstGeom prst="rect">
            <a:avLst/>
          </a:prstGeom>
          <a:ln w="12700">
            <a:miter lim="400000"/>
          </a:ln>
        </p:spPr>
      </p:pic>
      <p:sp>
        <p:nvSpPr>
          <p:cNvPr id="115" name="Text 17"/>
          <p:cNvSpPr txBox="1"/>
          <p:nvPr/>
        </p:nvSpPr>
        <p:spPr>
          <a:xfrm>
            <a:off x="8515807" y="6428738"/>
            <a:ext cx="310896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900" b="1" spc="200">
                <a:solidFill>
                  <a:srgbClr val="9A9A9A"/>
                </a:solidFill>
                <a:latin typeface="Arial"/>
                <a:ea typeface="Arial"/>
                <a:cs typeface="Arial"/>
                <a:sym typeface="Arial"/>
              </a:defRPr>
            </a:lvl1pPr>
          </a:lstStyle>
          <a:p>
            <a:r>
              <a:t>IDDIC 2026  ·  BREAKING AI</a:t>
            </a:r>
          </a:p>
        </p:txBody>
      </p:sp>
      <p:sp>
        <p:nvSpPr>
          <p:cNvPr id="116" name="Shape 0"/>
          <p:cNvSpPr/>
          <p:nvPr/>
        </p:nvSpPr>
        <p:spPr>
          <a:xfrm>
            <a:off x="566927" y="457200"/>
            <a:ext cx="1234442" cy="384048"/>
          </a:xfrm>
          <a:prstGeom prst="roundRect">
            <a:avLst>
              <a:gd name="adj" fmla="val 50000"/>
            </a:avLst>
          </a:prstGeom>
          <a:solidFill>
            <a:srgbClr val="2E6BFF"/>
          </a:solidFill>
          <a:ln w="12700">
            <a:miter lim="400000"/>
          </a:ln>
        </p:spPr>
        <p:txBody>
          <a:bodyPr lIns="45718" tIns="45718" rIns="45718" bIns="45718"/>
          <a:lstStyle/>
          <a:p>
            <a:pPr>
              <a:defRPr>
                <a:latin typeface="+mj-lt"/>
                <a:ea typeface="+mj-ea"/>
                <a:cs typeface="+mj-cs"/>
                <a:sym typeface="Calibri"/>
              </a:defRPr>
            </a:pPr>
            <a:endParaRPr/>
          </a:p>
        </p:txBody>
      </p:sp>
      <p:sp>
        <p:nvSpPr>
          <p:cNvPr id="117" name="Text 1"/>
          <p:cNvSpPr txBox="1"/>
          <p:nvPr/>
        </p:nvSpPr>
        <p:spPr>
          <a:xfrm>
            <a:off x="566927" y="556674"/>
            <a:ext cx="1234443" cy="1850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300" b="1" spc="200">
                <a:solidFill>
                  <a:srgbClr val="FFFFFF"/>
                </a:solidFill>
                <a:latin typeface="Arial"/>
                <a:ea typeface="Arial"/>
                <a:cs typeface="Arial"/>
                <a:sym typeface="Arial"/>
              </a:defRPr>
            </a:lvl1pPr>
          </a:lstStyle>
          <a:p>
            <a:r>
              <a:t>JOUR 2</a:t>
            </a:r>
          </a:p>
        </p:txBody>
      </p:sp>
      <p:sp>
        <p:nvSpPr>
          <p:cNvPr id="3" name="ZoneTexte 2">
            <a:extLst>
              <a:ext uri="{FF2B5EF4-FFF2-40B4-BE49-F238E27FC236}">
                <a16:creationId xmlns:a16="http://schemas.microsoft.com/office/drawing/2014/main" id="{44644DAF-0020-6681-C54C-98FBFCC78295}"/>
              </a:ext>
            </a:extLst>
          </p:cNvPr>
          <p:cNvSpPr txBox="1"/>
          <p:nvPr/>
        </p:nvSpPr>
        <p:spPr>
          <a:xfrm>
            <a:off x="4562117" y="2253430"/>
            <a:ext cx="5508171" cy="3385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fr-FR" sz="1600" b="0" i="0" u="none" strike="noStrike" cap="none" spc="0" normalizeH="0" baseline="0" dirty="0">
                <a:ln>
                  <a:noFill/>
                </a:ln>
                <a:solidFill>
                  <a:srgbClr val="000000"/>
                </a:solidFill>
                <a:effectLst/>
                <a:uFillTx/>
                <a:latin typeface="+mn-lt"/>
                <a:ea typeface="+mn-ea"/>
                <a:cs typeface="+mn-cs"/>
                <a:sym typeface="Helvetica"/>
              </a:rPr>
              <a:t>Pâtissière; 27 ans</a:t>
            </a:r>
          </a:p>
        </p:txBody>
      </p:sp>
      <p:sp>
        <p:nvSpPr>
          <p:cNvPr id="5" name="ZoneTexte 4">
            <a:extLst>
              <a:ext uri="{FF2B5EF4-FFF2-40B4-BE49-F238E27FC236}">
                <a16:creationId xmlns:a16="http://schemas.microsoft.com/office/drawing/2014/main" id="{9860BC9E-031E-BBA5-E868-39C8D4BBE34B}"/>
              </a:ext>
            </a:extLst>
          </p:cNvPr>
          <p:cNvSpPr txBox="1"/>
          <p:nvPr/>
        </p:nvSpPr>
        <p:spPr>
          <a:xfrm>
            <a:off x="566926" y="1963137"/>
            <a:ext cx="3280050" cy="9233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r>
              <a:rPr lang="fr-FR" dirty="0">
                <a:latin typeface="+mj-lt"/>
              </a:rPr>
              <a:t>Que pense ton entourage ou tes clients du rendu de tes visuels générés par l'IA ?</a:t>
            </a:r>
            <a:endParaRPr kumimoji="0" lang="fr-FR" b="0" i="0" u="none" strike="noStrike" cap="none" spc="0" normalizeH="0" baseline="0" dirty="0">
              <a:ln>
                <a:noFill/>
              </a:ln>
              <a:solidFill>
                <a:srgbClr val="000000"/>
              </a:solidFill>
              <a:effectLst/>
              <a:uFillTx/>
              <a:latin typeface="+mj-lt"/>
              <a:ea typeface="+mn-ea"/>
              <a:cs typeface="+mn-cs"/>
              <a:sym typeface="Helvetica"/>
            </a:endParaRPr>
          </a:p>
        </p:txBody>
      </p:sp>
      <p:sp>
        <p:nvSpPr>
          <p:cNvPr id="6" name="ZoneTexte 5">
            <a:extLst>
              <a:ext uri="{FF2B5EF4-FFF2-40B4-BE49-F238E27FC236}">
                <a16:creationId xmlns:a16="http://schemas.microsoft.com/office/drawing/2014/main" id="{98EF239F-2DDB-F8FD-8D71-B9D7BC40F70F}"/>
              </a:ext>
            </a:extLst>
          </p:cNvPr>
          <p:cNvSpPr txBox="1"/>
          <p:nvPr/>
        </p:nvSpPr>
        <p:spPr>
          <a:xfrm>
            <a:off x="4498847" y="1920983"/>
            <a:ext cx="6312843"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fr-FR" sz="1800" b="1" i="0" u="none" strike="noStrike" cap="none" spc="0" normalizeH="0" baseline="0" dirty="0">
                <a:ln>
                  <a:noFill/>
                </a:ln>
                <a:solidFill>
                  <a:srgbClr val="000000"/>
                </a:solidFill>
                <a:effectLst/>
                <a:uFillTx/>
                <a:latin typeface="+mn-lt"/>
                <a:ea typeface="+mn-ea"/>
                <a:cs typeface="+mn-cs"/>
                <a:sym typeface="Helvetica"/>
              </a:rPr>
              <a:t>«L’IA, c</a:t>
            </a:r>
            <a:r>
              <a:rPr lang="fr-FR" b="1" dirty="0"/>
              <a:t>a fait Cheap » </a:t>
            </a:r>
            <a:endParaRPr kumimoji="0" lang="fr-FR" sz="1800" b="1" i="0" u="none" strike="noStrike" cap="none" spc="0" normalizeH="0" baseline="0" dirty="0">
              <a:ln>
                <a:noFill/>
              </a:ln>
              <a:solidFill>
                <a:srgbClr val="000000"/>
              </a:solidFill>
              <a:effectLst/>
              <a:uFillTx/>
              <a:latin typeface="+mn-lt"/>
              <a:ea typeface="+mn-ea"/>
              <a:cs typeface="+mn-cs"/>
              <a:sym typeface="Helvetica"/>
            </a:endParaRP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2407E-02AE-27F4-5C74-77D6C0C38EF2}"/>
            </a:ext>
          </a:extLst>
        </p:cNvPr>
        <p:cNvGrpSpPr/>
        <p:nvPr/>
      </p:nvGrpSpPr>
      <p:grpSpPr>
        <a:xfrm>
          <a:off x="0" y="0"/>
          <a:ext cx="0" cy="0"/>
          <a:chOff x="0" y="0"/>
          <a:chExt cx="0" cy="0"/>
        </a:xfrm>
      </p:grpSpPr>
      <p:sp>
        <p:nvSpPr>
          <p:cNvPr id="102" name="Text 2">
            <a:extLst>
              <a:ext uri="{FF2B5EF4-FFF2-40B4-BE49-F238E27FC236}">
                <a16:creationId xmlns:a16="http://schemas.microsoft.com/office/drawing/2014/main" id="{3FB28175-E0DB-2FCF-0C11-95E9B5CC8F60}"/>
              </a:ext>
            </a:extLst>
          </p:cNvPr>
          <p:cNvSpPr txBox="1"/>
          <p:nvPr/>
        </p:nvSpPr>
        <p:spPr>
          <a:xfrm>
            <a:off x="1865376" y="553672"/>
            <a:ext cx="7315201" cy="17281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200" b="1" spc="300">
                <a:solidFill>
                  <a:srgbClr val="111111"/>
                </a:solidFill>
                <a:latin typeface="Arial"/>
                <a:ea typeface="Arial"/>
                <a:cs typeface="Arial"/>
                <a:sym typeface="Arial"/>
              </a:defRPr>
            </a:lvl1pPr>
          </a:lstStyle>
          <a:p>
            <a:r>
              <a:t>TEMPLATE 2 / 6</a:t>
            </a:r>
          </a:p>
        </p:txBody>
      </p:sp>
      <p:sp>
        <p:nvSpPr>
          <p:cNvPr id="103" name="Text 3">
            <a:extLst>
              <a:ext uri="{FF2B5EF4-FFF2-40B4-BE49-F238E27FC236}">
                <a16:creationId xmlns:a16="http://schemas.microsoft.com/office/drawing/2014/main" id="{7D34EA7B-C9D8-6DF6-6595-C76E460C555D}"/>
              </a:ext>
            </a:extLst>
          </p:cNvPr>
          <p:cNvSpPr txBox="1"/>
          <p:nvPr/>
        </p:nvSpPr>
        <p:spPr>
          <a:xfrm>
            <a:off x="566926" y="1005838"/>
            <a:ext cx="11057842" cy="4193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3000" b="1">
                <a:solidFill>
                  <a:srgbClr val="111111"/>
                </a:solidFill>
                <a:latin typeface="Arial"/>
                <a:ea typeface="Arial"/>
                <a:cs typeface="Arial"/>
                <a:sym typeface="Arial"/>
              </a:defRPr>
            </a:lvl1pPr>
          </a:lstStyle>
          <a:p>
            <a:r>
              <a:rPr dirty="0"/>
              <a:t>La </a:t>
            </a:r>
            <a:r>
              <a:rPr dirty="0" err="1"/>
              <a:t>récolte</a:t>
            </a:r>
            <a:r>
              <a:rPr dirty="0"/>
              <a:t> de verbatims</a:t>
            </a:r>
          </a:p>
        </p:txBody>
      </p:sp>
      <p:sp>
        <p:nvSpPr>
          <p:cNvPr id="104" name="Text 5">
            <a:extLst>
              <a:ext uri="{FF2B5EF4-FFF2-40B4-BE49-F238E27FC236}">
                <a16:creationId xmlns:a16="http://schemas.microsoft.com/office/drawing/2014/main" id="{95760C63-930F-71C8-A440-FF0076ABD72A}"/>
              </a:ext>
            </a:extLst>
          </p:cNvPr>
          <p:cNvSpPr txBox="1"/>
          <p:nvPr/>
        </p:nvSpPr>
        <p:spPr>
          <a:xfrm>
            <a:off x="749806" y="1577085"/>
            <a:ext cx="3566162" cy="1478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100" b="1" spc="100">
                <a:solidFill>
                  <a:srgbClr val="2E6BFF"/>
                </a:solidFill>
                <a:latin typeface="Arial"/>
                <a:ea typeface="Arial"/>
                <a:cs typeface="Arial"/>
                <a:sym typeface="Arial"/>
              </a:defRPr>
            </a:lvl1pPr>
          </a:lstStyle>
          <a:p>
            <a:r>
              <a:t>LA QUESTION QU'ON A POSÉE</a:t>
            </a:r>
          </a:p>
        </p:txBody>
      </p:sp>
      <p:sp>
        <p:nvSpPr>
          <p:cNvPr id="105" name="Text 6">
            <a:extLst>
              <a:ext uri="{FF2B5EF4-FFF2-40B4-BE49-F238E27FC236}">
                <a16:creationId xmlns:a16="http://schemas.microsoft.com/office/drawing/2014/main" id="{34568F9A-7640-3D67-76D8-1B9AB95C0FC6}"/>
              </a:ext>
            </a:extLst>
          </p:cNvPr>
          <p:cNvSpPr txBox="1"/>
          <p:nvPr/>
        </p:nvSpPr>
        <p:spPr>
          <a:xfrm>
            <a:off x="4681728" y="1577085"/>
            <a:ext cx="6760159" cy="1478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100" b="1" spc="100">
                <a:solidFill>
                  <a:srgbClr val="2E6BFF"/>
                </a:solidFill>
                <a:latin typeface="Arial"/>
                <a:ea typeface="Arial"/>
                <a:cs typeface="Arial"/>
                <a:sym typeface="Arial"/>
              </a:defRPr>
            </a:lvl1pPr>
          </a:lstStyle>
          <a:p>
            <a:r>
              <a:t>LE VERBATIM (MOT POUR MOT, ENTRE « »)</a:t>
            </a:r>
          </a:p>
        </p:txBody>
      </p:sp>
      <p:sp>
        <p:nvSpPr>
          <p:cNvPr id="106" name="Shape 7">
            <a:extLst>
              <a:ext uri="{FF2B5EF4-FFF2-40B4-BE49-F238E27FC236}">
                <a16:creationId xmlns:a16="http://schemas.microsoft.com/office/drawing/2014/main" id="{4D2896AB-88CD-5EC7-2DA5-3EF5604A3722}"/>
              </a:ext>
            </a:extLst>
          </p:cNvPr>
          <p:cNvSpPr/>
          <p:nvPr/>
        </p:nvSpPr>
        <p:spPr>
          <a:xfrm>
            <a:off x="566927" y="1886349"/>
            <a:ext cx="3931923" cy="1268332"/>
          </a:xfrm>
          <a:prstGeom prst="rect">
            <a:avLst/>
          </a:prstGeom>
          <a:solidFill>
            <a:srgbClr val="FFFFFF"/>
          </a:solidFill>
          <a:ln w="19050">
            <a:solidFill>
              <a:srgbClr val="000000"/>
            </a:solidFill>
          </a:ln>
        </p:spPr>
        <p:txBody>
          <a:bodyPr lIns="45718" tIns="45718" rIns="45718" bIns="45718"/>
          <a:lstStyle/>
          <a:p>
            <a:pPr>
              <a:defRPr>
                <a:latin typeface="+mj-lt"/>
                <a:ea typeface="+mj-ea"/>
                <a:cs typeface="+mj-cs"/>
                <a:sym typeface="Calibri"/>
              </a:defRPr>
            </a:pPr>
            <a:endParaRPr/>
          </a:p>
        </p:txBody>
      </p:sp>
      <p:sp>
        <p:nvSpPr>
          <p:cNvPr id="107" name="Shape 8">
            <a:extLst>
              <a:ext uri="{FF2B5EF4-FFF2-40B4-BE49-F238E27FC236}">
                <a16:creationId xmlns:a16="http://schemas.microsoft.com/office/drawing/2014/main" id="{4DB36F3F-4352-CB43-5247-31B891EE8571}"/>
              </a:ext>
            </a:extLst>
          </p:cNvPr>
          <p:cNvSpPr/>
          <p:nvPr/>
        </p:nvSpPr>
        <p:spPr>
          <a:xfrm>
            <a:off x="4498847" y="1886349"/>
            <a:ext cx="7125922" cy="1268332"/>
          </a:xfrm>
          <a:prstGeom prst="rect">
            <a:avLst/>
          </a:prstGeom>
          <a:solidFill>
            <a:srgbClr val="FFFFFF"/>
          </a:solidFill>
          <a:ln w="19050">
            <a:solidFill>
              <a:srgbClr val="000000"/>
            </a:solidFill>
          </a:ln>
        </p:spPr>
        <p:txBody>
          <a:bodyPr lIns="45718" tIns="45718" rIns="45718" bIns="45718"/>
          <a:lstStyle/>
          <a:p>
            <a:pPr>
              <a:defRPr>
                <a:latin typeface="+mj-lt"/>
                <a:ea typeface="+mj-ea"/>
                <a:cs typeface="+mj-cs"/>
                <a:sym typeface="Calibri"/>
              </a:defRPr>
            </a:pPr>
            <a:endParaRPr/>
          </a:p>
        </p:txBody>
      </p:sp>
      <p:sp>
        <p:nvSpPr>
          <p:cNvPr id="108" name="Shape 9">
            <a:extLst>
              <a:ext uri="{FF2B5EF4-FFF2-40B4-BE49-F238E27FC236}">
                <a16:creationId xmlns:a16="http://schemas.microsoft.com/office/drawing/2014/main" id="{06FC694D-1A6C-A798-89D5-122B24942672}"/>
              </a:ext>
            </a:extLst>
          </p:cNvPr>
          <p:cNvSpPr/>
          <p:nvPr/>
        </p:nvSpPr>
        <p:spPr>
          <a:xfrm>
            <a:off x="566927" y="2875514"/>
            <a:ext cx="3931923" cy="1106971"/>
          </a:xfrm>
          <a:prstGeom prst="rect">
            <a:avLst/>
          </a:prstGeom>
          <a:solidFill>
            <a:srgbClr val="FFFFFF"/>
          </a:solidFill>
          <a:ln w="19050">
            <a:solidFill>
              <a:srgbClr val="000000"/>
            </a:solidFill>
          </a:ln>
        </p:spPr>
        <p:txBody>
          <a:bodyPr lIns="45718" tIns="45718" rIns="45718" bIns="45718"/>
          <a:lstStyle/>
          <a:p>
            <a:pPr>
              <a:defRPr>
                <a:latin typeface="+mj-lt"/>
                <a:ea typeface="+mj-ea"/>
                <a:cs typeface="+mj-cs"/>
                <a:sym typeface="Calibri"/>
              </a:defRPr>
            </a:pPr>
            <a:r>
              <a:rPr lang="fr-FR">
                <a:latin typeface="+mj-lt"/>
                <a:sym typeface="Calibri"/>
              </a:rPr>
              <a:t>Comment votre travail a-t-il évolué depuis le Covid ?</a:t>
            </a:r>
            <a:endParaRPr dirty="0"/>
          </a:p>
        </p:txBody>
      </p:sp>
      <p:sp>
        <p:nvSpPr>
          <p:cNvPr id="109" name="Shape 10">
            <a:extLst>
              <a:ext uri="{FF2B5EF4-FFF2-40B4-BE49-F238E27FC236}">
                <a16:creationId xmlns:a16="http://schemas.microsoft.com/office/drawing/2014/main" id="{D2554D6C-607D-460E-7061-71D5AA85EDB2}"/>
              </a:ext>
            </a:extLst>
          </p:cNvPr>
          <p:cNvSpPr/>
          <p:nvPr/>
        </p:nvSpPr>
        <p:spPr>
          <a:xfrm>
            <a:off x="4498847" y="2875514"/>
            <a:ext cx="7125922" cy="1106971"/>
          </a:xfrm>
          <a:prstGeom prst="rect">
            <a:avLst/>
          </a:prstGeom>
          <a:solidFill>
            <a:srgbClr val="FFFFFF"/>
          </a:solidFill>
          <a:ln w="19050">
            <a:solidFill>
              <a:srgbClr val="000000"/>
            </a:solidFill>
          </a:ln>
        </p:spPr>
        <p:txBody>
          <a:bodyPr lIns="45718" tIns="45718" rIns="45718" bIns="45718"/>
          <a:lstStyle/>
          <a:p>
            <a:pPr>
              <a:defRPr>
                <a:latin typeface="+mj-lt"/>
                <a:ea typeface="+mj-ea"/>
                <a:cs typeface="+mj-cs"/>
                <a:sym typeface="Calibri"/>
              </a:defRPr>
            </a:pPr>
            <a:r>
              <a:rPr lang="fr-FR" b="1" dirty="0">
                <a:latin typeface="+mj-lt"/>
                <a:sym typeface="Calibri"/>
              </a:rPr>
              <a:t>« L'algorithme d'Instagram et des réseaux sociaux fait que les projets se ressemblent. Il y a aussi du burn-out créatif. » </a:t>
            </a:r>
          </a:p>
          <a:p>
            <a:pPr>
              <a:defRPr>
                <a:latin typeface="+mj-lt"/>
                <a:ea typeface="+mj-ea"/>
                <a:cs typeface="+mj-cs"/>
                <a:sym typeface="Calibri"/>
              </a:defRPr>
            </a:pPr>
            <a:r>
              <a:rPr lang="fr-FR" i="1" dirty="0">
                <a:latin typeface="+mj-lt"/>
                <a:sym typeface="Calibri"/>
              </a:rPr>
              <a:t>DA consultant musique, 29 ans</a:t>
            </a:r>
            <a:endParaRPr dirty="0"/>
          </a:p>
        </p:txBody>
      </p:sp>
      <p:sp>
        <p:nvSpPr>
          <p:cNvPr id="110" name="Shape 11">
            <a:extLst>
              <a:ext uri="{FF2B5EF4-FFF2-40B4-BE49-F238E27FC236}">
                <a16:creationId xmlns:a16="http://schemas.microsoft.com/office/drawing/2014/main" id="{863BCE36-72CA-3DBE-7CF3-BC1FC2FE5FA8}"/>
              </a:ext>
            </a:extLst>
          </p:cNvPr>
          <p:cNvSpPr/>
          <p:nvPr/>
        </p:nvSpPr>
        <p:spPr>
          <a:xfrm>
            <a:off x="566927" y="3959473"/>
            <a:ext cx="3931923" cy="1022447"/>
          </a:xfrm>
          <a:prstGeom prst="rect">
            <a:avLst/>
          </a:prstGeom>
          <a:solidFill>
            <a:srgbClr val="FFFFFF"/>
          </a:solidFill>
          <a:ln w="19050">
            <a:solidFill>
              <a:srgbClr val="000000"/>
            </a:solidFill>
          </a:ln>
        </p:spPr>
        <p:txBody>
          <a:bodyPr lIns="45718" tIns="45718" rIns="45718" bIns="45718"/>
          <a:lstStyle/>
          <a:p>
            <a:pPr lvl="0" fontAlgn="base"/>
            <a:r>
              <a:rPr lang="fr-FR" dirty="0"/>
              <a:t>Si demain vous deviez recruter ou être recruter , quelles compétences techniques seraient attendues? </a:t>
            </a:r>
          </a:p>
        </p:txBody>
      </p:sp>
      <p:sp>
        <p:nvSpPr>
          <p:cNvPr id="111" name="Shape 12">
            <a:extLst>
              <a:ext uri="{FF2B5EF4-FFF2-40B4-BE49-F238E27FC236}">
                <a16:creationId xmlns:a16="http://schemas.microsoft.com/office/drawing/2014/main" id="{0FD92149-01EF-9C86-1B2E-76DC64E8988C}"/>
              </a:ext>
            </a:extLst>
          </p:cNvPr>
          <p:cNvSpPr/>
          <p:nvPr/>
        </p:nvSpPr>
        <p:spPr>
          <a:xfrm>
            <a:off x="4498847" y="3955760"/>
            <a:ext cx="7125922" cy="1029874"/>
          </a:xfrm>
          <a:prstGeom prst="rect">
            <a:avLst/>
          </a:prstGeom>
          <a:solidFill>
            <a:srgbClr val="FFFFFF"/>
          </a:solidFill>
          <a:ln w="19050">
            <a:solidFill>
              <a:srgbClr val="000000"/>
            </a:solidFill>
          </a:ln>
        </p:spPr>
        <p:txBody>
          <a:bodyPr lIns="45718" tIns="45718" rIns="45718" bIns="45718"/>
          <a:lstStyle/>
          <a:p>
            <a:pPr>
              <a:defRPr>
                <a:latin typeface="+mj-lt"/>
                <a:ea typeface="+mj-ea"/>
                <a:cs typeface="+mj-cs"/>
                <a:sym typeface="Calibri"/>
              </a:defRPr>
            </a:pPr>
            <a:r>
              <a:rPr lang="fr-FR" b="1" dirty="0">
                <a:latin typeface="+mj-lt"/>
                <a:sym typeface="Calibri"/>
              </a:rPr>
              <a:t>« Nous, on recrute pour notre créativité pure. J'ai quand même peur d'être remplacé par l’IA ». </a:t>
            </a:r>
          </a:p>
          <a:p>
            <a:pPr>
              <a:defRPr>
                <a:latin typeface="+mj-lt"/>
                <a:ea typeface="+mj-ea"/>
                <a:cs typeface="+mj-cs"/>
                <a:sym typeface="Calibri"/>
              </a:defRPr>
            </a:pPr>
            <a:r>
              <a:rPr lang="fr-FR" i="1" dirty="0">
                <a:sym typeface="Calibri"/>
              </a:rPr>
              <a:t>DA consultant musique, 29 ans</a:t>
            </a:r>
            <a:endParaRPr lang="fr-FR" dirty="0">
              <a:sym typeface="Calibri"/>
            </a:endParaRPr>
          </a:p>
          <a:p>
            <a:pPr>
              <a:defRPr>
                <a:latin typeface="+mj-lt"/>
                <a:ea typeface="+mj-ea"/>
                <a:cs typeface="+mj-cs"/>
                <a:sym typeface="Calibri"/>
              </a:defRPr>
            </a:pPr>
            <a:endParaRPr lang="fr-FR" b="1" dirty="0">
              <a:latin typeface="+mj-lt"/>
              <a:sym typeface="Calibri"/>
            </a:endParaRPr>
          </a:p>
        </p:txBody>
      </p:sp>
      <p:sp>
        <p:nvSpPr>
          <p:cNvPr id="112" name="Shape 13">
            <a:extLst>
              <a:ext uri="{FF2B5EF4-FFF2-40B4-BE49-F238E27FC236}">
                <a16:creationId xmlns:a16="http://schemas.microsoft.com/office/drawing/2014/main" id="{DEFA2C56-74CA-6952-9531-231AE5F23B90}"/>
              </a:ext>
            </a:extLst>
          </p:cNvPr>
          <p:cNvSpPr/>
          <p:nvPr/>
        </p:nvSpPr>
        <p:spPr>
          <a:xfrm>
            <a:off x="566927" y="4973173"/>
            <a:ext cx="3931923" cy="1022448"/>
          </a:xfrm>
          <a:prstGeom prst="rect">
            <a:avLst/>
          </a:prstGeom>
          <a:solidFill>
            <a:srgbClr val="FFFFFF"/>
          </a:solidFill>
          <a:ln w="19050">
            <a:solidFill>
              <a:srgbClr val="000000"/>
            </a:solidFill>
          </a:ln>
        </p:spPr>
        <p:txBody>
          <a:bodyPr lIns="45718" tIns="45718" rIns="45718" bIns="45718"/>
          <a:lstStyle/>
          <a:p>
            <a:pPr>
              <a:defRPr>
                <a:latin typeface="+mj-lt"/>
                <a:ea typeface="+mj-ea"/>
                <a:cs typeface="+mj-cs"/>
                <a:sym typeface="Calibri"/>
              </a:defRPr>
            </a:pPr>
            <a:endParaRPr dirty="0"/>
          </a:p>
        </p:txBody>
      </p:sp>
      <p:sp>
        <p:nvSpPr>
          <p:cNvPr id="113" name="Shape 14">
            <a:extLst>
              <a:ext uri="{FF2B5EF4-FFF2-40B4-BE49-F238E27FC236}">
                <a16:creationId xmlns:a16="http://schemas.microsoft.com/office/drawing/2014/main" id="{57414755-540D-E66E-5915-1E29952FB98F}"/>
              </a:ext>
            </a:extLst>
          </p:cNvPr>
          <p:cNvSpPr/>
          <p:nvPr/>
        </p:nvSpPr>
        <p:spPr>
          <a:xfrm>
            <a:off x="4498847" y="4973173"/>
            <a:ext cx="7125922" cy="1022448"/>
          </a:xfrm>
          <a:prstGeom prst="rect">
            <a:avLst/>
          </a:prstGeom>
          <a:solidFill>
            <a:srgbClr val="FFFFFF"/>
          </a:solidFill>
          <a:ln w="19050">
            <a:solidFill>
              <a:srgbClr val="000000"/>
            </a:solidFill>
          </a:ln>
        </p:spPr>
        <p:txBody>
          <a:bodyPr lIns="45718" tIns="45718" rIns="45718" bIns="45718"/>
          <a:lstStyle/>
          <a:p>
            <a:pPr>
              <a:defRPr>
                <a:latin typeface="+mj-lt"/>
                <a:ea typeface="+mj-ea"/>
                <a:cs typeface="+mj-cs"/>
                <a:sym typeface="Calibri"/>
              </a:defRPr>
            </a:pPr>
            <a:endParaRPr dirty="0"/>
          </a:p>
        </p:txBody>
      </p:sp>
      <p:pic>
        <p:nvPicPr>
          <p:cNvPr id="114" name="Image 0" descr="Image 0">
            <a:extLst>
              <a:ext uri="{FF2B5EF4-FFF2-40B4-BE49-F238E27FC236}">
                <a16:creationId xmlns:a16="http://schemas.microsoft.com/office/drawing/2014/main" id="{81CE47C6-6457-2ACA-21B4-2829279C137A}"/>
              </a:ext>
            </a:extLst>
          </p:cNvPr>
          <p:cNvPicPr>
            <a:picLocks noChangeAspect="1"/>
          </p:cNvPicPr>
          <p:nvPr/>
        </p:nvPicPr>
        <p:blipFill>
          <a:blip r:embed="rId2"/>
          <a:stretch>
            <a:fillRect/>
          </a:stretch>
        </p:blipFill>
        <p:spPr>
          <a:xfrm>
            <a:off x="566927" y="6382510"/>
            <a:ext cx="868682" cy="223116"/>
          </a:xfrm>
          <a:prstGeom prst="rect">
            <a:avLst/>
          </a:prstGeom>
          <a:ln w="12700">
            <a:miter lim="400000"/>
          </a:ln>
        </p:spPr>
      </p:pic>
      <p:sp>
        <p:nvSpPr>
          <p:cNvPr id="115" name="Text 17">
            <a:extLst>
              <a:ext uri="{FF2B5EF4-FFF2-40B4-BE49-F238E27FC236}">
                <a16:creationId xmlns:a16="http://schemas.microsoft.com/office/drawing/2014/main" id="{B52C66D4-F250-15D1-F311-A13323CC2BC0}"/>
              </a:ext>
            </a:extLst>
          </p:cNvPr>
          <p:cNvSpPr txBox="1"/>
          <p:nvPr/>
        </p:nvSpPr>
        <p:spPr>
          <a:xfrm>
            <a:off x="8515807" y="6428738"/>
            <a:ext cx="3108962" cy="127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r">
              <a:defRPr sz="900" b="1" spc="200">
                <a:solidFill>
                  <a:srgbClr val="9A9A9A"/>
                </a:solidFill>
                <a:latin typeface="Arial"/>
                <a:ea typeface="Arial"/>
                <a:cs typeface="Arial"/>
                <a:sym typeface="Arial"/>
              </a:defRPr>
            </a:lvl1pPr>
          </a:lstStyle>
          <a:p>
            <a:r>
              <a:t>IDDIC 2026  ·  BREAKING AI</a:t>
            </a:r>
          </a:p>
        </p:txBody>
      </p:sp>
      <p:sp>
        <p:nvSpPr>
          <p:cNvPr id="116" name="Shape 0">
            <a:extLst>
              <a:ext uri="{FF2B5EF4-FFF2-40B4-BE49-F238E27FC236}">
                <a16:creationId xmlns:a16="http://schemas.microsoft.com/office/drawing/2014/main" id="{9C8889E7-E2DB-90CC-60D0-ED3CC8F7033A}"/>
              </a:ext>
            </a:extLst>
          </p:cNvPr>
          <p:cNvSpPr/>
          <p:nvPr/>
        </p:nvSpPr>
        <p:spPr>
          <a:xfrm>
            <a:off x="566927" y="457200"/>
            <a:ext cx="1234442" cy="384048"/>
          </a:xfrm>
          <a:prstGeom prst="roundRect">
            <a:avLst>
              <a:gd name="adj" fmla="val 50000"/>
            </a:avLst>
          </a:prstGeom>
          <a:solidFill>
            <a:srgbClr val="2E6BFF"/>
          </a:solidFill>
          <a:ln w="12700">
            <a:miter lim="400000"/>
          </a:ln>
        </p:spPr>
        <p:txBody>
          <a:bodyPr lIns="45718" tIns="45718" rIns="45718" bIns="45718"/>
          <a:lstStyle/>
          <a:p>
            <a:pPr>
              <a:defRPr>
                <a:latin typeface="+mj-lt"/>
                <a:ea typeface="+mj-ea"/>
                <a:cs typeface="+mj-cs"/>
                <a:sym typeface="Calibri"/>
              </a:defRPr>
            </a:pPr>
            <a:endParaRPr/>
          </a:p>
        </p:txBody>
      </p:sp>
      <p:sp>
        <p:nvSpPr>
          <p:cNvPr id="117" name="Text 1">
            <a:extLst>
              <a:ext uri="{FF2B5EF4-FFF2-40B4-BE49-F238E27FC236}">
                <a16:creationId xmlns:a16="http://schemas.microsoft.com/office/drawing/2014/main" id="{C809FA6A-3BA2-4085-3D73-4161F64CFE38}"/>
              </a:ext>
            </a:extLst>
          </p:cNvPr>
          <p:cNvSpPr txBox="1"/>
          <p:nvPr/>
        </p:nvSpPr>
        <p:spPr>
          <a:xfrm>
            <a:off x="566927" y="556674"/>
            <a:ext cx="1234443" cy="1850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300" b="1" spc="200">
                <a:solidFill>
                  <a:srgbClr val="FFFFFF"/>
                </a:solidFill>
                <a:latin typeface="Arial"/>
                <a:ea typeface="Arial"/>
                <a:cs typeface="Arial"/>
                <a:sym typeface="Arial"/>
              </a:defRPr>
            </a:lvl1pPr>
          </a:lstStyle>
          <a:p>
            <a:r>
              <a:t>JOUR 2</a:t>
            </a:r>
          </a:p>
        </p:txBody>
      </p:sp>
      <p:sp>
        <p:nvSpPr>
          <p:cNvPr id="2" name="ZoneTexte 1">
            <a:extLst>
              <a:ext uri="{FF2B5EF4-FFF2-40B4-BE49-F238E27FC236}">
                <a16:creationId xmlns:a16="http://schemas.microsoft.com/office/drawing/2014/main" id="{CECA34C2-92DE-8C23-F7A6-A5F9CBF63726}"/>
              </a:ext>
            </a:extLst>
          </p:cNvPr>
          <p:cNvSpPr txBox="1"/>
          <p:nvPr/>
        </p:nvSpPr>
        <p:spPr>
          <a:xfrm>
            <a:off x="705103" y="1965541"/>
            <a:ext cx="3655568" cy="83099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r>
              <a:rPr lang="fr-FR" sz="1600" dirty="0">
                <a:latin typeface="+mj-lt"/>
              </a:rPr>
              <a:t>Si demain vous deviez recruter, quelles compétences techniques seraient attendues ? (ou "Évolution à 10 ans")</a:t>
            </a:r>
            <a:endParaRPr kumimoji="0" lang="fr-FR" sz="1600" b="0" i="0" u="none" strike="noStrike" cap="none" spc="0" normalizeH="0" baseline="0" dirty="0">
              <a:ln>
                <a:noFill/>
              </a:ln>
              <a:solidFill>
                <a:srgbClr val="000000"/>
              </a:solidFill>
              <a:effectLst/>
              <a:uFillTx/>
              <a:latin typeface="+mj-lt"/>
              <a:ea typeface="+mn-ea"/>
              <a:cs typeface="+mn-cs"/>
              <a:sym typeface="Helvetica"/>
            </a:endParaRPr>
          </a:p>
        </p:txBody>
      </p:sp>
      <p:sp>
        <p:nvSpPr>
          <p:cNvPr id="4" name="ZoneTexte 3">
            <a:extLst>
              <a:ext uri="{FF2B5EF4-FFF2-40B4-BE49-F238E27FC236}">
                <a16:creationId xmlns:a16="http://schemas.microsoft.com/office/drawing/2014/main" id="{5A8FFE42-27CE-9556-00E6-70EC554436F1}"/>
              </a:ext>
            </a:extLst>
          </p:cNvPr>
          <p:cNvSpPr txBox="1"/>
          <p:nvPr/>
        </p:nvSpPr>
        <p:spPr>
          <a:xfrm>
            <a:off x="4632454" y="1893918"/>
            <a:ext cx="6372353" cy="98488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r>
              <a:rPr lang="fr-FR" sz="1400" b="1" dirty="0">
                <a:latin typeface="+mj-lt"/>
              </a:rPr>
              <a:t>« Une personne qui a un assistant IA compense 10 employés et pourra s’occuper de tout. Ça me permet d’économiser sur tellement de recrutements que je ne préfère pas recruter finalement. »</a:t>
            </a:r>
          </a:p>
          <a:p>
            <a:r>
              <a:rPr lang="fr-FR" sz="1600" dirty="0">
                <a:latin typeface="+mj-lt"/>
              </a:rPr>
              <a:t> </a:t>
            </a:r>
            <a:r>
              <a:rPr lang="fr-FR" sz="1600" dirty="0" err="1">
                <a:latin typeface="+mj-lt"/>
              </a:rPr>
              <a:t>Mayssane</a:t>
            </a:r>
            <a:r>
              <a:rPr lang="fr-FR" sz="1600" dirty="0">
                <a:latin typeface="+mj-lt"/>
              </a:rPr>
              <a:t>, 22 ans — Entrepreneure / Community manager</a:t>
            </a:r>
            <a:endParaRPr kumimoji="0" lang="fr-FR" sz="1400" i="0" u="none" strike="noStrike" cap="none" spc="0" normalizeH="0" baseline="0" dirty="0">
              <a:ln>
                <a:noFill/>
              </a:ln>
              <a:solidFill>
                <a:srgbClr val="000000"/>
              </a:solidFill>
              <a:effectLst/>
              <a:uFillTx/>
              <a:latin typeface="+mj-lt"/>
              <a:ea typeface="+mn-ea"/>
              <a:cs typeface="+mn-cs"/>
              <a:sym typeface="Helvetica"/>
            </a:endParaRPr>
          </a:p>
        </p:txBody>
      </p:sp>
    </p:spTree>
    <p:extLst>
      <p:ext uri="{BB962C8B-B14F-4D97-AF65-F5344CB8AC3E}">
        <p14:creationId xmlns:p14="http://schemas.microsoft.com/office/powerpoint/2010/main" val="3512152775"/>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Text 2"/>
          <p:cNvSpPr txBox="1"/>
          <p:nvPr/>
        </p:nvSpPr>
        <p:spPr>
          <a:xfrm>
            <a:off x="1865376" y="553672"/>
            <a:ext cx="7315201" cy="1728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b="1" spc="300">
                <a:solidFill>
                  <a:srgbClr val="111111"/>
                </a:solidFill>
                <a:latin typeface="Arial"/>
                <a:ea typeface="Arial"/>
                <a:cs typeface="Arial"/>
                <a:sym typeface="Arial"/>
              </a:defRPr>
            </a:lvl1pPr>
          </a:lstStyle>
          <a:p>
            <a:r>
              <a:t>TEMPLATE 3 / 6</a:t>
            </a:r>
          </a:p>
        </p:txBody>
      </p:sp>
      <p:sp>
        <p:nvSpPr>
          <p:cNvPr id="120" name="Text 3"/>
          <p:cNvSpPr txBox="1"/>
          <p:nvPr/>
        </p:nvSpPr>
        <p:spPr>
          <a:xfrm>
            <a:off x="566926" y="1005838"/>
            <a:ext cx="11057842" cy="4193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3000" b="1">
                <a:solidFill>
                  <a:srgbClr val="111111"/>
                </a:solidFill>
                <a:latin typeface="Arial"/>
                <a:ea typeface="Arial"/>
                <a:cs typeface="Arial"/>
                <a:sym typeface="Arial"/>
              </a:defRPr>
            </a:lvl1pPr>
          </a:lstStyle>
          <a:p>
            <a:r>
              <a:t>Du verbatim au besoin</a:t>
            </a:r>
          </a:p>
        </p:txBody>
      </p:sp>
      <p:sp>
        <p:nvSpPr>
          <p:cNvPr id="121" name="Shape 6"/>
          <p:cNvSpPr/>
          <p:nvPr/>
        </p:nvSpPr>
        <p:spPr>
          <a:xfrm>
            <a:off x="566928" y="1589022"/>
            <a:ext cx="5368900" cy="1051562"/>
          </a:xfrm>
          <a:prstGeom prst="rect">
            <a:avLst/>
          </a:prstGeom>
          <a:solidFill>
            <a:srgbClr val="FFFFFF"/>
          </a:solidFill>
          <a:ln w="19050">
            <a:solidFill>
              <a:srgbClr val="000000"/>
            </a:solidFill>
          </a:ln>
        </p:spPr>
        <p:txBody>
          <a:bodyPr lIns="45718" tIns="45718" rIns="45718" bIns="45718"/>
          <a:lstStyle/>
          <a:p>
            <a:pPr>
              <a:defRPr>
                <a:latin typeface="+mj-lt"/>
                <a:ea typeface="+mj-ea"/>
                <a:cs typeface="+mj-cs"/>
                <a:sym typeface="Calibri"/>
              </a:defRPr>
            </a:pPr>
            <a:endParaRPr/>
          </a:p>
        </p:txBody>
      </p:sp>
      <p:sp>
        <p:nvSpPr>
          <p:cNvPr id="122" name="Text 7"/>
          <p:cNvSpPr txBox="1"/>
          <p:nvPr/>
        </p:nvSpPr>
        <p:spPr>
          <a:xfrm>
            <a:off x="749808" y="1717039"/>
            <a:ext cx="5003140" cy="1568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ct val="102000"/>
              </a:lnSpc>
              <a:defRPr sz="1200" b="1">
                <a:solidFill>
                  <a:srgbClr val="111111"/>
                </a:solidFill>
                <a:latin typeface="+mj-lt"/>
                <a:ea typeface="+mj-ea"/>
                <a:cs typeface="+mj-cs"/>
                <a:sym typeface="Calibri"/>
              </a:defRPr>
            </a:pPr>
            <a:r>
              <a:rPr dirty="0" err="1"/>
              <a:t>Ils</a:t>
            </a:r>
            <a:r>
              <a:rPr dirty="0"/>
              <a:t> </a:t>
            </a:r>
            <a:r>
              <a:rPr dirty="0" err="1"/>
              <a:t>disent</a:t>
            </a:r>
            <a:r>
              <a:rPr dirty="0"/>
              <a:t>  </a:t>
            </a:r>
            <a:r>
              <a:rPr b="0" i="1" dirty="0">
                <a:solidFill>
                  <a:srgbClr val="6E6E6E"/>
                </a:solidFill>
              </a:rPr>
              <a:t>« Je note </a:t>
            </a:r>
            <a:r>
              <a:rPr b="0" i="1" dirty="0" err="1">
                <a:solidFill>
                  <a:srgbClr val="6E6E6E"/>
                </a:solidFill>
              </a:rPr>
              <a:t>mes</a:t>
            </a:r>
            <a:r>
              <a:rPr b="0" i="1" dirty="0">
                <a:solidFill>
                  <a:srgbClr val="6E6E6E"/>
                </a:solidFill>
              </a:rPr>
              <a:t> </a:t>
            </a:r>
            <a:r>
              <a:rPr b="0" i="1" dirty="0" err="1">
                <a:solidFill>
                  <a:srgbClr val="6E6E6E"/>
                </a:solidFill>
              </a:rPr>
              <a:t>idées</a:t>
            </a:r>
            <a:r>
              <a:rPr b="0" i="1" dirty="0">
                <a:solidFill>
                  <a:srgbClr val="6E6E6E"/>
                </a:solidFill>
              </a:rPr>
              <a:t> sur des </a:t>
            </a:r>
            <a:r>
              <a:rPr b="0" i="1" dirty="0" err="1">
                <a:solidFill>
                  <a:srgbClr val="6E6E6E"/>
                </a:solidFill>
              </a:rPr>
              <a:t>post-it</a:t>
            </a:r>
            <a:r>
              <a:rPr b="0" i="1" dirty="0">
                <a:solidFill>
                  <a:srgbClr val="6E6E6E"/>
                </a:solidFill>
              </a:rPr>
              <a:t> </a:t>
            </a:r>
            <a:r>
              <a:rPr b="0" i="1" dirty="0" err="1">
                <a:solidFill>
                  <a:srgbClr val="6E6E6E"/>
                </a:solidFill>
              </a:rPr>
              <a:t>que</a:t>
            </a:r>
            <a:r>
              <a:rPr b="0" i="1" dirty="0">
                <a:solidFill>
                  <a:srgbClr val="6E6E6E"/>
                </a:solidFill>
              </a:rPr>
              <a:t> je </a:t>
            </a:r>
            <a:r>
              <a:rPr b="0" i="1" dirty="0" err="1">
                <a:solidFill>
                  <a:srgbClr val="6E6E6E"/>
                </a:solidFill>
              </a:rPr>
              <a:t>perds</a:t>
            </a:r>
            <a:r>
              <a:rPr b="0" i="1" dirty="0">
                <a:solidFill>
                  <a:srgbClr val="6E6E6E"/>
                </a:solidFill>
              </a:rPr>
              <a:t> tout le temps. »</a:t>
            </a:r>
          </a:p>
        </p:txBody>
      </p:sp>
      <p:sp>
        <p:nvSpPr>
          <p:cNvPr id="123" name="Text 8"/>
          <p:cNvSpPr txBox="1"/>
          <p:nvPr/>
        </p:nvSpPr>
        <p:spPr>
          <a:xfrm>
            <a:off x="749808" y="2192527"/>
            <a:ext cx="5003140" cy="35050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ct val="102000"/>
              </a:lnSpc>
              <a:defRPr sz="1200" b="1">
                <a:solidFill>
                  <a:srgbClr val="2E6BFF"/>
                </a:solidFill>
                <a:latin typeface="+mj-lt"/>
                <a:ea typeface="+mj-ea"/>
                <a:cs typeface="+mj-cs"/>
                <a:sym typeface="Calibri"/>
              </a:defRPr>
            </a:pPr>
            <a:r>
              <a:rPr dirty="0"/>
              <a:t>→ </a:t>
            </a:r>
            <a:r>
              <a:rPr dirty="0" err="1">
                <a:solidFill>
                  <a:srgbClr val="111111"/>
                </a:solidFill>
              </a:rPr>
              <a:t>Besoin</a:t>
            </a:r>
            <a:r>
              <a:rPr dirty="0">
                <a:solidFill>
                  <a:srgbClr val="111111"/>
                </a:solidFill>
              </a:rPr>
              <a:t> </a:t>
            </a:r>
            <a:r>
              <a:rPr dirty="0" err="1">
                <a:solidFill>
                  <a:srgbClr val="111111"/>
                </a:solidFill>
              </a:rPr>
              <a:t>réel</a:t>
            </a:r>
            <a:r>
              <a:rPr dirty="0">
                <a:solidFill>
                  <a:srgbClr val="111111"/>
                </a:solidFill>
              </a:rPr>
              <a:t> : </a:t>
            </a:r>
            <a:r>
              <a:rPr dirty="0" err="1">
                <a:solidFill>
                  <a:srgbClr val="111111"/>
                </a:solidFill>
              </a:rPr>
              <a:t>retrouver</a:t>
            </a:r>
            <a:r>
              <a:rPr dirty="0">
                <a:solidFill>
                  <a:srgbClr val="111111"/>
                </a:solidFill>
              </a:rPr>
              <a:t> </a:t>
            </a:r>
            <a:r>
              <a:rPr dirty="0" err="1">
                <a:solidFill>
                  <a:srgbClr val="111111"/>
                </a:solidFill>
              </a:rPr>
              <a:t>ses</a:t>
            </a:r>
            <a:r>
              <a:rPr dirty="0">
                <a:solidFill>
                  <a:srgbClr val="111111"/>
                </a:solidFill>
              </a:rPr>
              <a:t> </a:t>
            </a:r>
            <a:r>
              <a:rPr dirty="0" err="1">
                <a:solidFill>
                  <a:srgbClr val="111111"/>
                </a:solidFill>
              </a:rPr>
              <a:t>idées</a:t>
            </a:r>
            <a:r>
              <a:rPr dirty="0">
                <a:solidFill>
                  <a:srgbClr val="111111"/>
                </a:solidFill>
              </a:rPr>
              <a:t> sans effort de </a:t>
            </a:r>
            <a:r>
              <a:rPr dirty="0" err="1">
                <a:solidFill>
                  <a:srgbClr val="111111"/>
                </a:solidFill>
              </a:rPr>
              <a:t>rangement</a:t>
            </a:r>
            <a:r>
              <a:rPr dirty="0">
                <a:solidFill>
                  <a:srgbClr val="111111"/>
                </a:solidFill>
              </a:rPr>
              <a:t> — pas « </a:t>
            </a:r>
            <a:r>
              <a:rPr dirty="0" err="1">
                <a:solidFill>
                  <a:srgbClr val="111111"/>
                </a:solidFill>
              </a:rPr>
              <a:t>acheter</a:t>
            </a:r>
            <a:r>
              <a:rPr dirty="0">
                <a:solidFill>
                  <a:srgbClr val="111111"/>
                </a:solidFill>
              </a:rPr>
              <a:t> un carnet ».</a:t>
            </a:r>
          </a:p>
        </p:txBody>
      </p:sp>
      <p:sp>
        <p:nvSpPr>
          <p:cNvPr id="124" name="Shape 9"/>
          <p:cNvSpPr/>
          <p:nvPr/>
        </p:nvSpPr>
        <p:spPr>
          <a:xfrm>
            <a:off x="6255868" y="1589022"/>
            <a:ext cx="5368900" cy="1051562"/>
          </a:xfrm>
          <a:prstGeom prst="rect">
            <a:avLst/>
          </a:prstGeom>
          <a:solidFill>
            <a:srgbClr val="FFFFFF"/>
          </a:solidFill>
          <a:ln w="19050">
            <a:solidFill>
              <a:srgbClr val="000000"/>
            </a:solidFill>
          </a:ln>
        </p:spPr>
        <p:txBody>
          <a:bodyPr lIns="45718" tIns="45718" rIns="45718" bIns="45718"/>
          <a:lstStyle/>
          <a:p>
            <a:pPr>
              <a:defRPr>
                <a:latin typeface="+mj-lt"/>
                <a:ea typeface="+mj-ea"/>
                <a:cs typeface="+mj-cs"/>
                <a:sym typeface="Calibri"/>
              </a:defRPr>
            </a:pPr>
            <a:endParaRPr/>
          </a:p>
        </p:txBody>
      </p:sp>
      <p:sp>
        <p:nvSpPr>
          <p:cNvPr id="125" name="Text 10"/>
          <p:cNvSpPr txBox="1"/>
          <p:nvPr/>
        </p:nvSpPr>
        <p:spPr>
          <a:xfrm>
            <a:off x="6438748" y="1717038"/>
            <a:ext cx="5003142" cy="3505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ct val="102000"/>
              </a:lnSpc>
              <a:defRPr sz="1200" b="1">
                <a:solidFill>
                  <a:srgbClr val="111111"/>
                </a:solidFill>
                <a:latin typeface="+mj-lt"/>
                <a:ea typeface="+mj-ea"/>
                <a:cs typeface="+mj-cs"/>
                <a:sym typeface="Calibri"/>
              </a:defRPr>
            </a:pPr>
            <a:r>
              <a:rPr dirty="0" err="1"/>
              <a:t>Ils</a:t>
            </a:r>
            <a:r>
              <a:rPr dirty="0"/>
              <a:t> </a:t>
            </a:r>
            <a:r>
              <a:rPr dirty="0" err="1"/>
              <a:t>disent</a:t>
            </a:r>
            <a:r>
              <a:rPr dirty="0"/>
              <a:t>  </a:t>
            </a:r>
            <a:r>
              <a:rPr b="0" i="1" dirty="0">
                <a:solidFill>
                  <a:srgbClr val="6E6E6E"/>
                </a:solidFill>
              </a:rPr>
              <a:t>« Le </a:t>
            </a:r>
            <a:r>
              <a:rPr b="0" i="1" dirty="0" err="1">
                <a:solidFill>
                  <a:srgbClr val="6E6E6E"/>
                </a:solidFill>
              </a:rPr>
              <a:t>soir</a:t>
            </a:r>
            <a:r>
              <a:rPr b="0" i="1" dirty="0">
                <a:solidFill>
                  <a:srgbClr val="6E6E6E"/>
                </a:solidFill>
              </a:rPr>
              <a:t>, je </a:t>
            </a:r>
            <a:r>
              <a:rPr b="0" i="1" dirty="0" err="1">
                <a:solidFill>
                  <a:srgbClr val="6E6E6E"/>
                </a:solidFill>
              </a:rPr>
              <a:t>commande</a:t>
            </a:r>
            <a:r>
              <a:rPr b="0" i="1" dirty="0">
                <a:solidFill>
                  <a:srgbClr val="6E6E6E"/>
                </a:solidFill>
              </a:rPr>
              <a:t> à manger </a:t>
            </a:r>
            <a:r>
              <a:rPr b="0" i="1" dirty="0" err="1">
                <a:solidFill>
                  <a:srgbClr val="6E6E6E"/>
                </a:solidFill>
              </a:rPr>
              <a:t>parce</a:t>
            </a:r>
            <a:r>
              <a:rPr b="0" i="1" dirty="0">
                <a:solidFill>
                  <a:srgbClr val="6E6E6E"/>
                </a:solidFill>
              </a:rPr>
              <a:t> </a:t>
            </a:r>
            <a:r>
              <a:rPr b="0" i="1" dirty="0" err="1">
                <a:solidFill>
                  <a:srgbClr val="6E6E6E"/>
                </a:solidFill>
              </a:rPr>
              <a:t>que</a:t>
            </a:r>
            <a:r>
              <a:rPr b="0" i="1" dirty="0">
                <a:solidFill>
                  <a:srgbClr val="6E6E6E"/>
                </a:solidFill>
              </a:rPr>
              <a:t> je suis trop </a:t>
            </a:r>
            <a:r>
              <a:rPr b="0" i="1" dirty="0" err="1">
                <a:solidFill>
                  <a:srgbClr val="6E6E6E"/>
                </a:solidFill>
              </a:rPr>
              <a:t>crevé</a:t>
            </a:r>
            <a:r>
              <a:rPr b="0" i="1" dirty="0">
                <a:solidFill>
                  <a:srgbClr val="6E6E6E"/>
                </a:solidFill>
              </a:rPr>
              <a:t> pour </a:t>
            </a:r>
            <a:r>
              <a:rPr b="0" i="1" dirty="0" err="1">
                <a:solidFill>
                  <a:srgbClr val="6E6E6E"/>
                </a:solidFill>
              </a:rPr>
              <a:t>choisir</a:t>
            </a:r>
            <a:r>
              <a:rPr b="0" i="1" dirty="0">
                <a:solidFill>
                  <a:srgbClr val="6E6E6E"/>
                </a:solidFill>
              </a:rPr>
              <a:t>. »</a:t>
            </a:r>
          </a:p>
        </p:txBody>
      </p:sp>
      <p:sp>
        <p:nvSpPr>
          <p:cNvPr id="126" name="Text 11"/>
          <p:cNvSpPr txBox="1"/>
          <p:nvPr/>
        </p:nvSpPr>
        <p:spPr>
          <a:xfrm>
            <a:off x="6438748" y="2192527"/>
            <a:ext cx="5003142" cy="1568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ct val="102000"/>
              </a:lnSpc>
              <a:defRPr sz="1200" b="1">
                <a:solidFill>
                  <a:srgbClr val="2E6BFF"/>
                </a:solidFill>
                <a:latin typeface="+mj-lt"/>
                <a:ea typeface="+mj-ea"/>
                <a:cs typeface="+mj-cs"/>
                <a:sym typeface="Calibri"/>
              </a:defRPr>
            </a:pPr>
            <a:r>
              <a:t>→ </a:t>
            </a:r>
            <a:r>
              <a:rPr>
                <a:solidFill>
                  <a:srgbClr val="111111"/>
                </a:solidFill>
              </a:rPr>
              <a:t>Besoin réel : décider sans fatigue mentale — pas « avoir plus de restos ».</a:t>
            </a:r>
          </a:p>
        </p:txBody>
      </p:sp>
      <p:pic>
        <p:nvPicPr>
          <p:cNvPr id="127" name="Image 0" descr="Image 0"/>
          <p:cNvPicPr>
            <a:picLocks noChangeAspect="1"/>
          </p:cNvPicPr>
          <p:nvPr/>
        </p:nvPicPr>
        <p:blipFill>
          <a:blip r:embed="rId2"/>
          <a:stretch>
            <a:fillRect/>
          </a:stretch>
        </p:blipFill>
        <p:spPr>
          <a:xfrm>
            <a:off x="566927" y="6382510"/>
            <a:ext cx="868682" cy="223116"/>
          </a:xfrm>
          <a:prstGeom prst="rect">
            <a:avLst/>
          </a:prstGeom>
          <a:ln w="12700">
            <a:miter lim="400000"/>
          </a:ln>
        </p:spPr>
      </p:pic>
      <p:sp>
        <p:nvSpPr>
          <p:cNvPr id="128" name="Text 21"/>
          <p:cNvSpPr txBox="1"/>
          <p:nvPr/>
        </p:nvSpPr>
        <p:spPr>
          <a:xfrm>
            <a:off x="8515807" y="6428738"/>
            <a:ext cx="310896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900" b="1" spc="200">
                <a:solidFill>
                  <a:srgbClr val="9A9A9A"/>
                </a:solidFill>
                <a:latin typeface="Arial"/>
                <a:ea typeface="Arial"/>
                <a:cs typeface="Arial"/>
                <a:sym typeface="Arial"/>
              </a:defRPr>
            </a:lvl1pPr>
          </a:lstStyle>
          <a:p>
            <a:r>
              <a:t>IDDIC 2026  ·  BREAKING AI</a:t>
            </a:r>
          </a:p>
        </p:txBody>
      </p:sp>
      <p:sp>
        <p:nvSpPr>
          <p:cNvPr id="129" name="Shape 0"/>
          <p:cNvSpPr/>
          <p:nvPr/>
        </p:nvSpPr>
        <p:spPr>
          <a:xfrm>
            <a:off x="566927" y="457200"/>
            <a:ext cx="1234442" cy="384048"/>
          </a:xfrm>
          <a:prstGeom prst="roundRect">
            <a:avLst>
              <a:gd name="adj" fmla="val 50000"/>
            </a:avLst>
          </a:prstGeom>
          <a:solidFill>
            <a:srgbClr val="2E6BFF"/>
          </a:solidFill>
          <a:ln w="12700">
            <a:miter lim="400000"/>
          </a:ln>
        </p:spPr>
        <p:txBody>
          <a:bodyPr lIns="45718" tIns="45718" rIns="45718" bIns="45718"/>
          <a:lstStyle/>
          <a:p>
            <a:pPr>
              <a:defRPr>
                <a:latin typeface="+mj-lt"/>
                <a:ea typeface="+mj-ea"/>
                <a:cs typeface="+mj-cs"/>
                <a:sym typeface="Calibri"/>
              </a:defRPr>
            </a:pPr>
            <a:endParaRPr/>
          </a:p>
        </p:txBody>
      </p:sp>
      <p:sp>
        <p:nvSpPr>
          <p:cNvPr id="130" name="Text 1"/>
          <p:cNvSpPr txBox="1"/>
          <p:nvPr/>
        </p:nvSpPr>
        <p:spPr>
          <a:xfrm>
            <a:off x="566927" y="556674"/>
            <a:ext cx="1234443" cy="1850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300" b="1" spc="200">
                <a:solidFill>
                  <a:srgbClr val="FFFFFF"/>
                </a:solidFill>
                <a:latin typeface="Arial"/>
                <a:ea typeface="Arial"/>
                <a:cs typeface="Arial"/>
                <a:sym typeface="Arial"/>
              </a:defRPr>
            </a:lvl1pPr>
          </a:lstStyle>
          <a:p>
            <a:r>
              <a:t>JOUR 2</a:t>
            </a:r>
          </a:p>
        </p:txBody>
      </p:sp>
      <p:sp>
        <p:nvSpPr>
          <p:cNvPr id="131" name="Shape 13"/>
          <p:cNvSpPr/>
          <p:nvPr/>
        </p:nvSpPr>
        <p:spPr>
          <a:xfrm>
            <a:off x="574293" y="4681472"/>
            <a:ext cx="5368900" cy="737618"/>
          </a:xfrm>
          <a:prstGeom prst="rect">
            <a:avLst/>
          </a:prstGeom>
          <a:solidFill>
            <a:srgbClr val="FFFFFF"/>
          </a:solidFill>
          <a:ln w="19050">
            <a:solidFill>
              <a:srgbClr val="000000"/>
            </a:solidFill>
          </a:ln>
        </p:spPr>
        <p:txBody>
          <a:bodyPr lIns="45718" tIns="45718" rIns="45718" bIns="45718"/>
          <a:lstStyle/>
          <a:p>
            <a:pPr>
              <a:defRPr>
                <a:latin typeface="+mj-lt"/>
                <a:ea typeface="+mj-ea"/>
                <a:cs typeface="+mj-cs"/>
                <a:sym typeface="Calibri"/>
              </a:defRPr>
            </a:pPr>
            <a:r>
              <a:rPr lang="fr-FR" sz="1600" b="1" dirty="0">
                <a:latin typeface="+mj-lt"/>
                <a:sym typeface="Calibri"/>
              </a:rPr>
              <a:t>« Les réseaux de manière générale sont inondés de contenus générés par l'IA » / « Mon crédit est basé sur mon expérience et ma création originale ». </a:t>
            </a:r>
            <a:endParaRPr sz="1600" b="1" dirty="0"/>
          </a:p>
        </p:txBody>
      </p:sp>
      <p:sp>
        <p:nvSpPr>
          <p:cNvPr id="132" name="Text 14"/>
          <p:cNvSpPr txBox="1"/>
          <p:nvPr/>
        </p:nvSpPr>
        <p:spPr>
          <a:xfrm>
            <a:off x="749808" y="4807099"/>
            <a:ext cx="5003140" cy="1692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i="1">
                <a:solidFill>
                  <a:srgbClr val="9A9A9A"/>
                </a:solidFill>
                <a:latin typeface="+mj-lt"/>
                <a:ea typeface="+mj-ea"/>
                <a:cs typeface="+mj-cs"/>
                <a:sym typeface="Calibri"/>
              </a:defRPr>
            </a:lvl1pPr>
          </a:lstStyle>
          <a:p>
            <a:endParaRPr dirty="0"/>
          </a:p>
        </p:txBody>
      </p:sp>
      <p:sp>
        <p:nvSpPr>
          <p:cNvPr id="133" name="Shape 15"/>
          <p:cNvSpPr/>
          <p:nvPr/>
        </p:nvSpPr>
        <p:spPr>
          <a:xfrm>
            <a:off x="6255868" y="4681472"/>
            <a:ext cx="5368900" cy="737618"/>
          </a:xfrm>
          <a:prstGeom prst="rect">
            <a:avLst/>
          </a:prstGeom>
          <a:solidFill>
            <a:srgbClr val="FFFFFF"/>
          </a:solidFill>
          <a:ln w="19050">
            <a:solidFill>
              <a:srgbClr val="000000"/>
            </a:solidFill>
          </a:ln>
        </p:spPr>
        <p:txBody>
          <a:bodyPr lIns="45718" tIns="45718" rIns="45718" bIns="45718"/>
          <a:lstStyle/>
          <a:p>
            <a:pPr>
              <a:defRPr>
                <a:latin typeface="+mj-lt"/>
                <a:ea typeface="+mj-ea"/>
                <a:cs typeface="+mj-cs"/>
                <a:sym typeface="Calibri"/>
              </a:defRPr>
            </a:pPr>
            <a:r>
              <a:rPr lang="fr-FR" sz="1600" dirty="0">
                <a:latin typeface="+mj-lt"/>
                <a:sym typeface="Calibri"/>
              </a:rPr>
              <a:t>Prouver son authenticité et faire valoir son expérience humaine dans un environnement numérique saturé par des contenus artificiels.</a:t>
            </a:r>
            <a:endParaRPr sz="1600" dirty="0"/>
          </a:p>
        </p:txBody>
      </p:sp>
      <p:sp>
        <p:nvSpPr>
          <p:cNvPr id="134" name="Text 16"/>
          <p:cNvSpPr txBox="1"/>
          <p:nvPr/>
        </p:nvSpPr>
        <p:spPr>
          <a:xfrm>
            <a:off x="6438748" y="4807099"/>
            <a:ext cx="5003142" cy="1692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i="1">
                <a:solidFill>
                  <a:srgbClr val="9A9A9A"/>
                </a:solidFill>
                <a:latin typeface="+mj-lt"/>
                <a:ea typeface="+mj-ea"/>
                <a:cs typeface="+mj-cs"/>
                <a:sym typeface="Calibri"/>
              </a:defRPr>
            </a:lvl1pPr>
          </a:lstStyle>
          <a:p>
            <a:endParaRPr dirty="0"/>
          </a:p>
        </p:txBody>
      </p:sp>
      <p:sp>
        <p:nvSpPr>
          <p:cNvPr id="135" name="Shape 17"/>
          <p:cNvSpPr/>
          <p:nvPr/>
        </p:nvSpPr>
        <p:spPr>
          <a:xfrm>
            <a:off x="574293" y="5570987"/>
            <a:ext cx="5368900" cy="737618"/>
          </a:xfrm>
          <a:prstGeom prst="rect">
            <a:avLst/>
          </a:prstGeom>
          <a:solidFill>
            <a:srgbClr val="FFFFFF"/>
          </a:solidFill>
          <a:ln w="19050">
            <a:solidFill>
              <a:srgbClr val="000000"/>
            </a:solidFill>
          </a:ln>
        </p:spPr>
        <p:txBody>
          <a:bodyPr lIns="45718" tIns="45718" rIns="45718" bIns="45718"/>
          <a:lstStyle/>
          <a:p>
            <a:pPr>
              <a:defRPr>
                <a:latin typeface="+mj-lt"/>
                <a:ea typeface="+mj-ea"/>
                <a:cs typeface="+mj-cs"/>
                <a:sym typeface="Calibri"/>
              </a:defRPr>
            </a:pPr>
            <a:r>
              <a:rPr lang="fr-FR" b="1" dirty="0">
                <a:latin typeface="+mj-lt"/>
                <a:sym typeface="Calibri"/>
              </a:rPr>
              <a:t>« Le commun des mortels pense qu'avec l'IA tout est possible et rapide, mais ce n'est pas toujours le cas ».</a:t>
            </a:r>
            <a:endParaRPr b="1" dirty="0"/>
          </a:p>
        </p:txBody>
      </p:sp>
      <p:sp>
        <p:nvSpPr>
          <p:cNvPr id="136" name="Text 18"/>
          <p:cNvSpPr txBox="1"/>
          <p:nvPr/>
        </p:nvSpPr>
        <p:spPr>
          <a:xfrm>
            <a:off x="749808" y="5709609"/>
            <a:ext cx="5003140" cy="1692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i="1">
                <a:solidFill>
                  <a:srgbClr val="9A9A9A"/>
                </a:solidFill>
                <a:latin typeface="+mj-lt"/>
                <a:ea typeface="+mj-ea"/>
                <a:cs typeface="+mj-cs"/>
                <a:sym typeface="Calibri"/>
              </a:defRPr>
            </a:lvl1pPr>
          </a:lstStyle>
          <a:p>
            <a:endParaRPr dirty="0"/>
          </a:p>
        </p:txBody>
      </p:sp>
      <p:sp>
        <p:nvSpPr>
          <p:cNvPr id="137" name="Shape 19"/>
          <p:cNvSpPr/>
          <p:nvPr/>
        </p:nvSpPr>
        <p:spPr>
          <a:xfrm>
            <a:off x="6255868" y="5544717"/>
            <a:ext cx="5368900" cy="737618"/>
          </a:xfrm>
          <a:prstGeom prst="rect">
            <a:avLst/>
          </a:prstGeom>
          <a:solidFill>
            <a:srgbClr val="FFFFFF"/>
          </a:solidFill>
          <a:ln w="19050">
            <a:solidFill>
              <a:srgbClr val="000000"/>
            </a:solidFill>
          </a:ln>
        </p:spPr>
        <p:txBody>
          <a:bodyPr lIns="45718" tIns="45718" rIns="45718" bIns="45718"/>
          <a:lstStyle/>
          <a:p>
            <a:pPr>
              <a:defRPr>
                <a:latin typeface="+mj-lt"/>
                <a:ea typeface="+mj-ea"/>
                <a:cs typeface="+mj-cs"/>
                <a:sym typeface="Calibri"/>
              </a:defRPr>
            </a:pPr>
            <a:r>
              <a:rPr lang="fr-FR" sz="1600" dirty="0">
                <a:latin typeface="+mj-lt"/>
                <a:sym typeface="Calibri"/>
              </a:rPr>
              <a:t>Éduquer ses clients sur la réalité du métier pour justifier les délais et les coûts d'un véritable processus créatif humain.</a:t>
            </a:r>
            <a:endParaRPr sz="1600" dirty="0"/>
          </a:p>
        </p:txBody>
      </p:sp>
      <p:sp>
        <p:nvSpPr>
          <p:cNvPr id="138" name="Text 20"/>
          <p:cNvSpPr txBox="1"/>
          <p:nvPr/>
        </p:nvSpPr>
        <p:spPr>
          <a:xfrm>
            <a:off x="6438748" y="5709609"/>
            <a:ext cx="5003142" cy="1692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i="1">
                <a:solidFill>
                  <a:srgbClr val="9A9A9A"/>
                </a:solidFill>
                <a:latin typeface="+mj-lt"/>
                <a:ea typeface="+mj-ea"/>
                <a:cs typeface="+mj-cs"/>
                <a:sym typeface="Calibri"/>
              </a:defRPr>
            </a:lvl1pPr>
          </a:lstStyle>
          <a:p>
            <a:endParaRPr dirty="0"/>
          </a:p>
        </p:txBody>
      </p:sp>
      <p:sp>
        <p:nvSpPr>
          <p:cNvPr id="139" name="Shape 13"/>
          <p:cNvSpPr/>
          <p:nvPr/>
        </p:nvSpPr>
        <p:spPr>
          <a:xfrm>
            <a:off x="560729" y="2884418"/>
            <a:ext cx="5368900" cy="737618"/>
          </a:xfrm>
          <a:prstGeom prst="rect">
            <a:avLst/>
          </a:prstGeom>
          <a:solidFill>
            <a:srgbClr val="FFFFFF"/>
          </a:solidFill>
          <a:ln w="19050">
            <a:solidFill>
              <a:srgbClr val="000000"/>
            </a:solidFill>
          </a:ln>
        </p:spPr>
        <p:txBody>
          <a:bodyPr lIns="45718" tIns="45718" rIns="45718" bIns="45718"/>
          <a:lstStyle/>
          <a:p>
            <a:pPr>
              <a:defRPr>
                <a:latin typeface="+mj-lt"/>
                <a:ea typeface="+mj-ea"/>
                <a:cs typeface="+mj-cs"/>
                <a:sym typeface="Calibri"/>
              </a:defRPr>
            </a:pPr>
            <a:r>
              <a:rPr lang="fr-FR" b="1" dirty="0">
                <a:latin typeface="+mj-lt"/>
                <a:sym typeface="Calibri"/>
              </a:rPr>
              <a:t>« L'IA si c'est mal géré, ça se voit... » / « Ça fait Cheap ».</a:t>
            </a:r>
            <a:endParaRPr b="1" dirty="0"/>
          </a:p>
        </p:txBody>
      </p:sp>
      <p:sp>
        <p:nvSpPr>
          <p:cNvPr id="140" name="Text 14"/>
          <p:cNvSpPr txBox="1"/>
          <p:nvPr/>
        </p:nvSpPr>
        <p:spPr>
          <a:xfrm>
            <a:off x="743608" y="3112410"/>
            <a:ext cx="5003143" cy="1692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i="1">
                <a:solidFill>
                  <a:srgbClr val="9A9A9A"/>
                </a:solidFill>
                <a:latin typeface="+mj-lt"/>
                <a:ea typeface="+mj-ea"/>
                <a:cs typeface="+mj-cs"/>
                <a:sym typeface="Calibri"/>
              </a:defRPr>
            </a:lvl1pPr>
          </a:lstStyle>
          <a:p>
            <a:endParaRPr dirty="0"/>
          </a:p>
        </p:txBody>
      </p:sp>
      <p:sp>
        <p:nvSpPr>
          <p:cNvPr id="141" name="Shape 15"/>
          <p:cNvSpPr/>
          <p:nvPr/>
        </p:nvSpPr>
        <p:spPr>
          <a:xfrm>
            <a:off x="6249670" y="2932759"/>
            <a:ext cx="5368900" cy="737618"/>
          </a:xfrm>
          <a:prstGeom prst="rect">
            <a:avLst/>
          </a:prstGeom>
          <a:solidFill>
            <a:srgbClr val="FFFFFF"/>
          </a:solidFill>
          <a:ln w="19050">
            <a:solidFill>
              <a:srgbClr val="000000"/>
            </a:solidFill>
          </a:ln>
        </p:spPr>
        <p:txBody>
          <a:bodyPr lIns="45718" tIns="45718" rIns="45718" bIns="45718"/>
          <a:lstStyle/>
          <a:p>
            <a:pPr>
              <a:defRPr>
                <a:latin typeface="+mj-lt"/>
                <a:ea typeface="+mj-ea"/>
                <a:cs typeface="+mj-cs"/>
                <a:sym typeface="Calibri"/>
              </a:defRPr>
            </a:pPr>
            <a:r>
              <a:rPr lang="fr-FR" sz="1600" dirty="0">
                <a:latin typeface="+mj-lt"/>
                <a:sym typeface="Calibri"/>
              </a:rPr>
              <a:t>Maintenir une valeur perçue haute auprès des clients pour ne pas que son travail soit assimilé à de la production bas de gamme ou automatisée.</a:t>
            </a:r>
            <a:endParaRPr sz="1600" dirty="0"/>
          </a:p>
        </p:txBody>
      </p:sp>
      <p:sp>
        <p:nvSpPr>
          <p:cNvPr id="142" name="Text 16"/>
          <p:cNvSpPr txBox="1"/>
          <p:nvPr/>
        </p:nvSpPr>
        <p:spPr>
          <a:xfrm>
            <a:off x="6432549" y="3112410"/>
            <a:ext cx="5003143" cy="1692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i="1">
                <a:solidFill>
                  <a:srgbClr val="9A9A9A"/>
                </a:solidFill>
                <a:latin typeface="+mj-lt"/>
                <a:ea typeface="+mj-ea"/>
                <a:cs typeface="+mj-cs"/>
                <a:sym typeface="Calibri"/>
              </a:defRPr>
            </a:lvl1pPr>
          </a:lstStyle>
          <a:p>
            <a:endParaRPr dirty="0"/>
          </a:p>
        </p:txBody>
      </p:sp>
      <p:sp>
        <p:nvSpPr>
          <p:cNvPr id="143" name="Shape 17"/>
          <p:cNvSpPr/>
          <p:nvPr/>
        </p:nvSpPr>
        <p:spPr>
          <a:xfrm>
            <a:off x="560729" y="3756144"/>
            <a:ext cx="5368900" cy="737618"/>
          </a:xfrm>
          <a:prstGeom prst="rect">
            <a:avLst/>
          </a:prstGeom>
          <a:solidFill>
            <a:srgbClr val="FFFFFF"/>
          </a:solidFill>
          <a:ln w="19050">
            <a:solidFill>
              <a:srgbClr val="000000"/>
            </a:solidFill>
          </a:ln>
        </p:spPr>
        <p:txBody>
          <a:bodyPr lIns="45718" tIns="45718" rIns="45718" bIns="45718"/>
          <a:lstStyle/>
          <a:p>
            <a:pPr>
              <a:defRPr>
                <a:latin typeface="+mj-lt"/>
                <a:ea typeface="+mj-ea"/>
                <a:cs typeface="+mj-cs"/>
                <a:sym typeface="Calibri"/>
              </a:defRPr>
            </a:pPr>
            <a:r>
              <a:rPr lang="fr-FR" sz="1600" b="1" dirty="0">
                <a:latin typeface="+mj-lt"/>
                <a:sym typeface="Calibri"/>
              </a:rPr>
              <a:t>Mon quotidien demandera plus de créativité et d'audace pour concurrencer l'IA, c'est sûr » / « Me différencier des sites qui sont déjà générés par l'IA ». </a:t>
            </a:r>
            <a:endParaRPr sz="1600" b="1" dirty="0"/>
          </a:p>
        </p:txBody>
      </p:sp>
      <p:sp>
        <p:nvSpPr>
          <p:cNvPr id="144" name="Text 18"/>
          <p:cNvSpPr txBox="1"/>
          <p:nvPr/>
        </p:nvSpPr>
        <p:spPr>
          <a:xfrm>
            <a:off x="743608" y="4014921"/>
            <a:ext cx="5003143" cy="1692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i="1">
                <a:solidFill>
                  <a:srgbClr val="9A9A9A"/>
                </a:solidFill>
                <a:latin typeface="+mj-lt"/>
                <a:ea typeface="+mj-ea"/>
                <a:cs typeface="+mj-cs"/>
                <a:sym typeface="Calibri"/>
              </a:defRPr>
            </a:lvl1pPr>
          </a:lstStyle>
          <a:p>
            <a:endParaRPr dirty="0"/>
          </a:p>
        </p:txBody>
      </p:sp>
      <p:sp>
        <p:nvSpPr>
          <p:cNvPr id="145" name="Shape 19"/>
          <p:cNvSpPr/>
          <p:nvPr/>
        </p:nvSpPr>
        <p:spPr>
          <a:xfrm>
            <a:off x="6249670" y="3834128"/>
            <a:ext cx="5368900" cy="737618"/>
          </a:xfrm>
          <a:prstGeom prst="rect">
            <a:avLst/>
          </a:prstGeom>
          <a:solidFill>
            <a:srgbClr val="FFFFFF"/>
          </a:solidFill>
          <a:ln w="19050">
            <a:solidFill>
              <a:srgbClr val="000000"/>
            </a:solidFill>
          </a:ln>
        </p:spPr>
        <p:txBody>
          <a:bodyPr lIns="45718" tIns="45718" rIns="45718" bIns="45718"/>
          <a:lstStyle/>
          <a:p>
            <a:pPr>
              <a:defRPr>
                <a:latin typeface="+mj-lt"/>
                <a:ea typeface="+mj-ea"/>
                <a:cs typeface="+mj-cs"/>
                <a:sym typeface="Calibri"/>
              </a:defRPr>
            </a:pPr>
            <a:r>
              <a:rPr lang="fr-FR" sz="1600" dirty="0">
                <a:latin typeface="+mj-lt"/>
                <a:sym typeface="Calibri"/>
              </a:rPr>
              <a:t>Trouver de nouveaux leviers de différenciation (comme le conseil ou l'audace créative) quand la seule exécution technique ne suffit plus à justifier ses tarifs.</a:t>
            </a:r>
            <a:endParaRPr sz="1600" dirty="0"/>
          </a:p>
        </p:txBody>
      </p:sp>
      <p:sp>
        <p:nvSpPr>
          <p:cNvPr id="146" name="Text 20"/>
          <p:cNvSpPr txBox="1"/>
          <p:nvPr/>
        </p:nvSpPr>
        <p:spPr>
          <a:xfrm>
            <a:off x="6432548" y="4014921"/>
            <a:ext cx="5003142" cy="1692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i="1">
                <a:solidFill>
                  <a:srgbClr val="9A9A9A"/>
                </a:solidFill>
                <a:latin typeface="+mj-lt"/>
                <a:ea typeface="+mj-ea"/>
                <a:cs typeface="+mj-cs"/>
                <a:sym typeface="Calibri"/>
              </a:defRPr>
            </a:lvl1pPr>
          </a:lstStyle>
          <a:p>
            <a:endParaRPr dirty="0"/>
          </a:p>
        </p:txBody>
      </p:sp>
      <p:cxnSp>
        <p:nvCxnSpPr>
          <p:cNvPr id="3" name="Connecteur droit avec flèche 2">
            <a:extLst>
              <a:ext uri="{FF2B5EF4-FFF2-40B4-BE49-F238E27FC236}">
                <a16:creationId xmlns:a16="http://schemas.microsoft.com/office/drawing/2014/main" id="{47E82F55-5773-EF14-4002-D9FEEE02CB17}"/>
              </a:ext>
            </a:extLst>
          </p:cNvPr>
          <p:cNvCxnSpPr/>
          <p:nvPr/>
        </p:nvCxnSpPr>
        <p:spPr>
          <a:xfrm>
            <a:off x="5807304" y="3281687"/>
            <a:ext cx="34289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Connecteur droit avec flèche 7">
            <a:extLst>
              <a:ext uri="{FF2B5EF4-FFF2-40B4-BE49-F238E27FC236}">
                <a16:creationId xmlns:a16="http://schemas.microsoft.com/office/drawing/2014/main" id="{C6F008C7-4FD1-AD4D-ADEE-4962DE0334DA}"/>
              </a:ext>
            </a:extLst>
          </p:cNvPr>
          <p:cNvCxnSpPr/>
          <p:nvPr/>
        </p:nvCxnSpPr>
        <p:spPr>
          <a:xfrm>
            <a:off x="5807304" y="4184198"/>
            <a:ext cx="34289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Connecteur droit avec flèche 8">
            <a:extLst>
              <a:ext uri="{FF2B5EF4-FFF2-40B4-BE49-F238E27FC236}">
                <a16:creationId xmlns:a16="http://schemas.microsoft.com/office/drawing/2014/main" id="{82E07FBC-7C0A-B9AA-A606-4E449613512A}"/>
              </a:ext>
            </a:extLst>
          </p:cNvPr>
          <p:cNvCxnSpPr/>
          <p:nvPr/>
        </p:nvCxnSpPr>
        <p:spPr>
          <a:xfrm>
            <a:off x="5807304" y="5063690"/>
            <a:ext cx="34289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Connecteur droit avec flèche 9">
            <a:extLst>
              <a:ext uri="{FF2B5EF4-FFF2-40B4-BE49-F238E27FC236}">
                <a16:creationId xmlns:a16="http://schemas.microsoft.com/office/drawing/2014/main" id="{EB4B1DCC-76CD-77D4-367E-8070D7694753}"/>
              </a:ext>
            </a:extLst>
          </p:cNvPr>
          <p:cNvCxnSpPr/>
          <p:nvPr/>
        </p:nvCxnSpPr>
        <p:spPr>
          <a:xfrm>
            <a:off x="5807304" y="5958840"/>
            <a:ext cx="34289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ZoneTexte 11">
            <a:extLst>
              <a:ext uri="{FF2B5EF4-FFF2-40B4-BE49-F238E27FC236}">
                <a16:creationId xmlns:a16="http://schemas.microsoft.com/office/drawing/2014/main" id="{942E3FD8-0A8F-4C95-B9A3-DA1BEE38D766}"/>
              </a:ext>
            </a:extLst>
          </p:cNvPr>
          <p:cNvSpPr txBox="1"/>
          <p:nvPr/>
        </p:nvSpPr>
        <p:spPr>
          <a:xfrm>
            <a:off x="554532" y="1354691"/>
            <a:ext cx="6258392" cy="27430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02000"/>
              </a:lnSpc>
              <a:defRPr sz="1200" b="1">
                <a:solidFill>
                  <a:srgbClr val="111111"/>
                </a:solidFill>
                <a:latin typeface="+mj-lt"/>
                <a:ea typeface="+mj-ea"/>
                <a:cs typeface="+mj-cs"/>
                <a:sym typeface="Calibri"/>
              </a:defRPr>
            </a:pPr>
            <a:r>
              <a:rPr lang="fr-FR" sz="1200" dirty="0">
                <a:highlight>
                  <a:srgbClr val="FFFF00"/>
                </a:highlight>
              </a:rPr>
              <a:t>Ils disent</a:t>
            </a:r>
            <a:endParaRPr lang="fr-FR" sz="1200" b="0" i="1" dirty="0">
              <a:solidFill>
                <a:srgbClr val="6E6E6E"/>
              </a:solidFill>
              <a:highlight>
                <a:srgbClr val="FFFF00"/>
              </a:highlight>
            </a:endParaRPr>
          </a:p>
        </p:txBody>
      </p:sp>
      <p:sp>
        <p:nvSpPr>
          <p:cNvPr id="14" name="ZoneTexte 13">
            <a:extLst>
              <a:ext uri="{FF2B5EF4-FFF2-40B4-BE49-F238E27FC236}">
                <a16:creationId xmlns:a16="http://schemas.microsoft.com/office/drawing/2014/main" id="{AD4820B4-B44A-9819-65DB-C2090A37EA04}"/>
              </a:ext>
            </a:extLst>
          </p:cNvPr>
          <p:cNvSpPr txBox="1"/>
          <p:nvPr/>
        </p:nvSpPr>
        <p:spPr>
          <a:xfrm>
            <a:off x="6150203" y="1307395"/>
            <a:ext cx="6258392" cy="2616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fr-FR" sz="1100" b="1" dirty="0">
                <a:solidFill>
                  <a:srgbClr val="111111"/>
                </a:solidFill>
                <a:highlight>
                  <a:srgbClr val="FFFF00"/>
                </a:highlight>
                <a:latin typeface="+mj-lt"/>
              </a:rPr>
              <a:t>Besoin réel </a:t>
            </a:r>
            <a:endParaRPr lang="fr-FR" sz="1100" b="1" dirty="0">
              <a:highlight>
                <a:srgbClr val="FFFF00"/>
              </a:highlight>
              <a:latin typeface="+mj-lt"/>
            </a:endParaRP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Text 2"/>
          <p:cNvSpPr txBox="1"/>
          <p:nvPr/>
        </p:nvSpPr>
        <p:spPr>
          <a:xfrm>
            <a:off x="1865376" y="553672"/>
            <a:ext cx="7315201" cy="1728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b="1" spc="300">
                <a:solidFill>
                  <a:srgbClr val="111111"/>
                </a:solidFill>
                <a:latin typeface="Arial"/>
                <a:ea typeface="Arial"/>
                <a:cs typeface="Arial"/>
                <a:sym typeface="Arial"/>
              </a:defRPr>
            </a:lvl1pPr>
          </a:lstStyle>
          <a:p>
            <a:r>
              <a:t>TEMPLATE 3 / 6</a:t>
            </a:r>
          </a:p>
        </p:txBody>
      </p:sp>
      <p:sp>
        <p:nvSpPr>
          <p:cNvPr id="120" name="Text 3"/>
          <p:cNvSpPr txBox="1"/>
          <p:nvPr/>
        </p:nvSpPr>
        <p:spPr>
          <a:xfrm>
            <a:off x="566926" y="1005838"/>
            <a:ext cx="11057842" cy="4193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3000" b="1">
                <a:solidFill>
                  <a:srgbClr val="111111"/>
                </a:solidFill>
                <a:latin typeface="Arial"/>
                <a:ea typeface="Arial"/>
                <a:cs typeface="Arial"/>
                <a:sym typeface="Arial"/>
              </a:defRPr>
            </a:lvl1pPr>
          </a:lstStyle>
          <a:p>
            <a:r>
              <a:t>Du verbatim au besoin</a:t>
            </a:r>
          </a:p>
        </p:txBody>
      </p:sp>
      <p:sp>
        <p:nvSpPr>
          <p:cNvPr id="122" name="Text 7"/>
          <p:cNvSpPr txBox="1"/>
          <p:nvPr/>
        </p:nvSpPr>
        <p:spPr>
          <a:xfrm>
            <a:off x="749808" y="1717039"/>
            <a:ext cx="5003140" cy="1819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ct val="102000"/>
              </a:lnSpc>
              <a:defRPr sz="1200" b="1">
                <a:solidFill>
                  <a:srgbClr val="111111"/>
                </a:solidFill>
                <a:latin typeface="+mj-lt"/>
                <a:ea typeface="+mj-ea"/>
                <a:cs typeface="+mj-cs"/>
                <a:sym typeface="Calibri"/>
              </a:defRPr>
            </a:pPr>
            <a:endParaRPr b="0" i="1" dirty="0">
              <a:solidFill>
                <a:srgbClr val="6E6E6E"/>
              </a:solidFill>
            </a:endParaRPr>
          </a:p>
        </p:txBody>
      </p:sp>
      <p:sp>
        <p:nvSpPr>
          <p:cNvPr id="123" name="Text 8"/>
          <p:cNvSpPr txBox="1"/>
          <p:nvPr/>
        </p:nvSpPr>
        <p:spPr>
          <a:xfrm>
            <a:off x="749808" y="2192527"/>
            <a:ext cx="5003140" cy="1819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ct val="102000"/>
              </a:lnSpc>
              <a:defRPr sz="1200" b="1">
                <a:solidFill>
                  <a:srgbClr val="2E6BFF"/>
                </a:solidFill>
                <a:latin typeface="+mj-lt"/>
                <a:ea typeface="+mj-ea"/>
                <a:cs typeface="+mj-cs"/>
                <a:sym typeface="Calibri"/>
              </a:defRPr>
            </a:pPr>
            <a:endParaRPr dirty="0">
              <a:solidFill>
                <a:srgbClr val="111111"/>
              </a:solidFill>
            </a:endParaRPr>
          </a:p>
        </p:txBody>
      </p:sp>
      <p:sp>
        <p:nvSpPr>
          <p:cNvPr id="125" name="Text 10"/>
          <p:cNvSpPr txBox="1"/>
          <p:nvPr/>
        </p:nvSpPr>
        <p:spPr>
          <a:xfrm>
            <a:off x="6438748" y="1717038"/>
            <a:ext cx="5003142" cy="1819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ct val="102000"/>
              </a:lnSpc>
              <a:defRPr sz="1200" b="1">
                <a:solidFill>
                  <a:srgbClr val="111111"/>
                </a:solidFill>
                <a:latin typeface="+mj-lt"/>
                <a:ea typeface="+mj-ea"/>
                <a:cs typeface="+mj-cs"/>
                <a:sym typeface="Calibri"/>
              </a:defRPr>
            </a:pPr>
            <a:endParaRPr b="0" i="1" dirty="0">
              <a:solidFill>
                <a:srgbClr val="6E6E6E"/>
              </a:solidFill>
            </a:endParaRPr>
          </a:p>
        </p:txBody>
      </p:sp>
      <p:sp>
        <p:nvSpPr>
          <p:cNvPr id="126" name="Text 11"/>
          <p:cNvSpPr txBox="1"/>
          <p:nvPr/>
        </p:nvSpPr>
        <p:spPr>
          <a:xfrm>
            <a:off x="6438748" y="2192527"/>
            <a:ext cx="5003142" cy="1819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nSpc>
                <a:spcPct val="102000"/>
              </a:lnSpc>
              <a:defRPr sz="1200" b="1">
                <a:solidFill>
                  <a:srgbClr val="2E6BFF"/>
                </a:solidFill>
                <a:latin typeface="+mj-lt"/>
                <a:ea typeface="+mj-ea"/>
                <a:cs typeface="+mj-cs"/>
                <a:sym typeface="Calibri"/>
              </a:defRPr>
            </a:pPr>
            <a:endParaRPr dirty="0">
              <a:solidFill>
                <a:srgbClr val="111111"/>
              </a:solidFill>
            </a:endParaRPr>
          </a:p>
        </p:txBody>
      </p:sp>
      <p:pic>
        <p:nvPicPr>
          <p:cNvPr id="127" name="Image 0" descr="Image 0"/>
          <p:cNvPicPr>
            <a:picLocks noChangeAspect="1"/>
          </p:cNvPicPr>
          <p:nvPr/>
        </p:nvPicPr>
        <p:blipFill>
          <a:blip r:embed="rId2"/>
          <a:stretch>
            <a:fillRect/>
          </a:stretch>
        </p:blipFill>
        <p:spPr>
          <a:xfrm>
            <a:off x="566927" y="6382510"/>
            <a:ext cx="868682" cy="223116"/>
          </a:xfrm>
          <a:prstGeom prst="rect">
            <a:avLst/>
          </a:prstGeom>
          <a:ln w="12700">
            <a:miter lim="400000"/>
          </a:ln>
        </p:spPr>
      </p:pic>
      <p:sp>
        <p:nvSpPr>
          <p:cNvPr id="128" name="Text 21"/>
          <p:cNvSpPr txBox="1"/>
          <p:nvPr/>
        </p:nvSpPr>
        <p:spPr>
          <a:xfrm>
            <a:off x="8515807" y="6428738"/>
            <a:ext cx="310896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900" b="1" spc="200">
                <a:solidFill>
                  <a:srgbClr val="9A9A9A"/>
                </a:solidFill>
                <a:latin typeface="Arial"/>
                <a:ea typeface="Arial"/>
                <a:cs typeface="Arial"/>
                <a:sym typeface="Arial"/>
              </a:defRPr>
            </a:lvl1pPr>
          </a:lstStyle>
          <a:p>
            <a:r>
              <a:t>IDDIC 2026  ·  BREAKING AI</a:t>
            </a:r>
          </a:p>
        </p:txBody>
      </p:sp>
      <p:sp>
        <p:nvSpPr>
          <p:cNvPr id="129" name="Shape 0"/>
          <p:cNvSpPr/>
          <p:nvPr/>
        </p:nvSpPr>
        <p:spPr>
          <a:xfrm>
            <a:off x="566927" y="457200"/>
            <a:ext cx="1234442" cy="384048"/>
          </a:xfrm>
          <a:prstGeom prst="roundRect">
            <a:avLst>
              <a:gd name="adj" fmla="val 50000"/>
            </a:avLst>
          </a:prstGeom>
          <a:solidFill>
            <a:srgbClr val="2E6BFF"/>
          </a:solidFill>
          <a:ln w="12700">
            <a:miter lim="400000"/>
          </a:ln>
        </p:spPr>
        <p:txBody>
          <a:bodyPr lIns="45718" tIns="45718" rIns="45718" bIns="45718"/>
          <a:lstStyle/>
          <a:p>
            <a:pPr>
              <a:defRPr>
                <a:latin typeface="+mj-lt"/>
                <a:ea typeface="+mj-ea"/>
                <a:cs typeface="+mj-cs"/>
                <a:sym typeface="Calibri"/>
              </a:defRPr>
            </a:pPr>
            <a:endParaRPr/>
          </a:p>
        </p:txBody>
      </p:sp>
      <p:sp>
        <p:nvSpPr>
          <p:cNvPr id="130" name="Text 1"/>
          <p:cNvSpPr txBox="1"/>
          <p:nvPr/>
        </p:nvSpPr>
        <p:spPr>
          <a:xfrm>
            <a:off x="566927" y="556674"/>
            <a:ext cx="1234443" cy="1850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300" b="1" spc="200">
                <a:solidFill>
                  <a:srgbClr val="FFFFFF"/>
                </a:solidFill>
                <a:latin typeface="Arial"/>
                <a:ea typeface="Arial"/>
                <a:cs typeface="Arial"/>
                <a:sym typeface="Arial"/>
              </a:defRPr>
            </a:lvl1pPr>
          </a:lstStyle>
          <a:p>
            <a:r>
              <a:t>JOUR 2</a:t>
            </a:r>
          </a:p>
        </p:txBody>
      </p:sp>
      <p:sp>
        <p:nvSpPr>
          <p:cNvPr id="131" name="Shape 13"/>
          <p:cNvSpPr/>
          <p:nvPr/>
        </p:nvSpPr>
        <p:spPr>
          <a:xfrm>
            <a:off x="566928" y="3987492"/>
            <a:ext cx="5368900" cy="737618"/>
          </a:xfrm>
          <a:prstGeom prst="rect">
            <a:avLst/>
          </a:prstGeom>
          <a:solidFill>
            <a:srgbClr val="FFFFFF"/>
          </a:solidFill>
          <a:ln w="19050">
            <a:solidFill>
              <a:srgbClr val="000000"/>
            </a:solidFill>
          </a:ln>
        </p:spPr>
        <p:txBody>
          <a:bodyPr lIns="45718" tIns="45718" rIns="45718" bIns="45718"/>
          <a:lstStyle/>
          <a:p>
            <a:pPr>
              <a:defRPr>
                <a:latin typeface="+mj-lt"/>
                <a:ea typeface="+mj-ea"/>
                <a:cs typeface="+mj-cs"/>
                <a:sym typeface="Calibri"/>
              </a:defRPr>
            </a:pPr>
            <a:endParaRPr/>
          </a:p>
        </p:txBody>
      </p:sp>
      <p:sp>
        <p:nvSpPr>
          <p:cNvPr id="132" name="Text 14"/>
          <p:cNvSpPr txBox="1"/>
          <p:nvPr/>
        </p:nvSpPr>
        <p:spPr>
          <a:xfrm>
            <a:off x="749808" y="4807099"/>
            <a:ext cx="5003140" cy="1692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i="1">
                <a:solidFill>
                  <a:srgbClr val="9A9A9A"/>
                </a:solidFill>
                <a:latin typeface="+mj-lt"/>
                <a:ea typeface="+mj-ea"/>
                <a:cs typeface="+mj-cs"/>
                <a:sym typeface="Calibri"/>
              </a:defRPr>
            </a:lvl1pPr>
          </a:lstStyle>
          <a:p>
            <a:endParaRPr dirty="0"/>
          </a:p>
        </p:txBody>
      </p:sp>
      <p:sp>
        <p:nvSpPr>
          <p:cNvPr id="133" name="Shape 15"/>
          <p:cNvSpPr/>
          <p:nvPr/>
        </p:nvSpPr>
        <p:spPr>
          <a:xfrm>
            <a:off x="6313018" y="4008899"/>
            <a:ext cx="5368900" cy="737618"/>
          </a:xfrm>
          <a:prstGeom prst="rect">
            <a:avLst/>
          </a:prstGeom>
          <a:solidFill>
            <a:srgbClr val="FFFFFF"/>
          </a:solidFill>
          <a:ln w="19050">
            <a:solidFill>
              <a:srgbClr val="000000"/>
            </a:solidFill>
          </a:ln>
        </p:spPr>
        <p:txBody>
          <a:bodyPr lIns="45718" tIns="45718" rIns="45718" bIns="45718"/>
          <a:lstStyle/>
          <a:p>
            <a:pPr>
              <a:defRPr>
                <a:latin typeface="+mj-lt"/>
                <a:ea typeface="+mj-ea"/>
                <a:cs typeface="+mj-cs"/>
                <a:sym typeface="Calibri"/>
              </a:defRPr>
            </a:pPr>
            <a:endParaRPr/>
          </a:p>
        </p:txBody>
      </p:sp>
      <p:sp>
        <p:nvSpPr>
          <p:cNvPr id="134" name="Text 16"/>
          <p:cNvSpPr txBox="1"/>
          <p:nvPr/>
        </p:nvSpPr>
        <p:spPr>
          <a:xfrm>
            <a:off x="6438748" y="4807099"/>
            <a:ext cx="5003142" cy="1692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i="1">
                <a:solidFill>
                  <a:srgbClr val="9A9A9A"/>
                </a:solidFill>
                <a:latin typeface="+mj-lt"/>
                <a:ea typeface="+mj-ea"/>
                <a:cs typeface="+mj-cs"/>
                <a:sym typeface="Calibri"/>
              </a:defRPr>
            </a:lvl1pPr>
          </a:lstStyle>
          <a:p>
            <a:endParaRPr dirty="0"/>
          </a:p>
        </p:txBody>
      </p:sp>
      <p:sp>
        <p:nvSpPr>
          <p:cNvPr id="135" name="Shape 17"/>
          <p:cNvSpPr/>
          <p:nvPr/>
        </p:nvSpPr>
        <p:spPr>
          <a:xfrm>
            <a:off x="554532" y="5035484"/>
            <a:ext cx="5368900" cy="737618"/>
          </a:xfrm>
          <a:prstGeom prst="rect">
            <a:avLst/>
          </a:prstGeom>
          <a:solidFill>
            <a:srgbClr val="FFFFFF"/>
          </a:solidFill>
          <a:ln w="19050">
            <a:solidFill>
              <a:srgbClr val="000000"/>
            </a:solidFill>
          </a:ln>
        </p:spPr>
        <p:txBody>
          <a:bodyPr lIns="45718" tIns="45718" rIns="45718" bIns="45718"/>
          <a:lstStyle/>
          <a:p>
            <a:pPr>
              <a:defRPr>
                <a:latin typeface="+mj-lt"/>
                <a:ea typeface="+mj-ea"/>
                <a:cs typeface="+mj-cs"/>
                <a:sym typeface="Calibri"/>
              </a:defRPr>
            </a:pPr>
            <a:endParaRPr/>
          </a:p>
        </p:txBody>
      </p:sp>
      <p:sp>
        <p:nvSpPr>
          <p:cNvPr id="136" name="Text 18"/>
          <p:cNvSpPr txBox="1"/>
          <p:nvPr/>
        </p:nvSpPr>
        <p:spPr>
          <a:xfrm>
            <a:off x="749808" y="5709609"/>
            <a:ext cx="5003140" cy="1692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i="1">
                <a:solidFill>
                  <a:srgbClr val="9A9A9A"/>
                </a:solidFill>
                <a:latin typeface="+mj-lt"/>
                <a:ea typeface="+mj-ea"/>
                <a:cs typeface="+mj-cs"/>
                <a:sym typeface="Calibri"/>
              </a:defRPr>
            </a:lvl1pPr>
          </a:lstStyle>
          <a:p>
            <a:endParaRPr dirty="0"/>
          </a:p>
        </p:txBody>
      </p:sp>
      <p:sp>
        <p:nvSpPr>
          <p:cNvPr id="137" name="Shape 19"/>
          <p:cNvSpPr/>
          <p:nvPr/>
        </p:nvSpPr>
        <p:spPr>
          <a:xfrm>
            <a:off x="6313018" y="5035484"/>
            <a:ext cx="5368900" cy="737618"/>
          </a:xfrm>
          <a:prstGeom prst="rect">
            <a:avLst/>
          </a:prstGeom>
          <a:solidFill>
            <a:srgbClr val="FFFFFF"/>
          </a:solidFill>
          <a:ln w="19050">
            <a:solidFill>
              <a:srgbClr val="000000"/>
            </a:solidFill>
          </a:ln>
        </p:spPr>
        <p:txBody>
          <a:bodyPr lIns="45718" tIns="45718" rIns="45718" bIns="45718"/>
          <a:lstStyle/>
          <a:p>
            <a:pPr>
              <a:defRPr>
                <a:latin typeface="+mj-lt"/>
                <a:ea typeface="+mj-ea"/>
                <a:cs typeface="+mj-cs"/>
                <a:sym typeface="Calibri"/>
              </a:defRPr>
            </a:pPr>
            <a:endParaRPr/>
          </a:p>
        </p:txBody>
      </p:sp>
      <p:sp>
        <p:nvSpPr>
          <p:cNvPr id="138" name="Text 20"/>
          <p:cNvSpPr txBox="1"/>
          <p:nvPr/>
        </p:nvSpPr>
        <p:spPr>
          <a:xfrm>
            <a:off x="6438748" y="5709609"/>
            <a:ext cx="5003142" cy="1692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i="1">
                <a:solidFill>
                  <a:srgbClr val="9A9A9A"/>
                </a:solidFill>
                <a:latin typeface="+mj-lt"/>
                <a:ea typeface="+mj-ea"/>
                <a:cs typeface="+mj-cs"/>
                <a:sym typeface="Calibri"/>
              </a:defRPr>
            </a:lvl1pPr>
          </a:lstStyle>
          <a:p>
            <a:endParaRPr dirty="0"/>
          </a:p>
        </p:txBody>
      </p:sp>
      <p:sp>
        <p:nvSpPr>
          <p:cNvPr id="139" name="Shape 13"/>
          <p:cNvSpPr/>
          <p:nvPr/>
        </p:nvSpPr>
        <p:spPr>
          <a:xfrm>
            <a:off x="560730" y="1828154"/>
            <a:ext cx="5368900" cy="737618"/>
          </a:xfrm>
          <a:prstGeom prst="rect">
            <a:avLst/>
          </a:prstGeom>
          <a:solidFill>
            <a:srgbClr val="FFFFFF"/>
          </a:solidFill>
          <a:ln w="19050">
            <a:solidFill>
              <a:srgbClr val="000000"/>
            </a:solidFill>
          </a:ln>
        </p:spPr>
        <p:txBody>
          <a:bodyPr lIns="45718" tIns="45718" rIns="45718" bIns="45718"/>
          <a:lstStyle/>
          <a:p>
            <a:pPr>
              <a:defRPr>
                <a:latin typeface="+mj-lt"/>
                <a:ea typeface="+mj-ea"/>
                <a:cs typeface="+mj-cs"/>
                <a:sym typeface="Calibri"/>
              </a:defRPr>
            </a:pPr>
            <a:endParaRPr/>
          </a:p>
        </p:txBody>
      </p:sp>
      <p:sp>
        <p:nvSpPr>
          <p:cNvPr id="140" name="Text 14"/>
          <p:cNvSpPr txBox="1"/>
          <p:nvPr/>
        </p:nvSpPr>
        <p:spPr>
          <a:xfrm>
            <a:off x="743608" y="3112410"/>
            <a:ext cx="5003143" cy="1692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i="1">
                <a:solidFill>
                  <a:srgbClr val="9A9A9A"/>
                </a:solidFill>
                <a:latin typeface="+mj-lt"/>
                <a:ea typeface="+mj-ea"/>
                <a:cs typeface="+mj-cs"/>
                <a:sym typeface="Calibri"/>
              </a:defRPr>
            </a:lvl1pPr>
          </a:lstStyle>
          <a:p>
            <a:endParaRPr dirty="0"/>
          </a:p>
        </p:txBody>
      </p:sp>
      <p:sp>
        <p:nvSpPr>
          <p:cNvPr id="141" name="Shape 15"/>
          <p:cNvSpPr/>
          <p:nvPr/>
        </p:nvSpPr>
        <p:spPr>
          <a:xfrm>
            <a:off x="6313018" y="1851758"/>
            <a:ext cx="5368900" cy="737618"/>
          </a:xfrm>
          <a:prstGeom prst="rect">
            <a:avLst/>
          </a:prstGeom>
          <a:solidFill>
            <a:srgbClr val="FFFFFF"/>
          </a:solidFill>
          <a:ln w="19050">
            <a:solidFill>
              <a:srgbClr val="000000"/>
            </a:solidFill>
          </a:ln>
        </p:spPr>
        <p:txBody>
          <a:bodyPr lIns="45718" tIns="45718" rIns="45718" bIns="45718"/>
          <a:lstStyle/>
          <a:p>
            <a:pPr>
              <a:defRPr>
                <a:latin typeface="+mj-lt"/>
                <a:ea typeface="+mj-ea"/>
                <a:cs typeface="+mj-cs"/>
                <a:sym typeface="Calibri"/>
              </a:defRPr>
            </a:pPr>
            <a:endParaRPr/>
          </a:p>
        </p:txBody>
      </p:sp>
      <p:sp>
        <p:nvSpPr>
          <p:cNvPr id="142" name="Text 16"/>
          <p:cNvSpPr txBox="1"/>
          <p:nvPr/>
        </p:nvSpPr>
        <p:spPr>
          <a:xfrm>
            <a:off x="6432549" y="3112410"/>
            <a:ext cx="5003143" cy="1692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i="1">
                <a:solidFill>
                  <a:srgbClr val="9A9A9A"/>
                </a:solidFill>
                <a:latin typeface="+mj-lt"/>
                <a:ea typeface="+mj-ea"/>
                <a:cs typeface="+mj-cs"/>
                <a:sym typeface="Calibri"/>
              </a:defRPr>
            </a:lvl1pPr>
          </a:lstStyle>
          <a:p>
            <a:endParaRPr dirty="0"/>
          </a:p>
        </p:txBody>
      </p:sp>
      <p:sp>
        <p:nvSpPr>
          <p:cNvPr id="143" name="Shape 17"/>
          <p:cNvSpPr/>
          <p:nvPr/>
        </p:nvSpPr>
        <p:spPr>
          <a:xfrm>
            <a:off x="560729" y="2939500"/>
            <a:ext cx="5368900" cy="737618"/>
          </a:xfrm>
          <a:prstGeom prst="rect">
            <a:avLst/>
          </a:prstGeom>
          <a:solidFill>
            <a:srgbClr val="FFFFFF"/>
          </a:solidFill>
          <a:ln w="19050">
            <a:solidFill>
              <a:srgbClr val="000000"/>
            </a:solidFill>
          </a:ln>
        </p:spPr>
        <p:txBody>
          <a:bodyPr lIns="45718" tIns="45718" rIns="45718" bIns="45718"/>
          <a:lstStyle/>
          <a:p>
            <a:pPr>
              <a:defRPr>
                <a:latin typeface="+mj-lt"/>
                <a:ea typeface="+mj-ea"/>
                <a:cs typeface="+mj-cs"/>
                <a:sym typeface="Calibri"/>
              </a:defRPr>
            </a:pPr>
            <a:r>
              <a:rPr lang="fr-FR" sz="1600" dirty="0">
                <a:latin typeface="+mj-lt"/>
                <a:sym typeface="Calibri"/>
              </a:rPr>
              <a:t>L'algorithme fait que les projets se ressemblent. Il y a aussi du burn-out créatif » / « Nous, on nous recrute pour le contraire de l'IA (créativité pure)</a:t>
            </a:r>
            <a:endParaRPr sz="1600" dirty="0"/>
          </a:p>
        </p:txBody>
      </p:sp>
      <p:sp>
        <p:nvSpPr>
          <p:cNvPr id="144" name="Text 18"/>
          <p:cNvSpPr txBox="1"/>
          <p:nvPr/>
        </p:nvSpPr>
        <p:spPr>
          <a:xfrm>
            <a:off x="743608" y="4014921"/>
            <a:ext cx="5003143" cy="1692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i="1">
                <a:solidFill>
                  <a:srgbClr val="9A9A9A"/>
                </a:solidFill>
                <a:latin typeface="+mj-lt"/>
                <a:ea typeface="+mj-ea"/>
                <a:cs typeface="+mj-cs"/>
                <a:sym typeface="Calibri"/>
              </a:defRPr>
            </a:lvl1pPr>
          </a:lstStyle>
          <a:p>
            <a:endParaRPr dirty="0"/>
          </a:p>
        </p:txBody>
      </p:sp>
      <p:sp>
        <p:nvSpPr>
          <p:cNvPr id="145" name="Shape 19"/>
          <p:cNvSpPr/>
          <p:nvPr/>
        </p:nvSpPr>
        <p:spPr>
          <a:xfrm>
            <a:off x="6313018" y="2947464"/>
            <a:ext cx="5368900" cy="737618"/>
          </a:xfrm>
          <a:prstGeom prst="rect">
            <a:avLst/>
          </a:prstGeom>
          <a:solidFill>
            <a:srgbClr val="FFFFFF"/>
          </a:solidFill>
          <a:ln w="19050">
            <a:solidFill>
              <a:srgbClr val="000000"/>
            </a:solidFill>
          </a:ln>
        </p:spPr>
        <p:txBody>
          <a:bodyPr lIns="45718" tIns="45718" rIns="45718" bIns="45718"/>
          <a:lstStyle/>
          <a:p>
            <a:pPr>
              <a:defRPr>
                <a:latin typeface="+mj-lt"/>
                <a:ea typeface="+mj-ea"/>
                <a:cs typeface="+mj-cs"/>
                <a:sym typeface="Calibri"/>
              </a:defRPr>
            </a:pPr>
            <a:r>
              <a:rPr lang="fr-FR" sz="1600" dirty="0">
                <a:latin typeface="+mj-lt"/>
                <a:sym typeface="Calibri"/>
              </a:rPr>
              <a:t>Échapper à l'uniformisation algorithmique et renouveler son inspiration sans s'épuiser, pour préserver une signature artistique unique.</a:t>
            </a:r>
            <a:endParaRPr sz="1600" dirty="0"/>
          </a:p>
        </p:txBody>
      </p:sp>
      <p:sp>
        <p:nvSpPr>
          <p:cNvPr id="146" name="Text 20"/>
          <p:cNvSpPr txBox="1"/>
          <p:nvPr/>
        </p:nvSpPr>
        <p:spPr>
          <a:xfrm>
            <a:off x="6432548" y="4014921"/>
            <a:ext cx="5003142" cy="1692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i="1">
                <a:solidFill>
                  <a:srgbClr val="9A9A9A"/>
                </a:solidFill>
                <a:latin typeface="+mj-lt"/>
                <a:ea typeface="+mj-ea"/>
                <a:cs typeface="+mj-cs"/>
                <a:sym typeface="Calibri"/>
              </a:defRPr>
            </a:lvl1pPr>
          </a:lstStyle>
          <a:p>
            <a:endParaRPr dirty="0"/>
          </a:p>
        </p:txBody>
      </p:sp>
      <p:sp>
        <p:nvSpPr>
          <p:cNvPr id="2" name="ZoneTexte 1">
            <a:extLst>
              <a:ext uri="{FF2B5EF4-FFF2-40B4-BE49-F238E27FC236}">
                <a16:creationId xmlns:a16="http://schemas.microsoft.com/office/drawing/2014/main" id="{8DE10496-63F1-90AB-1176-7AA3332D41A9}"/>
              </a:ext>
            </a:extLst>
          </p:cNvPr>
          <p:cNvSpPr txBox="1"/>
          <p:nvPr/>
        </p:nvSpPr>
        <p:spPr>
          <a:xfrm>
            <a:off x="560730" y="1770039"/>
            <a:ext cx="4660900" cy="83099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r>
              <a:rPr lang="fr-FR" sz="1600" dirty="0"/>
              <a:t>« Ce serait beaucoup plus productif pour moi de travailler une seule nuit avec l'IA et d'avancer sur une semaine. »</a:t>
            </a:r>
            <a:endParaRPr kumimoji="0" lang="fr-FR" sz="1600" b="0" i="0" u="none" strike="noStrike" cap="none" spc="0" normalizeH="0" baseline="0" dirty="0">
              <a:ln>
                <a:noFill/>
              </a:ln>
              <a:solidFill>
                <a:srgbClr val="000000"/>
              </a:solidFill>
              <a:effectLst/>
              <a:uFillTx/>
              <a:latin typeface="+mn-lt"/>
              <a:ea typeface="+mn-ea"/>
              <a:cs typeface="+mn-cs"/>
              <a:sym typeface="Helvetica"/>
            </a:endParaRPr>
          </a:p>
        </p:txBody>
      </p:sp>
      <p:sp>
        <p:nvSpPr>
          <p:cNvPr id="3" name="ZoneTexte 2">
            <a:extLst>
              <a:ext uri="{FF2B5EF4-FFF2-40B4-BE49-F238E27FC236}">
                <a16:creationId xmlns:a16="http://schemas.microsoft.com/office/drawing/2014/main" id="{D839BD00-B3C9-5E2E-5C6D-D0B4B00932F5}"/>
              </a:ext>
            </a:extLst>
          </p:cNvPr>
          <p:cNvSpPr txBox="1"/>
          <p:nvPr/>
        </p:nvSpPr>
        <p:spPr>
          <a:xfrm>
            <a:off x="6489700" y="1857041"/>
            <a:ext cx="5689600" cy="58477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r>
              <a:rPr lang="fr-FR" sz="1600" dirty="0"/>
              <a:t>Maximiser la rentabilité et la vitesse de production sans s'alourdir de charges humaines (salaires, logistique).</a:t>
            </a:r>
            <a:endParaRPr kumimoji="0" lang="fr-FR" sz="1600" b="0" i="0" u="none" strike="noStrike" cap="none" spc="0" normalizeH="0" baseline="0" dirty="0">
              <a:ln>
                <a:noFill/>
              </a:ln>
              <a:solidFill>
                <a:srgbClr val="000000"/>
              </a:solidFill>
              <a:effectLst/>
              <a:uFillTx/>
              <a:latin typeface="+mn-lt"/>
              <a:ea typeface="+mn-ea"/>
              <a:cs typeface="+mn-cs"/>
              <a:sym typeface="Helvetica"/>
            </a:endParaRPr>
          </a:p>
        </p:txBody>
      </p:sp>
      <p:sp>
        <p:nvSpPr>
          <p:cNvPr id="7" name="ZoneTexte 6">
            <a:extLst>
              <a:ext uri="{FF2B5EF4-FFF2-40B4-BE49-F238E27FC236}">
                <a16:creationId xmlns:a16="http://schemas.microsoft.com/office/drawing/2014/main" id="{9BCB055A-70DE-3EBB-D6E8-157E90F2ABA9}"/>
              </a:ext>
            </a:extLst>
          </p:cNvPr>
          <p:cNvSpPr txBox="1"/>
          <p:nvPr/>
        </p:nvSpPr>
        <p:spPr>
          <a:xfrm>
            <a:off x="494294" y="1504250"/>
            <a:ext cx="6258392" cy="27430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02000"/>
              </a:lnSpc>
              <a:defRPr sz="1200" b="1">
                <a:solidFill>
                  <a:srgbClr val="111111"/>
                </a:solidFill>
                <a:latin typeface="+mj-lt"/>
                <a:ea typeface="+mj-ea"/>
                <a:cs typeface="+mj-cs"/>
                <a:sym typeface="Calibri"/>
              </a:defRPr>
            </a:pPr>
            <a:r>
              <a:rPr lang="fr-FR" sz="1200" dirty="0">
                <a:highlight>
                  <a:srgbClr val="FFFF00"/>
                </a:highlight>
              </a:rPr>
              <a:t>Ils disent</a:t>
            </a:r>
            <a:endParaRPr lang="fr-FR" sz="1200" b="0" i="1" dirty="0">
              <a:solidFill>
                <a:srgbClr val="6E6E6E"/>
              </a:solidFill>
              <a:highlight>
                <a:srgbClr val="FFFF00"/>
              </a:highlight>
            </a:endParaRPr>
          </a:p>
        </p:txBody>
      </p:sp>
      <p:sp>
        <p:nvSpPr>
          <p:cNvPr id="9" name="ZoneTexte 8">
            <a:extLst>
              <a:ext uri="{FF2B5EF4-FFF2-40B4-BE49-F238E27FC236}">
                <a16:creationId xmlns:a16="http://schemas.microsoft.com/office/drawing/2014/main" id="{EAE8E80E-A0CF-643D-B4EA-4CCE946FA0AD}"/>
              </a:ext>
            </a:extLst>
          </p:cNvPr>
          <p:cNvSpPr txBox="1"/>
          <p:nvPr/>
        </p:nvSpPr>
        <p:spPr>
          <a:xfrm>
            <a:off x="6313018" y="1516946"/>
            <a:ext cx="6258392" cy="2616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fr-FR" sz="1100" b="1" dirty="0">
                <a:solidFill>
                  <a:srgbClr val="111111"/>
                </a:solidFill>
                <a:highlight>
                  <a:srgbClr val="FFFF00"/>
                </a:highlight>
                <a:latin typeface="+mj-lt"/>
              </a:rPr>
              <a:t>Besoin réel </a:t>
            </a:r>
            <a:endParaRPr lang="fr-FR" sz="1100" b="1" dirty="0">
              <a:highlight>
                <a:srgbClr val="FFFF00"/>
              </a:highlight>
              <a:latin typeface="+mj-lt"/>
            </a:endParaRPr>
          </a:p>
        </p:txBody>
      </p:sp>
      <p:cxnSp>
        <p:nvCxnSpPr>
          <p:cNvPr id="10" name="Connecteur droit avec flèche 9">
            <a:extLst>
              <a:ext uri="{FF2B5EF4-FFF2-40B4-BE49-F238E27FC236}">
                <a16:creationId xmlns:a16="http://schemas.microsoft.com/office/drawing/2014/main" id="{ACF3EA13-77F1-3912-FC16-41BA12565AB0}"/>
              </a:ext>
            </a:extLst>
          </p:cNvPr>
          <p:cNvCxnSpPr/>
          <p:nvPr/>
        </p:nvCxnSpPr>
        <p:spPr>
          <a:xfrm>
            <a:off x="5880101" y="2192527"/>
            <a:ext cx="34289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Connecteur droit avec flèche 10">
            <a:extLst>
              <a:ext uri="{FF2B5EF4-FFF2-40B4-BE49-F238E27FC236}">
                <a16:creationId xmlns:a16="http://schemas.microsoft.com/office/drawing/2014/main" id="{0D50B56E-CE92-7B4D-6FF3-B83EA0ABFA11}"/>
              </a:ext>
            </a:extLst>
          </p:cNvPr>
          <p:cNvCxnSpPr/>
          <p:nvPr/>
        </p:nvCxnSpPr>
        <p:spPr>
          <a:xfrm>
            <a:off x="5880101" y="3327400"/>
            <a:ext cx="34289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ZoneTexte 12">
            <a:extLst>
              <a:ext uri="{FF2B5EF4-FFF2-40B4-BE49-F238E27FC236}">
                <a16:creationId xmlns:a16="http://schemas.microsoft.com/office/drawing/2014/main" id="{361E1C8C-C6B8-DFB4-B1D2-0E22051A167F}"/>
              </a:ext>
            </a:extLst>
          </p:cNvPr>
          <p:cNvSpPr txBox="1"/>
          <p:nvPr/>
        </p:nvSpPr>
        <p:spPr>
          <a:xfrm>
            <a:off x="2077443" y="2221410"/>
            <a:ext cx="6288374"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fr-FR" b="1" dirty="0"/>
              <a:t>(Posture cliente / Entrepreneure)</a:t>
            </a:r>
            <a:endParaRPr lang="fr-FR" dirty="0"/>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Text 2"/>
          <p:cNvSpPr txBox="1"/>
          <p:nvPr/>
        </p:nvSpPr>
        <p:spPr>
          <a:xfrm>
            <a:off x="1865376" y="553672"/>
            <a:ext cx="7315201" cy="1728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b="1" spc="300">
                <a:solidFill>
                  <a:srgbClr val="111111"/>
                </a:solidFill>
                <a:latin typeface="Arial"/>
                <a:ea typeface="Arial"/>
                <a:cs typeface="Arial"/>
                <a:sym typeface="Arial"/>
              </a:defRPr>
            </a:lvl1pPr>
          </a:lstStyle>
          <a:p>
            <a:r>
              <a:t>TEMPLATE 4 / 6</a:t>
            </a:r>
          </a:p>
        </p:txBody>
      </p:sp>
      <p:sp>
        <p:nvSpPr>
          <p:cNvPr id="149" name="Text 3"/>
          <p:cNvSpPr txBox="1"/>
          <p:nvPr/>
        </p:nvSpPr>
        <p:spPr>
          <a:xfrm>
            <a:off x="566926" y="1005838"/>
            <a:ext cx="11057842" cy="4193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3000" b="1">
                <a:solidFill>
                  <a:srgbClr val="111111"/>
                </a:solidFill>
                <a:latin typeface="Arial"/>
                <a:ea typeface="Arial"/>
                <a:cs typeface="Arial"/>
                <a:sym typeface="Arial"/>
              </a:defRPr>
            </a:lvl1pPr>
          </a:lstStyle>
          <a:p>
            <a:r>
              <a:t>Un persona</a:t>
            </a:r>
          </a:p>
        </p:txBody>
      </p:sp>
      <p:sp>
        <p:nvSpPr>
          <p:cNvPr id="150" name="Text 4"/>
          <p:cNvSpPr txBox="1"/>
          <p:nvPr/>
        </p:nvSpPr>
        <p:spPr>
          <a:xfrm>
            <a:off x="2864465" y="1210679"/>
            <a:ext cx="10874962" cy="1865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500" i="1">
                <a:solidFill>
                  <a:srgbClr val="6E6E6E"/>
                </a:solidFill>
                <a:latin typeface="+mj-lt"/>
                <a:ea typeface="+mj-ea"/>
                <a:cs typeface="+mj-cs"/>
                <a:sym typeface="Calibri"/>
              </a:defRPr>
            </a:lvl1pPr>
          </a:lstStyle>
          <a:p>
            <a:r>
              <a:t>Choisissez 3 parties prenantes rencontrées. Une fiche par persona.</a:t>
            </a:r>
          </a:p>
        </p:txBody>
      </p:sp>
      <p:sp>
        <p:nvSpPr>
          <p:cNvPr id="151" name="Shape 5"/>
          <p:cNvSpPr/>
          <p:nvPr/>
        </p:nvSpPr>
        <p:spPr>
          <a:xfrm>
            <a:off x="566926" y="1714052"/>
            <a:ext cx="4301363" cy="1833043"/>
          </a:xfrm>
          <a:prstGeom prst="rect">
            <a:avLst/>
          </a:prstGeom>
          <a:solidFill>
            <a:srgbClr val="FFFFFF"/>
          </a:solidFill>
          <a:ln w="19050">
            <a:solidFill>
              <a:srgbClr val="000000"/>
            </a:solidFill>
          </a:ln>
        </p:spPr>
        <p:txBody>
          <a:bodyPr lIns="45718" tIns="45718" rIns="45718" bIns="45718"/>
          <a:lstStyle/>
          <a:p>
            <a:pPr>
              <a:defRPr>
                <a:latin typeface="+mj-lt"/>
                <a:ea typeface="+mj-ea"/>
                <a:cs typeface="+mj-cs"/>
                <a:sym typeface="Calibri"/>
              </a:defRPr>
            </a:pPr>
            <a:endParaRPr dirty="0"/>
          </a:p>
        </p:txBody>
      </p:sp>
      <p:sp>
        <p:nvSpPr>
          <p:cNvPr id="152" name="Text 6"/>
          <p:cNvSpPr txBox="1"/>
          <p:nvPr/>
        </p:nvSpPr>
        <p:spPr>
          <a:xfrm>
            <a:off x="749806" y="1905313"/>
            <a:ext cx="5394964" cy="1478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b="1" spc="120">
                <a:solidFill>
                  <a:srgbClr val="111111"/>
                </a:solidFill>
                <a:latin typeface="Arial"/>
                <a:ea typeface="Arial"/>
                <a:cs typeface="Arial"/>
                <a:sym typeface="Arial"/>
              </a:defRPr>
            </a:lvl1pPr>
          </a:lstStyle>
          <a:p>
            <a:r>
              <a:t>QUI EST-CE ? (NOM, AGE, RÔLE…)</a:t>
            </a:r>
          </a:p>
        </p:txBody>
      </p:sp>
      <p:sp>
        <p:nvSpPr>
          <p:cNvPr id="153" name="Text 7"/>
          <p:cNvSpPr txBox="1"/>
          <p:nvPr/>
        </p:nvSpPr>
        <p:spPr>
          <a:xfrm>
            <a:off x="749806" y="2125533"/>
            <a:ext cx="5394964" cy="1846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200" i="1">
                <a:solidFill>
                  <a:srgbClr val="6E6E6E"/>
                </a:solidFill>
                <a:latin typeface="+mj-lt"/>
                <a:ea typeface="+mj-ea"/>
                <a:cs typeface="+mj-cs"/>
                <a:sym typeface="Calibri"/>
              </a:defRPr>
            </a:lvl1pPr>
          </a:lstStyle>
          <a:p>
            <a:endParaRPr dirty="0"/>
          </a:p>
        </p:txBody>
      </p:sp>
      <p:sp>
        <p:nvSpPr>
          <p:cNvPr id="154" name="Shape 8"/>
          <p:cNvSpPr/>
          <p:nvPr/>
        </p:nvSpPr>
        <p:spPr>
          <a:xfrm>
            <a:off x="5189001" y="1698767"/>
            <a:ext cx="1440982" cy="1833043"/>
          </a:xfrm>
          <a:prstGeom prst="rect">
            <a:avLst/>
          </a:prstGeom>
          <a:solidFill>
            <a:srgbClr val="FFFFFF"/>
          </a:solidFill>
          <a:ln w="19050">
            <a:solidFill>
              <a:srgbClr val="000000"/>
            </a:solidFill>
          </a:ln>
        </p:spPr>
        <p:txBody>
          <a:bodyPr lIns="45718" tIns="45718" rIns="45718" bIns="45718"/>
          <a:lstStyle/>
          <a:p>
            <a:pPr>
              <a:defRPr>
                <a:latin typeface="+mj-lt"/>
                <a:ea typeface="+mj-ea"/>
                <a:cs typeface="+mj-cs"/>
                <a:sym typeface="Calibri"/>
              </a:defRPr>
            </a:pPr>
            <a:endParaRPr/>
          </a:p>
        </p:txBody>
      </p:sp>
      <p:sp>
        <p:nvSpPr>
          <p:cNvPr id="155" name="Text 9"/>
          <p:cNvSpPr txBox="1"/>
          <p:nvPr/>
        </p:nvSpPr>
        <p:spPr>
          <a:xfrm>
            <a:off x="5475151" y="1890027"/>
            <a:ext cx="868682" cy="1355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000" b="1" spc="100">
                <a:solidFill>
                  <a:srgbClr val="9A9A9A"/>
                </a:solidFill>
                <a:latin typeface="Arial"/>
                <a:ea typeface="Arial"/>
                <a:cs typeface="Arial"/>
                <a:sym typeface="Arial"/>
              </a:defRPr>
            </a:lvl1pPr>
          </a:lstStyle>
          <a:p>
            <a:r>
              <a:t>PHOTO</a:t>
            </a:r>
          </a:p>
        </p:txBody>
      </p:sp>
      <p:sp>
        <p:nvSpPr>
          <p:cNvPr id="156" name="Shape 10"/>
          <p:cNvSpPr/>
          <p:nvPr/>
        </p:nvSpPr>
        <p:spPr>
          <a:xfrm>
            <a:off x="6950695" y="1698767"/>
            <a:ext cx="4592271" cy="2188502"/>
          </a:xfrm>
          <a:prstGeom prst="rect">
            <a:avLst/>
          </a:prstGeom>
          <a:solidFill>
            <a:srgbClr val="FFFFFF"/>
          </a:solidFill>
          <a:ln w="19050">
            <a:solidFill>
              <a:srgbClr val="000000"/>
            </a:solidFill>
          </a:ln>
        </p:spPr>
        <p:txBody>
          <a:bodyPr lIns="45718" tIns="45718" rIns="45718" bIns="45718"/>
          <a:lstStyle/>
          <a:p>
            <a:pPr>
              <a:defRPr>
                <a:latin typeface="+mj-lt"/>
                <a:ea typeface="+mj-ea"/>
                <a:cs typeface="+mj-cs"/>
                <a:sym typeface="Calibri"/>
              </a:defRPr>
            </a:pPr>
            <a:endParaRPr/>
          </a:p>
        </p:txBody>
      </p:sp>
      <p:sp>
        <p:nvSpPr>
          <p:cNvPr id="157" name="Text 11"/>
          <p:cNvSpPr txBox="1"/>
          <p:nvPr/>
        </p:nvSpPr>
        <p:spPr>
          <a:xfrm>
            <a:off x="7133576" y="1890027"/>
            <a:ext cx="5394962" cy="14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b="1" spc="120">
                <a:solidFill>
                  <a:srgbClr val="111111"/>
                </a:solidFill>
                <a:latin typeface="Arial"/>
                <a:ea typeface="Arial"/>
                <a:cs typeface="Arial"/>
                <a:sym typeface="Arial"/>
              </a:defRPr>
            </a:lvl1pPr>
          </a:lstStyle>
          <a:p>
            <a:r>
              <a:t>CE QUI LE FRUSTRE (CONTRAINTES, IRRITANTS)</a:t>
            </a:r>
          </a:p>
        </p:txBody>
      </p:sp>
      <p:sp>
        <p:nvSpPr>
          <p:cNvPr id="158" name="Text 12"/>
          <p:cNvSpPr txBox="1"/>
          <p:nvPr/>
        </p:nvSpPr>
        <p:spPr>
          <a:xfrm>
            <a:off x="7133576" y="2110246"/>
            <a:ext cx="5394962" cy="1846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200" i="1">
                <a:solidFill>
                  <a:srgbClr val="6E6E6E"/>
                </a:solidFill>
                <a:latin typeface="+mj-lt"/>
                <a:ea typeface="+mj-ea"/>
                <a:cs typeface="+mj-cs"/>
                <a:sym typeface="Calibri"/>
              </a:defRPr>
            </a:lvl1pPr>
          </a:lstStyle>
          <a:p>
            <a:endParaRPr dirty="0"/>
          </a:p>
        </p:txBody>
      </p:sp>
      <p:sp>
        <p:nvSpPr>
          <p:cNvPr id="159" name="Shape 13"/>
          <p:cNvSpPr/>
          <p:nvPr/>
        </p:nvSpPr>
        <p:spPr>
          <a:xfrm>
            <a:off x="6950695" y="4087979"/>
            <a:ext cx="4592271" cy="1993703"/>
          </a:xfrm>
          <a:prstGeom prst="rect">
            <a:avLst/>
          </a:prstGeom>
          <a:solidFill>
            <a:srgbClr val="FFFFFF"/>
          </a:solidFill>
          <a:ln w="19050">
            <a:solidFill>
              <a:srgbClr val="000000"/>
            </a:solidFill>
          </a:ln>
        </p:spPr>
        <p:txBody>
          <a:bodyPr lIns="45718" tIns="45718" rIns="45718" bIns="45718"/>
          <a:lstStyle/>
          <a:p>
            <a:pPr>
              <a:defRPr>
                <a:latin typeface="+mj-lt"/>
                <a:ea typeface="+mj-ea"/>
                <a:cs typeface="+mj-cs"/>
                <a:sym typeface="Calibri"/>
              </a:defRPr>
            </a:pPr>
            <a:endParaRPr/>
          </a:p>
        </p:txBody>
      </p:sp>
      <p:sp>
        <p:nvSpPr>
          <p:cNvPr id="160" name="Text 14"/>
          <p:cNvSpPr txBox="1"/>
          <p:nvPr/>
        </p:nvSpPr>
        <p:spPr>
          <a:xfrm>
            <a:off x="7133576" y="4279239"/>
            <a:ext cx="5394962" cy="1478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b="1" spc="120">
                <a:solidFill>
                  <a:srgbClr val="111111"/>
                </a:solidFill>
                <a:latin typeface="Arial"/>
                <a:ea typeface="Arial"/>
                <a:cs typeface="Arial"/>
                <a:sym typeface="Arial"/>
              </a:defRPr>
            </a:lvl1pPr>
          </a:lstStyle>
          <a:p>
            <a:r>
              <a:t>CE À QUOI IL TIENT (ATTENTES, RÊVES)</a:t>
            </a:r>
          </a:p>
        </p:txBody>
      </p:sp>
      <p:sp>
        <p:nvSpPr>
          <p:cNvPr id="161" name="Text 15"/>
          <p:cNvSpPr txBox="1"/>
          <p:nvPr/>
        </p:nvSpPr>
        <p:spPr>
          <a:xfrm>
            <a:off x="7133576" y="4499459"/>
            <a:ext cx="5394962" cy="1846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200" i="1">
                <a:solidFill>
                  <a:srgbClr val="6E6E6E"/>
                </a:solidFill>
                <a:latin typeface="+mj-lt"/>
                <a:ea typeface="+mj-ea"/>
                <a:cs typeface="+mj-cs"/>
                <a:sym typeface="Calibri"/>
              </a:defRPr>
            </a:lvl1pPr>
          </a:lstStyle>
          <a:p>
            <a:endParaRPr dirty="0"/>
          </a:p>
        </p:txBody>
      </p:sp>
      <p:sp>
        <p:nvSpPr>
          <p:cNvPr id="162" name="Shape 16"/>
          <p:cNvSpPr/>
          <p:nvPr/>
        </p:nvSpPr>
        <p:spPr>
          <a:xfrm>
            <a:off x="594172" y="3733274"/>
            <a:ext cx="6035476" cy="2361518"/>
          </a:xfrm>
          <a:prstGeom prst="rect">
            <a:avLst/>
          </a:prstGeom>
          <a:solidFill>
            <a:srgbClr val="FFFFFF"/>
          </a:solidFill>
          <a:ln w="19050">
            <a:solidFill>
              <a:srgbClr val="000000"/>
            </a:solidFill>
          </a:ln>
        </p:spPr>
        <p:txBody>
          <a:bodyPr lIns="45718" tIns="45718" rIns="45718" bIns="45718"/>
          <a:lstStyle/>
          <a:p>
            <a:pPr>
              <a:defRPr>
                <a:latin typeface="+mj-lt"/>
                <a:ea typeface="+mj-ea"/>
                <a:cs typeface="+mj-cs"/>
                <a:sym typeface="Calibri"/>
              </a:defRPr>
            </a:pPr>
            <a:endParaRPr/>
          </a:p>
        </p:txBody>
      </p:sp>
      <p:sp>
        <p:nvSpPr>
          <p:cNvPr id="163" name="Text 17"/>
          <p:cNvSpPr txBox="1"/>
          <p:nvPr/>
        </p:nvSpPr>
        <p:spPr>
          <a:xfrm>
            <a:off x="777052" y="3924536"/>
            <a:ext cx="4611322" cy="14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b="1" spc="120">
                <a:solidFill>
                  <a:srgbClr val="111111"/>
                </a:solidFill>
                <a:latin typeface="Arial"/>
                <a:ea typeface="Arial"/>
                <a:cs typeface="Arial"/>
                <a:sym typeface="Arial"/>
              </a:defRPr>
            </a:lvl1pPr>
          </a:lstStyle>
          <a:p>
            <a:r>
              <a:t>HISTOIRE OU VERBATIM LE PLUS MARQUANT</a:t>
            </a:r>
          </a:p>
        </p:txBody>
      </p:sp>
      <p:pic>
        <p:nvPicPr>
          <p:cNvPr id="164" name="Image 0" descr="Image 0"/>
          <p:cNvPicPr>
            <a:picLocks noChangeAspect="1"/>
          </p:cNvPicPr>
          <p:nvPr/>
        </p:nvPicPr>
        <p:blipFill>
          <a:blip r:embed="rId2"/>
          <a:stretch>
            <a:fillRect/>
          </a:stretch>
        </p:blipFill>
        <p:spPr>
          <a:xfrm>
            <a:off x="566927" y="6382510"/>
            <a:ext cx="868682" cy="223116"/>
          </a:xfrm>
          <a:prstGeom prst="rect">
            <a:avLst/>
          </a:prstGeom>
          <a:ln w="12700">
            <a:miter lim="400000"/>
          </a:ln>
        </p:spPr>
      </p:pic>
      <p:sp>
        <p:nvSpPr>
          <p:cNvPr id="165" name="Text 19"/>
          <p:cNvSpPr txBox="1"/>
          <p:nvPr/>
        </p:nvSpPr>
        <p:spPr>
          <a:xfrm>
            <a:off x="8515807" y="6428738"/>
            <a:ext cx="310896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900" b="1" spc="200">
                <a:solidFill>
                  <a:srgbClr val="9A9A9A"/>
                </a:solidFill>
                <a:latin typeface="Arial"/>
                <a:ea typeface="Arial"/>
                <a:cs typeface="Arial"/>
                <a:sym typeface="Arial"/>
              </a:defRPr>
            </a:lvl1pPr>
          </a:lstStyle>
          <a:p>
            <a:r>
              <a:t>IDDIC 2026  ·  BREAKING AI</a:t>
            </a:r>
          </a:p>
        </p:txBody>
      </p:sp>
      <p:sp>
        <p:nvSpPr>
          <p:cNvPr id="166" name="Shape 0"/>
          <p:cNvSpPr/>
          <p:nvPr/>
        </p:nvSpPr>
        <p:spPr>
          <a:xfrm>
            <a:off x="566927" y="457200"/>
            <a:ext cx="1234442" cy="384048"/>
          </a:xfrm>
          <a:prstGeom prst="roundRect">
            <a:avLst>
              <a:gd name="adj" fmla="val 50000"/>
            </a:avLst>
          </a:prstGeom>
          <a:solidFill>
            <a:srgbClr val="2E6BFF"/>
          </a:solidFill>
          <a:ln w="12700">
            <a:miter lim="400000"/>
          </a:ln>
        </p:spPr>
        <p:txBody>
          <a:bodyPr lIns="45718" tIns="45718" rIns="45718" bIns="45718"/>
          <a:lstStyle/>
          <a:p>
            <a:pPr>
              <a:defRPr>
                <a:latin typeface="+mj-lt"/>
                <a:ea typeface="+mj-ea"/>
                <a:cs typeface="+mj-cs"/>
                <a:sym typeface="Calibri"/>
              </a:defRPr>
            </a:pPr>
            <a:endParaRPr/>
          </a:p>
        </p:txBody>
      </p:sp>
      <p:sp>
        <p:nvSpPr>
          <p:cNvPr id="167" name="Text 1"/>
          <p:cNvSpPr txBox="1"/>
          <p:nvPr/>
        </p:nvSpPr>
        <p:spPr>
          <a:xfrm>
            <a:off x="566927" y="556674"/>
            <a:ext cx="1234443" cy="1850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300" b="1" spc="200">
                <a:solidFill>
                  <a:srgbClr val="FFFFFF"/>
                </a:solidFill>
                <a:latin typeface="Arial"/>
                <a:ea typeface="Arial"/>
                <a:cs typeface="Arial"/>
                <a:sym typeface="Arial"/>
              </a:defRPr>
            </a:lvl1pPr>
          </a:lstStyle>
          <a:p>
            <a:r>
              <a:t>JOUR 2</a:t>
            </a:r>
          </a:p>
        </p:txBody>
      </p:sp>
      <p:sp>
        <p:nvSpPr>
          <p:cNvPr id="2" name="ZoneTexte 1">
            <a:extLst>
              <a:ext uri="{FF2B5EF4-FFF2-40B4-BE49-F238E27FC236}">
                <a16:creationId xmlns:a16="http://schemas.microsoft.com/office/drawing/2014/main" id="{5A82FB53-8E85-B882-4810-33B7AF6BF8EF}"/>
              </a:ext>
            </a:extLst>
          </p:cNvPr>
          <p:cNvSpPr txBox="1"/>
          <p:nvPr/>
        </p:nvSpPr>
        <p:spPr>
          <a:xfrm>
            <a:off x="651460" y="2207808"/>
            <a:ext cx="4314206" cy="13234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r>
              <a:rPr lang="fr-FR" sz="1600" dirty="0"/>
              <a:t>La créative indépendante (Directrice artistique, designer, tatoueuse). C'est une professionnelle qui vend son « coup de patte », son expertise et son accompagnement à des clients (marques ou particuliers).</a:t>
            </a:r>
            <a:endParaRPr kumimoji="0" lang="fr-FR" sz="1600" b="0" i="0" u="none" strike="noStrike" cap="none" spc="0" normalizeH="0" baseline="0" dirty="0">
              <a:ln>
                <a:noFill/>
              </a:ln>
              <a:solidFill>
                <a:srgbClr val="000000"/>
              </a:solidFill>
              <a:effectLst/>
              <a:uFillTx/>
              <a:latin typeface="+mn-lt"/>
              <a:ea typeface="+mn-ea"/>
              <a:cs typeface="+mn-cs"/>
              <a:sym typeface="Helvetica"/>
            </a:endParaRPr>
          </a:p>
        </p:txBody>
      </p:sp>
      <p:sp>
        <p:nvSpPr>
          <p:cNvPr id="3" name="ZoneTexte 2">
            <a:extLst>
              <a:ext uri="{FF2B5EF4-FFF2-40B4-BE49-F238E27FC236}">
                <a16:creationId xmlns:a16="http://schemas.microsoft.com/office/drawing/2014/main" id="{6EFF6F13-EF88-A5D0-7E9B-BD5945EDDD4D}"/>
              </a:ext>
            </a:extLst>
          </p:cNvPr>
          <p:cNvSpPr txBox="1"/>
          <p:nvPr/>
        </p:nvSpPr>
        <p:spPr>
          <a:xfrm>
            <a:off x="6998752" y="2029983"/>
            <a:ext cx="4529088" cy="19543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r>
              <a:rPr lang="fr-FR" sz="1100" dirty="0"/>
              <a:t>1)Elle est agacée de voir son métier nivelé vers le bas (les rendus qui font « cheap ») et les réseaux sociaux « inondés de contenus générés par l'IA ». </a:t>
            </a:r>
          </a:p>
          <a:p>
            <a:r>
              <a:rPr lang="fr-FR" sz="1100" dirty="0"/>
              <a:t>2)Devoir constamment justifier ses délais et ses tarifs. L'illusion des clients qui pensent que « tout est possible et rapide avec l'IA », ce qui dévalorise son temps de recherche. </a:t>
            </a:r>
          </a:p>
          <a:p>
            <a:r>
              <a:rPr lang="fr-FR" sz="1100" dirty="0"/>
              <a:t>3) La peur d'être remplacée sur les tâches de production par des outils qui automatisent tout. </a:t>
            </a:r>
          </a:p>
          <a:p>
            <a:r>
              <a:rPr lang="fr-FR" sz="1100" dirty="0"/>
              <a:t>4)Le sentiment d'étouffement face aux algorithmes : tout le monde a la même inspiration et les projets finissent par tous se ressembler (« burn-out créatif »).</a:t>
            </a:r>
            <a:endParaRPr kumimoji="0" lang="fr-FR" sz="1100" b="0" i="0" u="none" strike="noStrike" cap="none" spc="0" normalizeH="0" baseline="0" dirty="0">
              <a:ln>
                <a:noFill/>
              </a:ln>
              <a:solidFill>
                <a:srgbClr val="000000"/>
              </a:solidFill>
              <a:effectLst/>
              <a:uFillTx/>
              <a:latin typeface="+mn-lt"/>
              <a:ea typeface="+mn-ea"/>
              <a:cs typeface="+mn-cs"/>
              <a:sym typeface="Helvetica"/>
            </a:endParaRPr>
          </a:p>
        </p:txBody>
      </p:sp>
      <p:sp>
        <p:nvSpPr>
          <p:cNvPr id="4" name="ZoneTexte 3">
            <a:extLst>
              <a:ext uri="{FF2B5EF4-FFF2-40B4-BE49-F238E27FC236}">
                <a16:creationId xmlns:a16="http://schemas.microsoft.com/office/drawing/2014/main" id="{40BF8D3B-7C84-C939-8FE6-2A2FCC8F947A}"/>
              </a:ext>
            </a:extLst>
          </p:cNvPr>
          <p:cNvSpPr txBox="1"/>
          <p:nvPr/>
        </p:nvSpPr>
        <p:spPr>
          <a:xfrm>
            <a:off x="6995411" y="4427070"/>
            <a:ext cx="4237272" cy="15696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r>
              <a:rPr lang="fr-FR" sz="1200" dirty="0"/>
              <a:t>Elle veut que son crédit reste « basé sur mon expérience et ma création originale ». </a:t>
            </a:r>
          </a:p>
          <a:p>
            <a:r>
              <a:rPr lang="fr-FR" sz="1200" dirty="0"/>
              <a:t>Elle souhaite pouvoir se différencier grâce à plus de « créativité et d'audace » (ou du conseil), et rêve d'un moyen simple d'éduquer ses clients sur la réalité de son travail pour prouver la valeur inestimable de la touche humaine. De plus, elle souhaite que L’IA reste à un rôle d’exécutant technique sans dicter sa vision artistique. </a:t>
            </a:r>
            <a:endParaRPr kumimoji="0" lang="fr-FR" sz="1200" b="0" i="0" u="none" strike="noStrike" cap="none" spc="0" normalizeH="0" baseline="0" dirty="0">
              <a:ln>
                <a:noFill/>
              </a:ln>
              <a:solidFill>
                <a:srgbClr val="000000"/>
              </a:solidFill>
              <a:effectLst/>
              <a:uFillTx/>
              <a:latin typeface="+mn-lt"/>
              <a:ea typeface="+mn-ea"/>
              <a:cs typeface="+mn-cs"/>
              <a:sym typeface="Helvetica"/>
            </a:endParaRPr>
          </a:p>
        </p:txBody>
      </p:sp>
      <p:sp>
        <p:nvSpPr>
          <p:cNvPr id="5" name="ZoneTexte 4">
            <a:extLst>
              <a:ext uri="{FF2B5EF4-FFF2-40B4-BE49-F238E27FC236}">
                <a16:creationId xmlns:a16="http://schemas.microsoft.com/office/drawing/2014/main" id="{5B2DC077-76CB-AD37-A088-AFA55A0A94D4}"/>
              </a:ext>
            </a:extLst>
          </p:cNvPr>
          <p:cNvSpPr txBox="1"/>
          <p:nvPr/>
        </p:nvSpPr>
        <p:spPr>
          <a:xfrm>
            <a:off x="777052" y="4322917"/>
            <a:ext cx="4118483" cy="120032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r>
              <a:rPr lang="fr-FR" dirty="0"/>
              <a:t>"Le commun des mortels pense qu'avec l'IA tout est possible et rapide... Mon crédit est basé sur mon expérience et ma création originale."</a:t>
            </a:r>
            <a:endParaRPr kumimoji="0" lang="fr-FR" sz="1800" b="0" i="0" u="none" strike="noStrike" cap="none" spc="0" normalizeH="0" baseline="0" dirty="0">
              <a:ln>
                <a:noFill/>
              </a:ln>
              <a:solidFill>
                <a:srgbClr val="000000"/>
              </a:solidFill>
              <a:effectLst/>
              <a:uFillTx/>
              <a:latin typeface="+mn-lt"/>
              <a:ea typeface="+mn-ea"/>
              <a:cs typeface="+mn-cs"/>
              <a:sym typeface="Helvetica"/>
            </a:endParaRP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Text 2"/>
          <p:cNvSpPr txBox="1"/>
          <p:nvPr/>
        </p:nvSpPr>
        <p:spPr>
          <a:xfrm>
            <a:off x="1865376" y="553672"/>
            <a:ext cx="7315201" cy="1728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b="1" spc="300">
                <a:solidFill>
                  <a:srgbClr val="111111"/>
                </a:solidFill>
                <a:latin typeface="Arial"/>
                <a:ea typeface="Arial"/>
                <a:cs typeface="Arial"/>
                <a:sym typeface="Arial"/>
              </a:defRPr>
            </a:lvl1pPr>
          </a:lstStyle>
          <a:p>
            <a:r>
              <a:t>TEMPLATE 5 / 6</a:t>
            </a:r>
          </a:p>
        </p:txBody>
      </p:sp>
      <p:sp>
        <p:nvSpPr>
          <p:cNvPr id="170" name="Text 3"/>
          <p:cNvSpPr txBox="1"/>
          <p:nvPr/>
        </p:nvSpPr>
        <p:spPr>
          <a:xfrm>
            <a:off x="566926" y="1005838"/>
            <a:ext cx="11057842" cy="4193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3000" b="1">
                <a:solidFill>
                  <a:srgbClr val="111111"/>
                </a:solidFill>
                <a:latin typeface="Arial"/>
                <a:ea typeface="Arial"/>
                <a:cs typeface="Arial"/>
                <a:sym typeface="Arial"/>
              </a:defRPr>
            </a:lvl1pPr>
          </a:lstStyle>
          <a:p>
            <a:r>
              <a:rPr dirty="0" err="1"/>
              <a:t>Problématique</a:t>
            </a:r>
            <a:r>
              <a:rPr dirty="0"/>
              <a:t> </a:t>
            </a:r>
            <a:r>
              <a:rPr dirty="0" err="1"/>
              <a:t>affinée</a:t>
            </a:r>
            <a:r>
              <a:rPr dirty="0"/>
              <a:t> &amp; proposition de </a:t>
            </a:r>
            <a:r>
              <a:rPr dirty="0" err="1"/>
              <a:t>valeur</a:t>
            </a:r>
            <a:endParaRPr dirty="0"/>
          </a:p>
        </p:txBody>
      </p:sp>
      <p:sp>
        <p:nvSpPr>
          <p:cNvPr id="171" name="Text 4"/>
          <p:cNvSpPr txBox="1"/>
          <p:nvPr/>
        </p:nvSpPr>
        <p:spPr>
          <a:xfrm>
            <a:off x="566927" y="1565147"/>
            <a:ext cx="10874962" cy="18655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500" i="1">
                <a:solidFill>
                  <a:srgbClr val="6E6E6E"/>
                </a:solidFill>
                <a:latin typeface="+mj-lt"/>
                <a:ea typeface="+mj-ea"/>
                <a:cs typeface="+mj-cs"/>
                <a:sym typeface="Calibri"/>
              </a:defRPr>
            </a:lvl1pPr>
          </a:lstStyle>
          <a:p>
            <a:r>
              <a:t>Le terrain a changé votre regard. Reformulez la question — puis dites ce que votre solution changerait.</a:t>
            </a:r>
          </a:p>
        </p:txBody>
      </p:sp>
      <p:sp>
        <p:nvSpPr>
          <p:cNvPr id="172" name="Shape 5"/>
          <p:cNvSpPr/>
          <p:nvPr/>
        </p:nvSpPr>
        <p:spPr>
          <a:xfrm>
            <a:off x="566927" y="2148838"/>
            <a:ext cx="3350669" cy="1772662"/>
          </a:xfrm>
          <a:prstGeom prst="rect">
            <a:avLst/>
          </a:prstGeom>
          <a:solidFill>
            <a:srgbClr val="FFFFFF"/>
          </a:solidFill>
          <a:ln w="19050">
            <a:solidFill>
              <a:srgbClr val="000000"/>
            </a:solidFill>
          </a:ln>
        </p:spPr>
        <p:txBody>
          <a:bodyPr lIns="45718" tIns="45718" rIns="45718" bIns="45718"/>
          <a:lstStyle/>
          <a:p>
            <a:pPr>
              <a:defRPr>
                <a:latin typeface="+mj-lt"/>
                <a:ea typeface="+mj-ea"/>
                <a:cs typeface="+mj-cs"/>
                <a:sym typeface="Calibri"/>
              </a:defRPr>
            </a:pPr>
            <a:endParaRPr/>
          </a:p>
        </p:txBody>
      </p:sp>
      <p:sp>
        <p:nvSpPr>
          <p:cNvPr id="173" name="Text 6"/>
          <p:cNvSpPr txBox="1"/>
          <p:nvPr/>
        </p:nvSpPr>
        <p:spPr>
          <a:xfrm>
            <a:off x="749808" y="2263900"/>
            <a:ext cx="2984907" cy="3002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b="1" spc="120">
                <a:solidFill>
                  <a:srgbClr val="111111"/>
                </a:solidFill>
                <a:latin typeface="Arial"/>
                <a:ea typeface="Arial"/>
                <a:cs typeface="Arial"/>
                <a:sym typeface="Arial"/>
              </a:defRPr>
            </a:lvl1pPr>
          </a:lstStyle>
          <a:p>
            <a:r>
              <a:rPr dirty="0"/>
              <a:t>NOTRE PROBLÉMATIQUE DE DÉPART (J1)</a:t>
            </a:r>
          </a:p>
        </p:txBody>
      </p:sp>
      <p:sp>
        <p:nvSpPr>
          <p:cNvPr id="174" name="Text 7"/>
          <p:cNvSpPr txBox="1"/>
          <p:nvPr/>
        </p:nvSpPr>
        <p:spPr>
          <a:xfrm>
            <a:off x="3972457" y="2828611"/>
            <a:ext cx="384050" cy="3828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2600" b="1">
                <a:solidFill>
                  <a:srgbClr val="2E6BFF"/>
                </a:solidFill>
                <a:latin typeface="Arial"/>
                <a:ea typeface="Arial"/>
                <a:cs typeface="Arial"/>
                <a:sym typeface="Arial"/>
              </a:defRPr>
            </a:lvl1pPr>
          </a:lstStyle>
          <a:p>
            <a:r>
              <a:t>→</a:t>
            </a:r>
          </a:p>
        </p:txBody>
      </p:sp>
      <p:sp>
        <p:nvSpPr>
          <p:cNvPr id="175" name="Shape 8"/>
          <p:cNvSpPr/>
          <p:nvPr/>
        </p:nvSpPr>
        <p:spPr>
          <a:xfrm>
            <a:off x="4420513" y="2148838"/>
            <a:ext cx="3350668" cy="1772662"/>
          </a:xfrm>
          <a:prstGeom prst="rect">
            <a:avLst/>
          </a:prstGeom>
          <a:solidFill>
            <a:srgbClr val="FFFFFF"/>
          </a:solidFill>
          <a:ln w="19050">
            <a:solidFill>
              <a:srgbClr val="000000"/>
            </a:solidFill>
          </a:ln>
        </p:spPr>
        <p:txBody>
          <a:bodyPr lIns="45718" tIns="45718" rIns="45718" bIns="45718"/>
          <a:lstStyle/>
          <a:p>
            <a:pPr>
              <a:defRPr>
                <a:latin typeface="+mj-lt"/>
                <a:ea typeface="+mj-ea"/>
                <a:cs typeface="+mj-cs"/>
                <a:sym typeface="Calibri"/>
              </a:defRPr>
            </a:pPr>
            <a:endParaRPr/>
          </a:p>
        </p:txBody>
      </p:sp>
      <p:sp>
        <p:nvSpPr>
          <p:cNvPr id="176" name="Text 9"/>
          <p:cNvSpPr txBox="1"/>
          <p:nvPr/>
        </p:nvSpPr>
        <p:spPr>
          <a:xfrm>
            <a:off x="4603393" y="2263900"/>
            <a:ext cx="2984908" cy="3002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b="1" spc="120">
                <a:solidFill>
                  <a:srgbClr val="111111"/>
                </a:solidFill>
                <a:latin typeface="Arial"/>
                <a:ea typeface="Arial"/>
                <a:cs typeface="Arial"/>
                <a:sym typeface="Arial"/>
              </a:defRPr>
            </a:lvl1pPr>
          </a:lstStyle>
          <a:p>
            <a:r>
              <a:t>CE QUE LE TERRAIN NOUS A APPRIS</a:t>
            </a:r>
          </a:p>
        </p:txBody>
      </p:sp>
      <p:sp>
        <p:nvSpPr>
          <p:cNvPr id="177" name="Text 10"/>
          <p:cNvSpPr txBox="1"/>
          <p:nvPr/>
        </p:nvSpPr>
        <p:spPr>
          <a:xfrm>
            <a:off x="7826044" y="2828611"/>
            <a:ext cx="384050" cy="3828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2600" b="1">
                <a:solidFill>
                  <a:srgbClr val="2E6BFF"/>
                </a:solidFill>
                <a:latin typeface="Arial"/>
                <a:ea typeface="Arial"/>
                <a:cs typeface="Arial"/>
                <a:sym typeface="Arial"/>
              </a:defRPr>
            </a:lvl1pPr>
          </a:lstStyle>
          <a:p>
            <a:r>
              <a:t>→</a:t>
            </a:r>
          </a:p>
        </p:txBody>
      </p:sp>
      <p:sp>
        <p:nvSpPr>
          <p:cNvPr id="178" name="Shape 11"/>
          <p:cNvSpPr/>
          <p:nvPr/>
        </p:nvSpPr>
        <p:spPr>
          <a:xfrm>
            <a:off x="8274101" y="2148838"/>
            <a:ext cx="3350668" cy="1772662"/>
          </a:xfrm>
          <a:prstGeom prst="rect">
            <a:avLst/>
          </a:prstGeom>
          <a:solidFill>
            <a:srgbClr val="FFFFFF"/>
          </a:solidFill>
          <a:ln w="19050">
            <a:solidFill>
              <a:srgbClr val="000000"/>
            </a:solidFill>
          </a:ln>
        </p:spPr>
        <p:txBody>
          <a:bodyPr lIns="45718" tIns="45718" rIns="45718" bIns="45718"/>
          <a:lstStyle/>
          <a:p>
            <a:pPr>
              <a:defRPr>
                <a:latin typeface="+mj-lt"/>
                <a:ea typeface="+mj-ea"/>
                <a:cs typeface="+mj-cs"/>
                <a:sym typeface="Calibri"/>
              </a:defRPr>
            </a:pPr>
            <a:endParaRPr/>
          </a:p>
        </p:txBody>
      </p:sp>
      <p:sp>
        <p:nvSpPr>
          <p:cNvPr id="179" name="Text 12"/>
          <p:cNvSpPr txBox="1"/>
          <p:nvPr/>
        </p:nvSpPr>
        <p:spPr>
          <a:xfrm>
            <a:off x="8456979" y="2340100"/>
            <a:ext cx="2984908" cy="1478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b="1" spc="120">
                <a:solidFill>
                  <a:srgbClr val="111111"/>
                </a:solidFill>
                <a:latin typeface="Arial"/>
                <a:ea typeface="Arial"/>
                <a:cs typeface="Arial"/>
                <a:sym typeface="Arial"/>
              </a:defRPr>
            </a:lvl1pPr>
          </a:lstStyle>
          <a:p>
            <a:r>
              <a:t>NOTRE PROBLÉMATIQUE AFFINÉE</a:t>
            </a:r>
          </a:p>
        </p:txBody>
      </p:sp>
      <p:sp>
        <p:nvSpPr>
          <p:cNvPr id="180" name="Shape 13"/>
          <p:cNvSpPr/>
          <p:nvPr/>
        </p:nvSpPr>
        <p:spPr>
          <a:xfrm>
            <a:off x="566928" y="4328159"/>
            <a:ext cx="5368900" cy="1841944"/>
          </a:xfrm>
          <a:prstGeom prst="rect">
            <a:avLst/>
          </a:prstGeom>
          <a:solidFill>
            <a:srgbClr val="FFFFFF"/>
          </a:solidFill>
          <a:ln w="19050">
            <a:solidFill>
              <a:srgbClr val="000000"/>
            </a:solidFill>
          </a:ln>
        </p:spPr>
        <p:txBody>
          <a:bodyPr lIns="45718" tIns="45718" rIns="45718" bIns="45718"/>
          <a:lstStyle/>
          <a:p>
            <a:pPr>
              <a:defRPr>
                <a:latin typeface="+mj-lt"/>
                <a:ea typeface="+mj-ea"/>
                <a:cs typeface="+mj-cs"/>
                <a:sym typeface="Calibri"/>
              </a:defRPr>
            </a:pPr>
            <a:endParaRPr/>
          </a:p>
        </p:txBody>
      </p:sp>
      <p:sp>
        <p:nvSpPr>
          <p:cNvPr id="181" name="Text 14"/>
          <p:cNvSpPr txBox="1"/>
          <p:nvPr/>
        </p:nvSpPr>
        <p:spPr>
          <a:xfrm>
            <a:off x="749808" y="4506928"/>
            <a:ext cx="5003140" cy="1728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b="1" spc="120">
                <a:solidFill>
                  <a:srgbClr val="111111"/>
                </a:solidFill>
                <a:latin typeface="Arial"/>
                <a:ea typeface="Arial"/>
                <a:cs typeface="Arial"/>
                <a:sym typeface="Arial"/>
              </a:defRPr>
            </a:lvl1pPr>
          </a:lstStyle>
          <a:p>
            <a:r>
              <a:t>NOTRE PROPOSITION DE VALEUR</a:t>
            </a:r>
          </a:p>
        </p:txBody>
      </p:sp>
      <p:sp>
        <p:nvSpPr>
          <p:cNvPr id="182" name="Text 15"/>
          <p:cNvSpPr txBox="1"/>
          <p:nvPr/>
        </p:nvSpPr>
        <p:spPr>
          <a:xfrm>
            <a:off x="749808" y="4776215"/>
            <a:ext cx="5003140" cy="1846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200" i="1">
                <a:solidFill>
                  <a:srgbClr val="6E6E6E"/>
                </a:solidFill>
                <a:latin typeface="+mj-lt"/>
                <a:ea typeface="+mj-ea"/>
                <a:cs typeface="+mj-cs"/>
                <a:sym typeface="Calibri"/>
              </a:defRPr>
            </a:lvl1pPr>
          </a:lstStyle>
          <a:p>
            <a:endParaRPr dirty="0"/>
          </a:p>
        </p:txBody>
      </p:sp>
      <p:sp>
        <p:nvSpPr>
          <p:cNvPr id="183" name="Shape 16"/>
          <p:cNvSpPr/>
          <p:nvPr/>
        </p:nvSpPr>
        <p:spPr>
          <a:xfrm>
            <a:off x="6255868" y="4328159"/>
            <a:ext cx="5368900" cy="1841944"/>
          </a:xfrm>
          <a:prstGeom prst="rect">
            <a:avLst/>
          </a:prstGeom>
          <a:solidFill>
            <a:srgbClr val="FFFFFF"/>
          </a:solidFill>
          <a:ln w="19050">
            <a:solidFill>
              <a:srgbClr val="000000"/>
            </a:solidFill>
          </a:ln>
        </p:spPr>
        <p:txBody>
          <a:bodyPr lIns="45718" tIns="45718" rIns="45718" bIns="45718"/>
          <a:lstStyle/>
          <a:p>
            <a:pPr>
              <a:defRPr>
                <a:latin typeface="+mj-lt"/>
                <a:ea typeface="+mj-ea"/>
                <a:cs typeface="+mj-cs"/>
                <a:sym typeface="Calibri"/>
              </a:defRPr>
            </a:pPr>
            <a:endParaRPr/>
          </a:p>
        </p:txBody>
      </p:sp>
      <p:sp>
        <p:nvSpPr>
          <p:cNvPr id="184" name="Text 17"/>
          <p:cNvSpPr txBox="1"/>
          <p:nvPr/>
        </p:nvSpPr>
        <p:spPr>
          <a:xfrm>
            <a:off x="6438748" y="4506928"/>
            <a:ext cx="5003142" cy="1728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b="1" spc="120">
                <a:solidFill>
                  <a:srgbClr val="111111"/>
                </a:solidFill>
                <a:latin typeface="Arial"/>
                <a:ea typeface="Arial"/>
                <a:cs typeface="Arial"/>
                <a:sym typeface="Arial"/>
              </a:defRPr>
            </a:lvl1pPr>
          </a:lstStyle>
          <a:p>
            <a:r>
              <a:t>NOTRE INTUITION DE SOLUTION (FACULTATIF)</a:t>
            </a:r>
          </a:p>
        </p:txBody>
      </p:sp>
      <p:sp>
        <p:nvSpPr>
          <p:cNvPr id="185" name="Text 18"/>
          <p:cNvSpPr txBox="1"/>
          <p:nvPr/>
        </p:nvSpPr>
        <p:spPr>
          <a:xfrm>
            <a:off x="6438748" y="4776215"/>
            <a:ext cx="5003142" cy="1846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200" i="1">
                <a:solidFill>
                  <a:srgbClr val="6E6E6E"/>
                </a:solidFill>
                <a:latin typeface="+mj-lt"/>
                <a:ea typeface="+mj-ea"/>
                <a:cs typeface="+mj-cs"/>
                <a:sym typeface="Calibri"/>
              </a:defRPr>
            </a:lvl1pPr>
          </a:lstStyle>
          <a:p>
            <a:endParaRPr dirty="0"/>
          </a:p>
        </p:txBody>
      </p:sp>
      <p:pic>
        <p:nvPicPr>
          <p:cNvPr id="186" name="Image 0" descr="Image 0"/>
          <p:cNvPicPr>
            <a:picLocks noChangeAspect="1"/>
          </p:cNvPicPr>
          <p:nvPr/>
        </p:nvPicPr>
        <p:blipFill>
          <a:blip r:embed="rId2"/>
          <a:stretch>
            <a:fillRect/>
          </a:stretch>
        </p:blipFill>
        <p:spPr>
          <a:xfrm>
            <a:off x="566927" y="6382510"/>
            <a:ext cx="868682" cy="223116"/>
          </a:xfrm>
          <a:prstGeom prst="rect">
            <a:avLst/>
          </a:prstGeom>
          <a:ln w="12700">
            <a:miter lim="400000"/>
          </a:ln>
        </p:spPr>
      </p:pic>
      <p:sp>
        <p:nvSpPr>
          <p:cNvPr id="187" name="Text 19"/>
          <p:cNvSpPr txBox="1"/>
          <p:nvPr/>
        </p:nvSpPr>
        <p:spPr>
          <a:xfrm>
            <a:off x="8515807" y="6428738"/>
            <a:ext cx="310896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900" b="1" spc="200">
                <a:solidFill>
                  <a:srgbClr val="9A9A9A"/>
                </a:solidFill>
                <a:latin typeface="Arial"/>
                <a:ea typeface="Arial"/>
                <a:cs typeface="Arial"/>
                <a:sym typeface="Arial"/>
              </a:defRPr>
            </a:lvl1pPr>
          </a:lstStyle>
          <a:p>
            <a:r>
              <a:t>IDDIC 2026  ·  BREAKING AI</a:t>
            </a:r>
          </a:p>
        </p:txBody>
      </p:sp>
      <p:sp>
        <p:nvSpPr>
          <p:cNvPr id="188" name="Shape 0"/>
          <p:cNvSpPr/>
          <p:nvPr/>
        </p:nvSpPr>
        <p:spPr>
          <a:xfrm>
            <a:off x="566927" y="457200"/>
            <a:ext cx="1234442" cy="384048"/>
          </a:xfrm>
          <a:prstGeom prst="roundRect">
            <a:avLst>
              <a:gd name="adj" fmla="val 50000"/>
            </a:avLst>
          </a:prstGeom>
          <a:solidFill>
            <a:srgbClr val="2E6BFF"/>
          </a:solidFill>
          <a:ln w="12700">
            <a:miter lim="400000"/>
          </a:ln>
        </p:spPr>
        <p:txBody>
          <a:bodyPr lIns="45718" tIns="45718" rIns="45718" bIns="45718"/>
          <a:lstStyle/>
          <a:p>
            <a:pPr>
              <a:defRPr>
                <a:latin typeface="+mj-lt"/>
                <a:ea typeface="+mj-ea"/>
                <a:cs typeface="+mj-cs"/>
                <a:sym typeface="Calibri"/>
              </a:defRPr>
            </a:pPr>
            <a:endParaRPr/>
          </a:p>
        </p:txBody>
      </p:sp>
      <p:sp>
        <p:nvSpPr>
          <p:cNvPr id="189" name="Text 1"/>
          <p:cNvSpPr txBox="1"/>
          <p:nvPr/>
        </p:nvSpPr>
        <p:spPr>
          <a:xfrm>
            <a:off x="566927" y="556674"/>
            <a:ext cx="1234443" cy="1850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300" b="1" spc="200">
                <a:solidFill>
                  <a:srgbClr val="FFFFFF"/>
                </a:solidFill>
                <a:latin typeface="Arial"/>
                <a:ea typeface="Arial"/>
                <a:cs typeface="Arial"/>
                <a:sym typeface="Arial"/>
              </a:defRPr>
            </a:lvl1pPr>
          </a:lstStyle>
          <a:p>
            <a:r>
              <a:t>JOUR 2</a:t>
            </a:r>
          </a:p>
        </p:txBody>
      </p:sp>
      <p:sp>
        <p:nvSpPr>
          <p:cNvPr id="2" name="ZoneTexte 1">
            <a:extLst>
              <a:ext uri="{FF2B5EF4-FFF2-40B4-BE49-F238E27FC236}">
                <a16:creationId xmlns:a16="http://schemas.microsoft.com/office/drawing/2014/main" id="{C496FEE1-6CFD-C809-05B9-A2837B0E0371}"/>
              </a:ext>
            </a:extLst>
          </p:cNvPr>
          <p:cNvSpPr txBox="1"/>
          <p:nvPr/>
        </p:nvSpPr>
        <p:spPr>
          <a:xfrm>
            <a:off x="685801" y="2617056"/>
            <a:ext cx="2902609" cy="120032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r>
              <a:rPr lang="fr-FR" dirty="0"/>
              <a:t>Comment aider les futurs designers à mieux appréhender les utilisations futures de l'IA ?</a:t>
            </a:r>
            <a:endParaRPr kumimoji="0" lang="fr-FR" sz="1800" b="0" i="0" u="none" strike="noStrike" cap="none" spc="0" normalizeH="0" baseline="0" dirty="0">
              <a:ln>
                <a:noFill/>
              </a:ln>
              <a:solidFill>
                <a:srgbClr val="000000"/>
              </a:solidFill>
              <a:effectLst/>
              <a:uFillTx/>
              <a:latin typeface="+mn-lt"/>
              <a:ea typeface="+mn-ea"/>
              <a:cs typeface="+mn-cs"/>
              <a:sym typeface="Helvetica"/>
            </a:endParaRPr>
          </a:p>
        </p:txBody>
      </p:sp>
      <p:sp>
        <p:nvSpPr>
          <p:cNvPr id="3" name="ZoneTexte 2">
            <a:extLst>
              <a:ext uri="{FF2B5EF4-FFF2-40B4-BE49-F238E27FC236}">
                <a16:creationId xmlns:a16="http://schemas.microsoft.com/office/drawing/2014/main" id="{2C6ED1F7-E198-C08C-538A-E440484BB153}"/>
              </a:ext>
            </a:extLst>
          </p:cNvPr>
          <p:cNvSpPr txBox="1"/>
          <p:nvPr/>
        </p:nvSpPr>
        <p:spPr>
          <a:xfrm>
            <a:off x="4509822" y="2487931"/>
            <a:ext cx="3303827" cy="15696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r>
              <a:rPr lang="fr-FR" sz="1200" dirty="0"/>
              <a:t>Les créatifs n'ont pas besoin d'apprendre à utiliser l'IA techniquement (ils le font déjà). Leur vrai problème est identitaire et commercial : ils doivent éduquer leurs clients, prouver l'authenticité de leur travail humain et se différencier par le conseil ou l'audace pour ne pas voir leurs devis et leur expertise dévalorisés. </a:t>
            </a:r>
            <a:endParaRPr kumimoji="0" lang="fr-FR" sz="1200" b="0" i="0" u="none" strike="noStrike" cap="none" spc="0" normalizeH="0" baseline="0" dirty="0">
              <a:ln>
                <a:noFill/>
              </a:ln>
              <a:solidFill>
                <a:srgbClr val="000000"/>
              </a:solidFill>
              <a:effectLst/>
              <a:uFillTx/>
              <a:latin typeface="+mn-lt"/>
              <a:ea typeface="+mn-ea"/>
              <a:cs typeface="+mn-cs"/>
              <a:sym typeface="Helvetica"/>
            </a:endParaRPr>
          </a:p>
        </p:txBody>
      </p:sp>
      <p:sp>
        <p:nvSpPr>
          <p:cNvPr id="4" name="ZoneTexte 3">
            <a:extLst>
              <a:ext uri="{FF2B5EF4-FFF2-40B4-BE49-F238E27FC236}">
                <a16:creationId xmlns:a16="http://schemas.microsoft.com/office/drawing/2014/main" id="{99D9FF3E-BFA8-8C09-0999-70B46E67DAE4}"/>
              </a:ext>
            </a:extLst>
          </p:cNvPr>
          <p:cNvSpPr txBox="1"/>
          <p:nvPr/>
        </p:nvSpPr>
        <p:spPr>
          <a:xfrm>
            <a:off x="641876" y="4788780"/>
            <a:ext cx="5368900" cy="13849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r>
              <a:rPr lang="fr-FR" sz="1400" dirty="0"/>
              <a:t>Pour les créatifs indépendants qui ont besoin de justifier leurs tarifs et de prouver leur authenticité, notre solution apporte un outil de traçabilité (ou un label) valorisant le temps de réflexion humaine. Contrairement à aujourd'hui, elle ne les laisse plus seuls et désarmés face aux clients qui croient que "l'IA peut tout faire en 5 minutes".</a:t>
            </a:r>
            <a:endParaRPr kumimoji="0" lang="fr-FR" sz="1400" i="0" u="none" strike="noStrike" cap="none" spc="0" normalizeH="0" baseline="0" dirty="0">
              <a:ln>
                <a:noFill/>
              </a:ln>
              <a:solidFill>
                <a:srgbClr val="000000"/>
              </a:solidFill>
              <a:effectLst/>
              <a:uFillTx/>
              <a:latin typeface="+mn-lt"/>
              <a:ea typeface="+mn-ea"/>
              <a:cs typeface="+mn-cs"/>
              <a:sym typeface="Helvetica"/>
            </a:endParaRPr>
          </a:p>
        </p:txBody>
      </p:sp>
      <p:sp>
        <p:nvSpPr>
          <p:cNvPr id="5" name="ZoneTexte 4">
            <a:extLst>
              <a:ext uri="{FF2B5EF4-FFF2-40B4-BE49-F238E27FC236}">
                <a16:creationId xmlns:a16="http://schemas.microsoft.com/office/drawing/2014/main" id="{495011B9-AB1A-AED6-1B3C-8DCD249BC801}"/>
              </a:ext>
            </a:extLst>
          </p:cNvPr>
          <p:cNvSpPr txBox="1"/>
          <p:nvPr/>
        </p:nvSpPr>
        <p:spPr>
          <a:xfrm>
            <a:off x="6432716" y="4807302"/>
            <a:ext cx="5219700" cy="95410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r>
              <a:rPr lang="fr-FR" sz="1400" dirty="0"/>
              <a:t>Un label/macaron (ex: "Artisanat Digital" ou "Création 100% Humaine") couplé à une plateforme de devis pédagogique qui détaille visuellement au client le pourcentage de temps passé sur la stratégie/réflexion humaine vs. l'exécution (avec ou sans IA).</a:t>
            </a:r>
            <a:endParaRPr kumimoji="0" lang="fr-FR" sz="1400" b="0" i="0" u="none" strike="noStrike" cap="none" spc="0" normalizeH="0" baseline="0" dirty="0">
              <a:ln>
                <a:noFill/>
              </a:ln>
              <a:solidFill>
                <a:srgbClr val="000000"/>
              </a:solidFill>
              <a:effectLst/>
              <a:uFillTx/>
              <a:latin typeface="+mn-lt"/>
              <a:ea typeface="+mn-ea"/>
              <a:cs typeface="+mn-cs"/>
              <a:sym typeface="Helvetica"/>
            </a:endParaRPr>
          </a:p>
        </p:txBody>
      </p:sp>
      <p:sp>
        <p:nvSpPr>
          <p:cNvPr id="6" name="ZoneTexte 5">
            <a:extLst>
              <a:ext uri="{FF2B5EF4-FFF2-40B4-BE49-F238E27FC236}">
                <a16:creationId xmlns:a16="http://schemas.microsoft.com/office/drawing/2014/main" id="{9843043E-BAC3-8FA0-C41E-56181F1E0E1F}"/>
              </a:ext>
            </a:extLst>
          </p:cNvPr>
          <p:cNvSpPr txBox="1"/>
          <p:nvPr/>
        </p:nvSpPr>
        <p:spPr>
          <a:xfrm>
            <a:off x="8515807" y="2455090"/>
            <a:ext cx="2938475" cy="14773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r>
              <a:rPr lang="fr-FR" dirty="0">
                <a:solidFill>
                  <a:srgbClr val="FF0000"/>
                </a:solidFill>
              </a:rPr>
              <a:t>Comment permettre aux créatifs de certifier leur "touche humaine" pour ne pas voir leur métier dévalorisé par l'IA ? </a:t>
            </a:r>
            <a:endParaRPr kumimoji="0" lang="fr-FR" sz="1800" b="0" i="0" u="none" strike="noStrike" cap="none" spc="0" normalizeH="0" baseline="0" dirty="0">
              <a:ln>
                <a:noFill/>
              </a:ln>
              <a:solidFill>
                <a:srgbClr val="FF0000"/>
              </a:solidFill>
              <a:effectLst/>
              <a:uFillTx/>
              <a:latin typeface="+mn-lt"/>
              <a:ea typeface="+mn-ea"/>
              <a:cs typeface="+mn-cs"/>
              <a:sym typeface="Helvetica"/>
            </a:endParaRP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Text 2"/>
          <p:cNvSpPr txBox="1"/>
          <p:nvPr/>
        </p:nvSpPr>
        <p:spPr>
          <a:xfrm>
            <a:off x="566926" y="1043059"/>
            <a:ext cx="11057842" cy="4193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3000" b="1">
                <a:solidFill>
                  <a:srgbClr val="111111"/>
                </a:solidFill>
                <a:latin typeface="Arial"/>
                <a:ea typeface="Arial"/>
                <a:cs typeface="Arial"/>
                <a:sym typeface="Arial"/>
              </a:defRPr>
            </a:lvl1pPr>
          </a:lstStyle>
          <a:p>
            <a:r>
              <a:t>Le Journal IA</a:t>
            </a:r>
          </a:p>
        </p:txBody>
      </p:sp>
      <p:pic>
        <p:nvPicPr>
          <p:cNvPr id="192" name="Image 1" descr="Image 1"/>
          <p:cNvPicPr>
            <a:picLocks noChangeAspect="1"/>
          </p:cNvPicPr>
          <p:nvPr/>
        </p:nvPicPr>
        <p:blipFill>
          <a:blip r:embed="rId2"/>
          <a:stretch>
            <a:fillRect/>
          </a:stretch>
        </p:blipFill>
        <p:spPr>
          <a:xfrm>
            <a:off x="566927" y="6382510"/>
            <a:ext cx="868682" cy="223116"/>
          </a:xfrm>
          <a:prstGeom prst="rect">
            <a:avLst/>
          </a:prstGeom>
          <a:ln w="12700">
            <a:miter lim="400000"/>
          </a:ln>
        </p:spPr>
      </p:pic>
      <p:sp>
        <p:nvSpPr>
          <p:cNvPr id="193" name="Text 28"/>
          <p:cNvSpPr txBox="1"/>
          <p:nvPr/>
        </p:nvSpPr>
        <p:spPr>
          <a:xfrm>
            <a:off x="8515807" y="6428738"/>
            <a:ext cx="310896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900" b="1" spc="200">
                <a:solidFill>
                  <a:srgbClr val="9A9A9A"/>
                </a:solidFill>
                <a:latin typeface="Arial"/>
                <a:ea typeface="Arial"/>
                <a:cs typeface="Arial"/>
                <a:sym typeface="Arial"/>
              </a:defRPr>
            </a:lvl1pPr>
          </a:lstStyle>
          <a:p>
            <a:r>
              <a:t>IDDIC 2026  ·  BREAKING AI</a:t>
            </a:r>
          </a:p>
        </p:txBody>
      </p:sp>
      <p:sp>
        <p:nvSpPr>
          <p:cNvPr id="194" name="Shape 0"/>
          <p:cNvSpPr/>
          <p:nvPr/>
        </p:nvSpPr>
        <p:spPr>
          <a:xfrm>
            <a:off x="566927" y="457200"/>
            <a:ext cx="1234442" cy="384048"/>
          </a:xfrm>
          <a:prstGeom prst="roundRect">
            <a:avLst>
              <a:gd name="adj" fmla="val 50000"/>
            </a:avLst>
          </a:prstGeom>
          <a:solidFill>
            <a:srgbClr val="2E6BFF"/>
          </a:solidFill>
          <a:ln w="12700">
            <a:miter lim="400000"/>
          </a:ln>
        </p:spPr>
        <p:txBody>
          <a:bodyPr lIns="45718" tIns="45718" rIns="45718" bIns="45718"/>
          <a:lstStyle/>
          <a:p>
            <a:pPr>
              <a:defRPr>
                <a:latin typeface="+mj-lt"/>
                <a:ea typeface="+mj-ea"/>
                <a:cs typeface="+mj-cs"/>
                <a:sym typeface="Calibri"/>
              </a:defRPr>
            </a:pPr>
            <a:endParaRPr/>
          </a:p>
        </p:txBody>
      </p:sp>
      <p:sp>
        <p:nvSpPr>
          <p:cNvPr id="195" name="Text 1"/>
          <p:cNvSpPr txBox="1"/>
          <p:nvPr/>
        </p:nvSpPr>
        <p:spPr>
          <a:xfrm>
            <a:off x="566927" y="556674"/>
            <a:ext cx="1234443" cy="1850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300" b="1" spc="200">
                <a:solidFill>
                  <a:srgbClr val="FFFFFF"/>
                </a:solidFill>
                <a:latin typeface="Arial"/>
                <a:ea typeface="Arial"/>
                <a:cs typeface="Arial"/>
                <a:sym typeface="Arial"/>
              </a:defRPr>
            </a:lvl1pPr>
          </a:lstStyle>
          <a:p>
            <a:r>
              <a:t>JOUR 2</a:t>
            </a:r>
          </a:p>
        </p:txBody>
      </p:sp>
      <p:sp>
        <p:nvSpPr>
          <p:cNvPr id="196" name="Text 3"/>
          <p:cNvSpPr txBox="1"/>
          <p:nvPr/>
        </p:nvSpPr>
        <p:spPr>
          <a:xfrm>
            <a:off x="538771" y="1664206"/>
            <a:ext cx="5384130" cy="6465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400" i="1">
                <a:solidFill>
                  <a:srgbClr val="6E6E6E"/>
                </a:solidFill>
                <a:latin typeface="+mj-lt"/>
                <a:ea typeface="+mj-ea"/>
                <a:cs typeface="+mj-cs"/>
                <a:sym typeface="Calibri"/>
              </a:defRPr>
            </a:lvl1pPr>
          </a:lstStyle>
          <a:p>
            <a:r>
              <a:t>Il ne s’agit pas d’évaluer votre utilisation de l’IA, mais d’observer comment l’IA influence concrètement votre travail et de vous aider à prendre du recul sur l’usage.</a:t>
            </a:r>
          </a:p>
        </p:txBody>
      </p:sp>
      <p:pic>
        <p:nvPicPr>
          <p:cNvPr id="197" name="vidéo-collée.png" descr="vidéo-collée.png"/>
          <p:cNvPicPr>
            <a:picLocks noChangeAspect="1"/>
          </p:cNvPicPr>
          <p:nvPr/>
        </p:nvPicPr>
        <p:blipFill>
          <a:blip r:embed="rId3"/>
          <a:stretch>
            <a:fillRect/>
          </a:stretch>
        </p:blipFill>
        <p:spPr>
          <a:xfrm>
            <a:off x="6955465" y="1461721"/>
            <a:ext cx="4216401" cy="4114801"/>
          </a:xfrm>
          <a:prstGeom prst="rect">
            <a:avLst/>
          </a:prstGeom>
          <a:ln w="12700">
            <a:miter lim="400000"/>
          </a:ln>
        </p:spPr>
      </p:pic>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205</TotalTime>
  <Words>1773</Words>
  <Application>Microsoft Office PowerPoint</Application>
  <PresentationFormat>Personnalisé</PresentationFormat>
  <Paragraphs>151</Paragraphs>
  <Slides>10</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10</vt:i4>
      </vt:variant>
    </vt:vector>
  </HeadingPairs>
  <TitlesOfParts>
    <vt:vector size="16" baseType="lpstr">
      <vt:lpstr>Aptos</vt:lpstr>
      <vt:lpstr>Aptos Display</vt:lpstr>
      <vt:lpstr>Arial</vt:lpstr>
      <vt:lpstr>Calibri</vt:lpstr>
      <vt:lpstr>Helvetica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Levana</dc:creator>
  <cp:lastModifiedBy>BENISTI Levana</cp:lastModifiedBy>
  <cp:revision>5</cp:revision>
  <dcterms:modified xsi:type="dcterms:W3CDTF">2026-09-22T14:16:06Z</dcterms:modified>
</cp:coreProperties>
</file>