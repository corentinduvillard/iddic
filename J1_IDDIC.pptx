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>
        <p:scale>
          <a:sx n="66" d="100"/>
          <a:sy n="66" d="100"/>
        </p:scale>
        <p:origin x="788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>
            <a:spLocks noGrp="1"/>
          </p:cNvSpPr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/>
          <a:lstStyle/>
          <a:p>
            <a:r>
              <a:t>Texte du titre</a:t>
            </a:r>
          </a:p>
        </p:txBody>
      </p:sp>
      <p:sp>
        <p:nvSpPr>
          <p:cNvPr id="3" name="Texte niveau 1…"/>
          <p:cNvSpPr txBox="1">
            <a:spLocks noGrp="1"/>
          </p:cNvSpPr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8469877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66926" y="1135748"/>
            <a:ext cx="110578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b="1" spc="4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 ·   IA &amp; INNOVATION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66926" y="2278002"/>
            <a:ext cx="11057842" cy="1357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6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66926" y="3971564"/>
            <a:ext cx="11057842" cy="53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8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Explorer. </a:t>
            </a:r>
            <a:r>
              <a:rPr>
                <a:solidFill>
                  <a:srgbClr val="2E6BFF"/>
                </a:solidFill>
              </a:rPr>
              <a:t>Se mettre en marche</a:t>
            </a:r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ext 6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25" name="Shape 4"/>
          <p:cNvSpPr/>
          <p:nvPr/>
        </p:nvSpPr>
        <p:spPr>
          <a:xfrm>
            <a:off x="566926" y="5303520"/>
            <a:ext cx="6035044" cy="457202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6" name="Text 5"/>
          <p:cNvSpPr txBox="1"/>
          <p:nvPr/>
        </p:nvSpPr>
        <p:spPr>
          <a:xfrm>
            <a:off x="566926" y="5464347"/>
            <a:ext cx="6035044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 spc="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LIVRABLE DU JOUR — M1 · PROBLÉMATIQUE CONTEXTUALISÉE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9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1938527" y="553672"/>
            <a:ext cx="54864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6B71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FIL DU JOUR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566926" y="1024127"/>
            <a:ext cx="11057842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Ce que vous produisez aujourd'hui</a:t>
            </a:r>
          </a:p>
        </p:txBody>
      </p:sp>
      <p:sp>
        <p:nvSpPr>
          <p:cNvPr id="32" name="Shape 4"/>
          <p:cNvSpPr/>
          <p:nvPr/>
        </p:nvSpPr>
        <p:spPr>
          <a:xfrm>
            <a:off x="566927" y="1874520"/>
            <a:ext cx="7452361" cy="758954"/>
          </a:xfrm>
          <a:prstGeom prst="roundRect">
            <a:avLst>
              <a:gd name="adj" fmla="val 6024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3" name="Shape 5"/>
          <p:cNvSpPr/>
          <p:nvPr/>
        </p:nvSpPr>
        <p:spPr>
          <a:xfrm>
            <a:off x="713230" y="2020822"/>
            <a:ext cx="466347" cy="466346"/>
          </a:xfrm>
          <a:prstGeom prst="roundRect">
            <a:avLst>
              <a:gd name="adj" fmla="val 19608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4" name="Text 6"/>
          <p:cNvSpPr txBox="1"/>
          <p:nvPr/>
        </p:nvSpPr>
        <p:spPr>
          <a:xfrm>
            <a:off x="713230" y="2112099"/>
            <a:ext cx="46634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35" name="Text 7"/>
          <p:cNvSpPr txBox="1"/>
          <p:nvPr/>
        </p:nvSpPr>
        <p:spPr>
          <a:xfrm>
            <a:off x="1344166" y="2048578"/>
            <a:ext cx="649224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Votre question &amp; votre terrain</a:t>
            </a:r>
          </a:p>
        </p:txBody>
      </p:sp>
      <p:sp>
        <p:nvSpPr>
          <p:cNvPr id="36" name="Text 8"/>
          <p:cNvSpPr txBox="1"/>
          <p:nvPr/>
        </p:nvSpPr>
        <p:spPr>
          <a:xfrm>
            <a:off x="1344166" y="2344727"/>
            <a:ext cx="649224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180"/>
                </a:solidFill>
              </a:defRPr>
            </a:lvl1pPr>
          </a:lstStyle>
          <a:p>
            <a:r>
              <a:t>Choisir une problématique, l'ancrer dans un contexte, dire pourquoi elle vous parle.</a:t>
            </a:r>
          </a:p>
        </p:txBody>
      </p:sp>
      <p:sp>
        <p:nvSpPr>
          <p:cNvPr id="37" name="Shape 9"/>
          <p:cNvSpPr/>
          <p:nvPr/>
        </p:nvSpPr>
        <p:spPr>
          <a:xfrm>
            <a:off x="566927" y="2715766"/>
            <a:ext cx="7452361" cy="758954"/>
          </a:xfrm>
          <a:prstGeom prst="roundRect">
            <a:avLst>
              <a:gd name="adj" fmla="val 6024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8" name="Shape 10"/>
          <p:cNvSpPr/>
          <p:nvPr/>
        </p:nvSpPr>
        <p:spPr>
          <a:xfrm>
            <a:off x="713230" y="2862072"/>
            <a:ext cx="466347" cy="466345"/>
          </a:xfrm>
          <a:prstGeom prst="roundRect">
            <a:avLst>
              <a:gd name="adj" fmla="val 19608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" name="Text 11"/>
          <p:cNvSpPr txBox="1"/>
          <p:nvPr/>
        </p:nvSpPr>
        <p:spPr>
          <a:xfrm>
            <a:off x="713230" y="2953348"/>
            <a:ext cx="466347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40" name="Text 12"/>
          <p:cNvSpPr txBox="1"/>
          <p:nvPr/>
        </p:nvSpPr>
        <p:spPr>
          <a:xfrm>
            <a:off x="1344166" y="2889825"/>
            <a:ext cx="6492244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Êtes-vous les bonnes personnes ?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1344166" y="3185974"/>
            <a:ext cx="649224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180"/>
                </a:solidFill>
              </a:defRPr>
            </a:lvl1pPr>
          </a:lstStyle>
          <a:p>
            <a:r>
              <a:t>Le test de légitimité : qui, dans l'équipe, peut vraiment aller sur ce terrain ?</a:t>
            </a:r>
          </a:p>
        </p:txBody>
      </p:sp>
      <p:sp>
        <p:nvSpPr>
          <p:cNvPr id="42" name="Shape 14"/>
          <p:cNvSpPr/>
          <p:nvPr/>
        </p:nvSpPr>
        <p:spPr>
          <a:xfrm>
            <a:off x="566927" y="3557015"/>
            <a:ext cx="7452361" cy="758954"/>
          </a:xfrm>
          <a:prstGeom prst="roundRect">
            <a:avLst>
              <a:gd name="adj" fmla="val 6024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3" name="Shape 15"/>
          <p:cNvSpPr/>
          <p:nvPr/>
        </p:nvSpPr>
        <p:spPr>
          <a:xfrm>
            <a:off x="713230" y="3703320"/>
            <a:ext cx="466347" cy="466346"/>
          </a:xfrm>
          <a:prstGeom prst="roundRect">
            <a:avLst>
              <a:gd name="adj" fmla="val 19608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4" name="Text 16"/>
          <p:cNvSpPr txBox="1"/>
          <p:nvPr/>
        </p:nvSpPr>
        <p:spPr>
          <a:xfrm>
            <a:off x="713230" y="3794595"/>
            <a:ext cx="46634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1344166" y="3731073"/>
            <a:ext cx="6492244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Cartographie des parties prenantes</a:t>
            </a:r>
          </a:p>
        </p:txBody>
      </p:sp>
      <p:sp>
        <p:nvSpPr>
          <p:cNvPr id="46" name="Text 18"/>
          <p:cNvSpPr txBox="1"/>
          <p:nvPr/>
        </p:nvSpPr>
        <p:spPr>
          <a:xfrm>
            <a:off x="1344166" y="4027222"/>
            <a:ext cx="649224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180"/>
                </a:solidFill>
              </a:defRPr>
            </a:lvl1pPr>
          </a:lstStyle>
          <a:p>
            <a:r>
              <a:t>Lister tous ceux que le problème touche — bien au-delà des deux évidents.</a:t>
            </a:r>
          </a:p>
        </p:txBody>
      </p:sp>
      <p:sp>
        <p:nvSpPr>
          <p:cNvPr id="47" name="Shape 19"/>
          <p:cNvSpPr/>
          <p:nvPr/>
        </p:nvSpPr>
        <p:spPr>
          <a:xfrm>
            <a:off x="566927" y="4398264"/>
            <a:ext cx="7452361" cy="758954"/>
          </a:xfrm>
          <a:prstGeom prst="roundRect">
            <a:avLst>
              <a:gd name="adj" fmla="val 6024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8" name="Shape 20"/>
          <p:cNvSpPr/>
          <p:nvPr/>
        </p:nvSpPr>
        <p:spPr>
          <a:xfrm>
            <a:off x="713230" y="4544567"/>
            <a:ext cx="466347" cy="466346"/>
          </a:xfrm>
          <a:prstGeom prst="roundRect">
            <a:avLst>
              <a:gd name="adj" fmla="val 19608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9" name="Text 21"/>
          <p:cNvSpPr txBox="1"/>
          <p:nvPr/>
        </p:nvSpPr>
        <p:spPr>
          <a:xfrm>
            <a:off x="713230" y="4635844"/>
            <a:ext cx="466347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4</a:t>
            </a:r>
          </a:p>
        </p:txBody>
      </p:sp>
      <p:sp>
        <p:nvSpPr>
          <p:cNvPr id="50" name="Text 22"/>
          <p:cNvSpPr txBox="1"/>
          <p:nvPr/>
        </p:nvSpPr>
        <p:spPr>
          <a:xfrm>
            <a:off x="1344166" y="4572322"/>
            <a:ext cx="649224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L'amorçage terrain</a:t>
            </a:r>
          </a:p>
        </p:txBody>
      </p:sp>
      <p:sp>
        <p:nvSpPr>
          <p:cNvPr id="51" name="Text 23"/>
          <p:cNvSpPr txBox="1"/>
          <p:nvPr/>
        </p:nvSpPr>
        <p:spPr>
          <a:xfrm>
            <a:off x="1344166" y="4868470"/>
            <a:ext cx="649224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180"/>
                </a:solidFill>
              </a:defRPr>
            </a:lvl1pPr>
          </a:lstStyle>
          <a:p>
            <a:r>
              <a:t>Vos premiers contacts, et ce que vous cherchez à découvrir.</a:t>
            </a:r>
          </a:p>
        </p:txBody>
      </p:sp>
      <p:sp>
        <p:nvSpPr>
          <p:cNvPr id="52" name="Shape 24"/>
          <p:cNvSpPr/>
          <p:nvPr/>
        </p:nvSpPr>
        <p:spPr>
          <a:xfrm>
            <a:off x="566927" y="5239510"/>
            <a:ext cx="7452361" cy="758954"/>
          </a:xfrm>
          <a:prstGeom prst="roundRect">
            <a:avLst>
              <a:gd name="adj" fmla="val 6024"/>
            </a:avLst>
          </a:prstGeom>
          <a:solidFill>
            <a:srgbClr val="F4F5F8"/>
          </a:solidFill>
          <a:ln w="12700">
            <a:solidFill>
              <a:srgbClr val="DCDFE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3" name="Shape 25"/>
          <p:cNvSpPr/>
          <p:nvPr/>
        </p:nvSpPr>
        <p:spPr>
          <a:xfrm>
            <a:off x="713230" y="5385815"/>
            <a:ext cx="466347" cy="466346"/>
          </a:xfrm>
          <a:prstGeom prst="roundRect">
            <a:avLst>
              <a:gd name="adj" fmla="val 19608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4" name="Text 26"/>
          <p:cNvSpPr txBox="1"/>
          <p:nvPr/>
        </p:nvSpPr>
        <p:spPr>
          <a:xfrm>
            <a:off x="713230" y="5477092"/>
            <a:ext cx="466347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5</a:t>
            </a:r>
          </a:p>
        </p:txBody>
      </p:sp>
      <p:sp>
        <p:nvSpPr>
          <p:cNvPr id="55" name="Text 27"/>
          <p:cNvSpPr txBox="1"/>
          <p:nvPr/>
        </p:nvSpPr>
        <p:spPr>
          <a:xfrm>
            <a:off x="1344166" y="5413570"/>
            <a:ext cx="649224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024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mini plan d'action</a:t>
            </a:r>
          </a:p>
        </p:txBody>
      </p:sp>
      <p:sp>
        <p:nvSpPr>
          <p:cNvPr id="56" name="Text 28"/>
          <p:cNvSpPr txBox="1"/>
          <p:nvPr/>
        </p:nvSpPr>
        <p:spPr>
          <a:xfrm>
            <a:off x="1344166" y="5709718"/>
            <a:ext cx="649224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180"/>
                </a:solidFill>
              </a:defRPr>
            </a:lvl1pPr>
          </a:lstStyle>
          <a:p>
            <a:r>
              <a:t>Vos 3 prochains pas. Pas dix. On s'adapte en marchant.</a:t>
            </a:r>
          </a:p>
        </p:txBody>
      </p:sp>
      <p:sp>
        <p:nvSpPr>
          <p:cNvPr id="57" name="Shape 29"/>
          <p:cNvSpPr/>
          <p:nvPr/>
        </p:nvSpPr>
        <p:spPr>
          <a:xfrm>
            <a:off x="8385047" y="1874520"/>
            <a:ext cx="3239721" cy="4160521"/>
          </a:xfrm>
          <a:prstGeom prst="roundRect">
            <a:avLst>
              <a:gd name="adj" fmla="val 1693"/>
            </a:avLst>
          </a:prstGeom>
          <a:solidFill>
            <a:srgbClr val="10131C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167127"/>
            <a:ext cx="566930" cy="56693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30"/>
          <p:cNvSpPr txBox="1"/>
          <p:nvPr/>
        </p:nvSpPr>
        <p:spPr>
          <a:xfrm>
            <a:off x="8641080" y="2897884"/>
            <a:ext cx="278252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2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+ EN FIN DE JOURNÉE</a:t>
            </a:r>
          </a:p>
        </p:txBody>
      </p:sp>
      <p:sp>
        <p:nvSpPr>
          <p:cNvPr id="60" name="Text 31"/>
          <p:cNvSpPr txBox="1"/>
          <p:nvPr/>
        </p:nvSpPr>
        <p:spPr>
          <a:xfrm>
            <a:off x="8641080" y="3126737"/>
            <a:ext cx="2782521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Journal IA</a:t>
            </a:r>
          </a:p>
        </p:txBody>
      </p:sp>
      <p:sp>
        <p:nvSpPr>
          <p:cNvPr id="61" name="Text 32"/>
          <p:cNvSpPr txBox="1"/>
          <p:nvPr/>
        </p:nvSpPr>
        <p:spPr>
          <a:xfrm>
            <a:off x="8641080" y="3977745"/>
            <a:ext cx="2727657" cy="639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7CCD8"/>
                </a:solidFill>
              </a:defRPr>
            </a:lvl1pPr>
          </a:lstStyle>
          <a:p>
            <a:r>
              <a:t>L’équipe note comment elle a (ou non) utilisé l'IA dans la journée et ce qui l'a surprise. Sans jugement.</a:t>
            </a:r>
          </a:p>
        </p:txBody>
      </p:sp>
      <p:pic>
        <p:nvPicPr>
          <p:cNvPr id="6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33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A0A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TEMPLATE 1 / 5</a:t>
            </a:r>
          </a:p>
        </p:txBody>
      </p:sp>
      <p:sp>
        <p:nvSpPr>
          <p:cNvPr id="66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Problématique de départ</a:t>
            </a:r>
          </a:p>
        </p:txBody>
      </p:sp>
      <p:sp>
        <p:nvSpPr>
          <p:cNvPr id="67" name="Shape 5"/>
          <p:cNvSpPr/>
          <p:nvPr/>
        </p:nvSpPr>
        <p:spPr>
          <a:xfrm>
            <a:off x="566926" y="1606182"/>
            <a:ext cx="11057842" cy="150277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8" name="Text 6"/>
          <p:cNvSpPr txBox="1"/>
          <p:nvPr/>
        </p:nvSpPr>
        <p:spPr>
          <a:xfrm>
            <a:off x="749806" y="1826569"/>
            <a:ext cx="10692083" cy="15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① L’ENJEU CHOISI (DANS LE CATALOGUE)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566926" y="3303833"/>
            <a:ext cx="11057842" cy="15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② LE CONTEXT</a:t>
            </a:r>
          </a:p>
        </p:txBody>
      </p:sp>
      <p:sp>
        <p:nvSpPr>
          <p:cNvPr id="70" name="Shape 9"/>
          <p:cNvSpPr/>
          <p:nvPr/>
        </p:nvSpPr>
        <p:spPr>
          <a:xfrm>
            <a:off x="622649" y="3643181"/>
            <a:ext cx="203057" cy="2040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1" name="Text 10"/>
          <p:cNvSpPr txBox="1"/>
          <p:nvPr/>
        </p:nvSpPr>
        <p:spPr>
          <a:xfrm>
            <a:off x="936777" y="3658806"/>
            <a:ext cx="257787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Enseignement supérieur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3939849" y="3663786"/>
            <a:ext cx="329184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Entreprise</a:t>
            </a:r>
          </a:p>
        </p:txBody>
      </p:sp>
      <p:sp>
        <p:nvSpPr>
          <p:cNvPr id="73" name="Text 14"/>
          <p:cNvSpPr txBox="1"/>
          <p:nvPr/>
        </p:nvSpPr>
        <p:spPr>
          <a:xfrm>
            <a:off x="5836592" y="3633656"/>
            <a:ext cx="329184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Industrie créative</a:t>
            </a:r>
          </a:p>
        </p:txBody>
      </p:sp>
      <p:sp>
        <p:nvSpPr>
          <p:cNvPr id="74" name="Shape 15"/>
          <p:cNvSpPr/>
          <p:nvPr/>
        </p:nvSpPr>
        <p:spPr>
          <a:xfrm>
            <a:off x="566928" y="4251959"/>
            <a:ext cx="5368900" cy="18496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5" name="Text 16"/>
          <p:cNvSpPr txBox="1"/>
          <p:nvPr/>
        </p:nvSpPr>
        <p:spPr>
          <a:xfrm>
            <a:off x="749808" y="4437689"/>
            <a:ext cx="5003140" cy="15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③ PROBLÉMATIQUE REFORMULÉE DANS NOTRE CONTEXTE</a:t>
            </a:r>
          </a:p>
        </p:txBody>
      </p:sp>
      <p:sp>
        <p:nvSpPr>
          <p:cNvPr id="76" name="Shape 18"/>
          <p:cNvSpPr/>
          <p:nvPr/>
        </p:nvSpPr>
        <p:spPr>
          <a:xfrm>
            <a:off x="6255868" y="4251959"/>
            <a:ext cx="5368900" cy="18496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7" name="Text 19"/>
          <p:cNvSpPr txBox="1"/>
          <p:nvPr/>
        </p:nvSpPr>
        <p:spPr>
          <a:xfrm>
            <a:off x="6438748" y="4437689"/>
            <a:ext cx="5003142" cy="158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④ POURQUOI CETTE QUESTION NOUS PARLE</a:t>
            </a:r>
          </a:p>
        </p:txBody>
      </p:sp>
      <p:sp>
        <p:nvSpPr>
          <p:cNvPr id="78" name="Text 20"/>
          <p:cNvSpPr txBox="1"/>
          <p:nvPr/>
        </p:nvSpPr>
        <p:spPr>
          <a:xfrm>
            <a:off x="6438748" y="4663440"/>
            <a:ext cx="50031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Ce qui vous agace, vous intrigue, vous touche.</a:t>
            </a:r>
          </a:p>
        </p:txBody>
      </p:sp>
      <p:pic>
        <p:nvPicPr>
          <p:cNvPr id="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21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81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82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83" name="Shape 9"/>
          <p:cNvSpPr/>
          <p:nvPr/>
        </p:nvSpPr>
        <p:spPr>
          <a:xfrm>
            <a:off x="3625721" y="3633169"/>
            <a:ext cx="203058" cy="2040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r>
              <a:rPr lang="fr-FR" dirty="0"/>
              <a:t>X</a:t>
            </a:r>
            <a:endParaRPr dirty="0"/>
          </a:p>
        </p:txBody>
      </p:sp>
      <p:sp>
        <p:nvSpPr>
          <p:cNvPr id="84" name="Shape 9"/>
          <p:cNvSpPr/>
          <p:nvPr/>
        </p:nvSpPr>
        <p:spPr>
          <a:xfrm>
            <a:off x="5484243" y="3618031"/>
            <a:ext cx="203058" cy="2040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85" name="Une problématique vous permet de répondre à  :Quel changement cherchons-nous à provoquer et pourquoi est-il important ?"/>
          <p:cNvSpPr txBox="1"/>
          <p:nvPr/>
        </p:nvSpPr>
        <p:spPr>
          <a:xfrm>
            <a:off x="729483" y="4748936"/>
            <a:ext cx="5136995" cy="3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Une problématique vous permet de répondre à  :Quel changement cherchons-nous à provoquer et pourquoi est-il important 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012C7A7-F57F-E2CA-2468-8A9E0541BB93}"/>
              </a:ext>
            </a:extLst>
          </p:cNvPr>
          <p:cNvSpPr txBox="1"/>
          <p:nvPr/>
        </p:nvSpPr>
        <p:spPr>
          <a:xfrm>
            <a:off x="902686" y="2221822"/>
            <a:ext cx="9949543" cy="6594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fr-FR" b="1" dirty="0"/>
              <a:t>Demain, seras-tu augmenté ou diminué ?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5E371D6-7030-54CB-D705-0B3283417158}"/>
              </a:ext>
            </a:extLst>
          </p:cNvPr>
          <p:cNvSpPr txBox="1"/>
          <p:nvPr/>
        </p:nvSpPr>
        <p:spPr>
          <a:xfrm>
            <a:off x="724177" y="5041742"/>
            <a:ext cx="4750524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Dans les métiers de la créativité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Comment aider les futurs designers à mieux appréhender les utilisations futures de l’IA ? 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2FDEDB-1E78-B47A-ACF6-D003B83BB271}"/>
              </a:ext>
            </a:extLst>
          </p:cNvPr>
          <p:cNvSpPr txBox="1"/>
          <p:nvPr/>
        </p:nvSpPr>
        <p:spPr>
          <a:xfrm>
            <a:off x="6364877" y="4735341"/>
            <a:ext cx="5718265" cy="2308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On est les premiers concernes , nous sommes acteurs et consommateurs, la pub nous influence, on pense et on ressentie, les réseaux sociaux, les grands penseurs </a:t>
            </a:r>
            <a:r>
              <a:rPr lang="fr-FR" dirty="0" err="1"/>
              <a:t>linkdl</a:t>
            </a:r>
            <a:r>
              <a:rPr lang="fr-FR" dirty="0"/>
              <a:t> , c’est </a:t>
            </a:r>
            <a:r>
              <a:rPr lang="fr-FR" dirty="0" err="1"/>
              <a:t>tjs</a:t>
            </a:r>
            <a:r>
              <a:rPr lang="fr-FR" dirty="0"/>
              <a:t> écrit pareil,  « tissus de mensonges » «  avec des photos IA » n’importe quel </a:t>
            </a:r>
            <a:r>
              <a:rPr lang="fr-FR" dirty="0" err="1"/>
              <a:t>Grrek</a:t>
            </a:r>
            <a:r>
              <a:rPr lang="fr-FR" dirty="0"/>
              <a:t> c’est la même. Menace des métiers de la communication à cause de l’IA; la créativité de l’employer est vraiment utilisé ? Propriété </a:t>
            </a:r>
            <a:r>
              <a:rPr lang="fr-FR" dirty="0" err="1"/>
              <a:t>intectuel</a:t>
            </a:r>
            <a:r>
              <a:rPr lang="fr-FR" dirty="0"/>
              <a:t>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1"/>
          <p:cNvSpPr txBox="1"/>
          <p:nvPr/>
        </p:nvSpPr>
        <p:spPr>
          <a:xfrm>
            <a:off x="566927" y="547530"/>
            <a:ext cx="1143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88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TEMPLATE 2 / 5</a:t>
            </a:r>
          </a:p>
        </p:txBody>
      </p:sp>
      <p:sp>
        <p:nvSpPr>
          <p:cNvPr id="89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Êtes-vous les bonnes personnes ?</a:t>
            </a:r>
          </a:p>
        </p:txBody>
      </p:sp>
      <p:sp>
        <p:nvSpPr>
          <p:cNvPr id="90" name="Text 4"/>
          <p:cNvSpPr txBox="1"/>
          <p:nvPr/>
        </p:nvSpPr>
        <p:spPr>
          <a:xfrm>
            <a:off x="566927" y="1615947"/>
            <a:ext cx="10874962" cy="41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i="1">
                <a:solidFill>
                  <a:srgbClr val="6E6E6E"/>
                </a:solidFill>
              </a:defRPr>
            </a:lvl1pPr>
          </a:lstStyle>
          <a:p>
            <a:r>
              <a:t>L’objectif de l’IDDIC est de vous amener à mettre en oeuvre un dispositif innovant réalisable. L’exploration de votre problématique doit être conduite dans un environnement que vous pouvez questionner. </a:t>
            </a:r>
          </a:p>
        </p:txBody>
      </p:sp>
      <p:sp>
        <p:nvSpPr>
          <p:cNvPr id="91" name="Shape 5"/>
          <p:cNvSpPr/>
          <p:nvPr/>
        </p:nvSpPr>
        <p:spPr>
          <a:xfrm>
            <a:off x="861884" y="2518780"/>
            <a:ext cx="4823950" cy="28163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2" name="Text 6"/>
          <p:cNvSpPr txBox="1"/>
          <p:nvPr/>
        </p:nvSpPr>
        <p:spPr>
          <a:xfrm>
            <a:off x="1044765" y="2710041"/>
            <a:ext cx="310682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A UN PIED DANS CE MILIEU ?</a:t>
            </a:r>
          </a:p>
        </p:txBody>
      </p:sp>
      <p:sp>
        <p:nvSpPr>
          <p:cNvPr id="93" name="Text 7"/>
          <p:cNvSpPr txBox="1"/>
          <p:nvPr/>
        </p:nvSpPr>
        <p:spPr>
          <a:xfrm>
            <a:off x="1044765" y="2930261"/>
            <a:ext cx="3106828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Alternance, job, famille, association, passion…</a:t>
            </a:r>
          </a:p>
        </p:txBody>
      </p:sp>
      <p:sp>
        <p:nvSpPr>
          <p:cNvPr id="94" name="Shape 8"/>
          <p:cNvSpPr/>
          <p:nvPr/>
        </p:nvSpPr>
        <p:spPr>
          <a:xfrm>
            <a:off x="6743796" y="2518780"/>
            <a:ext cx="4823950" cy="28163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95" name="Text 9"/>
          <p:cNvSpPr txBox="1"/>
          <p:nvPr/>
        </p:nvSpPr>
        <p:spPr>
          <a:xfrm>
            <a:off x="6926675" y="2710041"/>
            <a:ext cx="3106828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APPELER D'ICI LE COACHING ?</a:t>
            </a:r>
          </a:p>
        </p:txBody>
      </p:sp>
      <p:sp>
        <p:nvSpPr>
          <p:cNvPr id="96" name="Text 10"/>
          <p:cNvSpPr txBox="1"/>
          <p:nvPr/>
        </p:nvSpPr>
        <p:spPr>
          <a:xfrm>
            <a:off x="6926675" y="2930261"/>
            <a:ext cx="390538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2-3 personnes que vous pouvez joindre dès maintenant </a:t>
            </a:r>
          </a:p>
        </p:txBody>
      </p:sp>
      <p:pic>
        <p:nvPicPr>
          <p:cNvPr id="9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16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99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0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8416977-1962-BF3F-5C2B-D93DD15983B9}"/>
              </a:ext>
            </a:extLst>
          </p:cNvPr>
          <p:cNvSpPr txBox="1"/>
          <p:nvPr/>
        </p:nvSpPr>
        <p:spPr>
          <a:xfrm>
            <a:off x="7073900" y="3498607"/>
            <a:ext cx="3951514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Un frère photographe, une amie tatoueuse , amie designers</a:t>
            </a:r>
            <a:r>
              <a:rPr lang="fr-FR" dirty="0"/>
              <a:t>, belle sœur artistique, petit ami direction artistique, un imprimeur, un Dj.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F826E07-76DC-803A-D1D6-42BC24BDB5E1}"/>
              </a:ext>
            </a:extLst>
          </p:cNvPr>
          <p:cNvSpPr txBox="1"/>
          <p:nvPr/>
        </p:nvSpPr>
        <p:spPr>
          <a:xfrm>
            <a:off x="1044765" y="3429000"/>
            <a:ext cx="4060635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Famille, passion ….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TEMPLATE 3 / 5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Cartographie des parties prenantes</a:t>
            </a:r>
          </a:p>
        </p:txBody>
      </p:sp>
      <p:sp>
        <p:nvSpPr>
          <p:cNvPr id="104" name="Shape 5"/>
          <p:cNvSpPr/>
          <p:nvPr/>
        </p:nvSpPr>
        <p:spPr>
          <a:xfrm>
            <a:off x="566927" y="2230120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5" name="Text 6"/>
          <p:cNvSpPr txBox="1"/>
          <p:nvPr/>
        </p:nvSpPr>
        <p:spPr>
          <a:xfrm>
            <a:off x="731519" y="2384457"/>
            <a:ext cx="317388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SUBIT le problème ?</a:t>
            </a:r>
          </a:p>
        </p:txBody>
      </p:sp>
      <p:sp>
        <p:nvSpPr>
          <p:cNvPr id="106" name="Text 7"/>
          <p:cNvSpPr txBox="1"/>
          <p:nvPr/>
        </p:nvSpPr>
        <p:spPr>
          <a:xfrm>
            <a:off x="731519" y="2684193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les premiers concernés</a:t>
            </a:r>
          </a:p>
        </p:txBody>
      </p:sp>
      <p:sp>
        <p:nvSpPr>
          <p:cNvPr id="107" name="Shape 11"/>
          <p:cNvSpPr/>
          <p:nvPr/>
        </p:nvSpPr>
        <p:spPr>
          <a:xfrm>
            <a:off x="4344313" y="2230120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8" name="Text 12"/>
          <p:cNvSpPr txBox="1"/>
          <p:nvPr/>
        </p:nvSpPr>
        <p:spPr>
          <a:xfrm>
            <a:off x="4508906" y="2384457"/>
            <a:ext cx="317388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DÉCIDE / a le pouvoir ?</a:t>
            </a:r>
          </a:p>
        </p:txBody>
      </p:sp>
      <p:sp>
        <p:nvSpPr>
          <p:cNvPr id="109" name="Text 13"/>
          <p:cNvSpPr txBox="1"/>
          <p:nvPr/>
        </p:nvSpPr>
        <p:spPr>
          <a:xfrm>
            <a:off x="4508906" y="2684193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ex. le responsable pédagogique, la direction</a:t>
            </a:r>
          </a:p>
        </p:txBody>
      </p:sp>
      <p:sp>
        <p:nvSpPr>
          <p:cNvPr id="110" name="Shape 17"/>
          <p:cNvSpPr/>
          <p:nvPr/>
        </p:nvSpPr>
        <p:spPr>
          <a:xfrm>
            <a:off x="8121701" y="2230120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1" name="Text 18"/>
          <p:cNvSpPr txBox="1"/>
          <p:nvPr/>
        </p:nvSpPr>
        <p:spPr>
          <a:xfrm>
            <a:off x="8286291" y="2384457"/>
            <a:ext cx="3173884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PAIE / achète ?</a:t>
            </a:r>
          </a:p>
        </p:txBody>
      </p:sp>
      <p:sp>
        <p:nvSpPr>
          <p:cNvPr id="112" name="Text 19"/>
          <p:cNvSpPr txBox="1"/>
          <p:nvPr/>
        </p:nvSpPr>
        <p:spPr>
          <a:xfrm>
            <a:off x="8286291" y="2684193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ex. celui qui achète les abonnements à l'IA</a:t>
            </a:r>
          </a:p>
        </p:txBody>
      </p:sp>
      <p:sp>
        <p:nvSpPr>
          <p:cNvPr id="113" name="Shape 23"/>
          <p:cNvSpPr/>
          <p:nvPr/>
        </p:nvSpPr>
        <p:spPr>
          <a:xfrm>
            <a:off x="566927" y="4285996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4" name="Text 24"/>
          <p:cNvSpPr txBox="1"/>
          <p:nvPr/>
        </p:nvSpPr>
        <p:spPr>
          <a:xfrm>
            <a:off x="731519" y="4440334"/>
            <a:ext cx="3173884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INFLUENCE ?</a:t>
            </a:r>
          </a:p>
        </p:txBody>
      </p:sp>
      <p:sp>
        <p:nvSpPr>
          <p:cNvPr id="115" name="Text 25"/>
          <p:cNvSpPr txBox="1"/>
          <p:nvPr/>
        </p:nvSpPr>
        <p:spPr>
          <a:xfrm>
            <a:off x="731519" y="4740068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experts, prescripteurs, pairs, syndicats…</a:t>
            </a:r>
          </a:p>
        </p:txBody>
      </p:sp>
      <p:sp>
        <p:nvSpPr>
          <p:cNvPr id="116" name="Shape 29"/>
          <p:cNvSpPr/>
          <p:nvPr/>
        </p:nvSpPr>
        <p:spPr>
          <a:xfrm>
            <a:off x="4344313" y="4285996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7" name="Text 30"/>
          <p:cNvSpPr txBox="1"/>
          <p:nvPr/>
        </p:nvSpPr>
        <p:spPr>
          <a:xfrm>
            <a:off x="4508906" y="4440334"/>
            <a:ext cx="3173884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BÉNÉFICIE / pourrait y gagner ?</a:t>
            </a:r>
          </a:p>
        </p:txBody>
      </p:sp>
      <p:sp>
        <p:nvSpPr>
          <p:cNvPr id="118" name="Text 31"/>
          <p:cNvSpPr txBox="1"/>
          <p:nvPr/>
        </p:nvSpPr>
        <p:spPr>
          <a:xfrm>
            <a:off x="4508906" y="4740068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au-delà de l'évidence</a:t>
            </a:r>
          </a:p>
        </p:txBody>
      </p:sp>
      <p:sp>
        <p:nvSpPr>
          <p:cNvPr id="119" name="Shape 35"/>
          <p:cNvSpPr/>
          <p:nvPr/>
        </p:nvSpPr>
        <p:spPr>
          <a:xfrm>
            <a:off x="8121701" y="4285996"/>
            <a:ext cx="3503068" cy="196432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0" name="Text 36"/>
          <p:cNvSpPr txBox="1"/>
          <p:nvPr/>
        </p:nvSpPr>
        <p:spPr>
          <a:xfrm>
            <a:off x="8286291" y="4440334"/>
            <a:ext cx="3173884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pourrait FREINER / s'y opposer ?</a:t>
            </a:r>
          </a:p>
        </p:txBody>
      </p:sp>
      <p:sp>
        <p:nvSpPr>
          <p:cNvPr id="121" name="Text 37"/>
          <p:cNvSpPr txBox="1"/>
          <p:nvPr/>
        </p:nvSpPr>
        <p:spPr>
          <a:xfrm>
            <a:off x="8286291" y="4740068"/>
            <a:ext cx="317388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ceux que ça dérange</a:t>
            </a:r>
          </a:p>
        </p:txBody>
      </p:sp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43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124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5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126" name="Text 4"/>
          <p:cNvSpPr txBox="1"/>
          <p:nvPr/>
        </p:nvSpPr>
        <p:spPr>
          <a:xfrm>
            <a:off x="566927" y="1615947"/>
            <a:ext cx="10874962" cy="41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i="1">
                <a:solidFill>
                  <a:srgbClr val="6E6E6E"/>
                </a:solidFill>
              </a:defRPr>
            </a:lvl1pPr>
          </a:lstStyle>
          <a:p>
            <a:r>
              <a:t>Ne vous limiter pas aux premières idées venues… Au moins 8 parties prenantes différentes. En dessous, c'est que vous n'avez pas encore creusé. Les catégories servent de guide, vous pouvez en imaginer d’autres. Prenez 10 minutes.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A90769B-7912-97E2-1A15-1B60D6887AE8}"/>
              </a:ext>
            </a:extLst>
          </p:cNvPr>
          <p:cNvSpPr txBox="1"/>
          <p:nvPr/>
        </p:nvSpPr>
        <p:spPr>
          <a:xfrm>
            <a:off x="731519" y="3026229"/>
            <a:ext cx="2947852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Les métiers créatifs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75592E-BBEF-6144-3D87-DD8629907894}"/>
              </a:ext>
            </a:extLst>
          </p:cNvPr>
          <p:cNvSpPr txBox="1"/>
          <p:nvPr/>
        </p:nvSpPr>
        <p:spPr>
          <a:xfrm>
            <a:off x="4610501" y="3108960"/>
            <a:ext cx="289720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Le directeur marketing, les managers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1DC442-4A2B-A2C8-1431-4B5C5E2E1DC0}"/>
              </a:ext>
            </a:extLst>
          </p:cNvPr>
          <p:cNvSpPr txBox="1"/>
          <p:nvPr/>
        </p:nvSpPr>
        <p:spPr>
          <a:xfrm>
            <a:off x="8515807" y="2912839"/>
            <a:ext cx="2926082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Les professionnels = les entreprises, industrie, les particuliers, les associations (sportif), politiques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58DC93-09E9-14EE-A6DA-FBB4C5A7C543}"/>
              </a:ext>
            </a:extLst>
          </p:cNvPr>
          <p:cNvSpPr txBox="1"/>
          <p:nvPr/>
        </p:nvSpPr>
        <p:spPr>
          <a:xfrm>
            <a:off x="866274" y="5111015"/>
            <a:ext cx="2916454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Politiques, les acteurs majeurs de l’IA, les influenceurs ( trading , formations) , les marques.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DD498CD-27D2-914B-2DD4-2A03F5D10241}"/>
              </a:ext>
            </a:extLst>
          </p:cNvPr>
          <p:cNvSpPr txBox="1"/>
          <p:nvPr/>
        </p:nvSpPr>
        <p:spPr>
          <a:xfrm>
            <a:off x="4508906" y="5188017"/>
            <a:ext cx="3173884" cy="923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Les acteurs majeurs de l’IA, Particuliers , les politiciens, les métiers créatifs.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A33725C-7F6C-A365-C2BD-2BDDDE03295E}"/>
              </a:ext>
            </a:extLst>
          </p:cNvPr>
          <p:cNvSpPr txBox="1"/>
          <p:nvPr/>
        </p:nvSpPr>
        <p:spPr>
          <a:xfrm>
            <a:off x="8286291" y="5034013"/>
            <a:ext cx="324477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Les entreprises, le consommateur. 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TEMPLATE 4 / 5</a:t>
            </a:r>
          </a:p>
        </p:txBody>
      </p:sp>
      <p:sp>
        <p:nvSpPr>
          <p:cNvPr id="129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L'amorçage terrain</a:t>
            </a:r>
          </a:p>
        </p:txBody>
      </p:sp>
      <p:sp>
        <p:nvSpPr>
          <p:cNvPr id="130" name="Text 4"/>
          <p:cNvSpPr txBox="1"/>
          <p:nvPr/>
        </p:nvSpPr>
        <p:spPr>
          <a:xfrm>
            <a:off x="530057" y="1647082"/>
            <a:ext cx="1087496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i="1">
                <a:solidFill>
                  <a:srgbClr val="6E6E6E"/>
                </a:solidFill>
              </a:defRPr>
            </a:lvl1pPr>
          </a:lstStyle>
          <a:p>
            <a:r>
              <a:t>N’imaginez pas le quotidien de vos utilisateurs, rencontrez ceux accessibles dès aujourd’hui et écoutez.</a:t>
            </a:r>
          </a:p>
        </p:txBody>
      </p:sp>
      <p:sp>
        <p:nvSpPr>
          <p:cNvPr id="131" name="Shape 6"/>
          <p:cNvSpPr/>
          <p:nvPr/>
        </p:nvSpPr>
        <p:spPr>
          <a:xfrm>
            <a:off x="566928" y="2324606"/>
            <a:ext cx="5368900" cy="86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2" name="Text 7"/>
          <p:cNvSpPr txBox="1"/>
          <p:nvPr/>
        </p:nvSpPr>
        <p:spPr>
          <a:xfrm>
            <a:off x="694944" y="2494094"/>
            <a:ext cx="3200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1.</a:t>
            </a:r>
          </a:p>
        </p:txBody>
      </p:sp>
      <p:sp>
        <p:nvSpPr>
          <p:cNvPr id="133" name="Text 8"/>
          <p:cNvSpPr txBox="1"/>
          <p:nvPr/>
        </p:nvSpPr>
        <p:spPr>
          <a:xfrm>
            <a:off x="1042416" y="2531793"/>
            <a:ext cx="47745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Nom / rôle  —  comment on l'atteint (mail, DM, sur place…)</a:t>
            </a:r>
          </a:p>
        </p:txBody>
      </p:sp>
      <p:sp>
        <p:nvSpPr>
          <p:cNvPr id="134" name="Shape 9"/>
          <p:cNvSpPr/>
          <p:nvPr/>
        </p:nvSpPr>
        <p:spPr>
          <a:xfrm>
            <a:off x="566928" y="3472688"/>
            <a:ext cx="5368900" cy="8623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5" name="Text 10"/>
          <p:cNvSpPr txBox="1"/>
          <p:nvPr/>
        </p:nvSpPr>
        <p:spPr>
          <a:xfrm>
            <a:off x="694944" y="3642173"/>
            <a:ext cx="32004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2.</a:t>
            </a:r>
          </a:p>
        </p:txBody>
      </p:sp>
      <p:sp>
        <p:nvSpPr>
          <p:cNvPr id="136" name="Text 11"/>
          <p:cNvSpPr txBox="1"/>
          <p:nvPr/>
        </p:nvSpPr>
        <p:spPr>
          <a:xfrm>
            <a:off x="1042416" y="3679873"/>
            <a:ext cx="47745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Nom / rôle  —  comment on l'atteint (mail, DM, sur place…)</a:t>
            </a:r>
          </a:p>
        </p:txBody>
      </p:sp>
      <p:sp>
        <p:nvSpPr>
          <p:cNvPr id="137" name="Shape 12"/>
          <p:cNvSpPr/>
          <p:nvPr/>
        </p:nvSpPr>
        <p:spPr>
          <a:xfrm>
            <a:off x="566928" y="4620767"/>
            <a:ext cx="5368900" cy="86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38" name="Text 13"/>
          <p:cNvSpPr txBox="1"/>
          <p:nvPr/>
        </p:nvSpPr>
        <p:spPr>
          <a:xfrm>
            <a:off x="694944" y="4777554"/>
            <a:ext cx="3200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3.</a:t>
            </a:r>
          </a:p>
        </p:txBody>
      </p:sp>
      <p:sp>
        <p:nvSpPr>
          <p:cNvPr id="139" name="Text 14"/>
          <p:cNvSpPr txBox="1"/>
          <p:nvPr/>
        </p:nvSpPr>
        <p:spPr>
          <a:xfrm>
            <a:off x="1042416" y="4827954"/>
            <a:ext cx="47745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i="1">
                <a:solidFill>
                  <a:srgbClr val="9A9A9A"/>
                </a:solidFill>
              </a:defRPr>
            </a:lvl1pPr>
          </a:lstStyle>
          <a:p>
            <a:r>
              <a:t>Nom / rôle  —  comment on l'atteint (mail, DM, sur place…)</a:t>
            </a:r>
          </a:p>
        </p:txBody>
      </p:sp>
      <p:sp>
        <p:nvSpPr>
          <p:cNvPr id="140" name="Shape 15"/>
          <p:cNvSpPr/>
          <p:nvPr/>
        </p:nvSpPr>
        <p:spPr>
          <a:xfrm>
            <a:off x="6255868" y="2304469"/>
            <a:ext cx="5368900" cy="185169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 dirty="0"/>
          </a:p>
        </p:txBody>
      </p:sp>
      <p:sp>
        <p:nvSpPr>
          <p:cNvPr id="141" name="Text 16"/>
          <p:cNvSpPr txBox="1"/>
          <p:nvPr/>
        </p:nvSpPr>
        <p:spPr>
          <a:xfrm>
            <a:off x="6438748" y="2495729"/>
            <a:ext cx="500314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CE QU'ON CHERCHE À COMPRENDRE</a:t>
            </a:r>
          </a:p>
        </p:txBody>
      </p:sp>
      <p:sp>
        <p:nvSpPr>
          <p:cNvPr id="142" name="Text 17"/>
          <p:cNvSpPr txBox="1"/>
          <p:nvPr/>
        </p:nvSpPr>
        <p:spPr>
          <a:xfrm>
            <a:off x="6438748" y="2715948"/>
            <a:ext cx="50031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Quelles questions souhaitez-vous poser ?</a:t>
            </a:r>
          </a:p>
        </p:txBody>
      </p:sp>
      <p:sp>
        <p:nvSpPr>
          <p:cNvPr id="143" name="Shape 18"/>
          <p:cNvSpPr/>
          <p:nvPr/>
        </p:nvSpPr>
        <p:spPr>
          <a:xfrm>
            <a:off x="6255868" y="4400296"/>
            <a:ext cx="5368900" cy="17938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4" name="Text 19"/>
          <p:cNvSpPr txBox="1"/>
          <p:nvPr/>
        </p:nvSpPr>
        <p:spPr>
          <a:xfrm>
            <a:off x="6438748" y="4591556"/>
            <a:ext cx="5003142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12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PREMIERS RETOURS </a:t>
            </a:r>
          </a:p>
        </p:txBody>
      </p:sp>
      <p:sp>
        <p:nvSpPr>
          <p:cNvPr id="145" name="Text 20"/>
          <p:cNvSpPr txBox="1"/>
          <p:nvPr/>
        </p:nvSpPr>
        <p:spPr>
          <a:xfrm>
            <a:off x="6438748" y="4811776"/>
            <a:ext cx="50031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rgbClr val="6E6E6E"/>
                </a:solidFill>
              </a:defRPr>
            </a:lvl1pPr>
          </a:lstStyle>
          <a:p>
            <a:r>
              <a:t>Qu’avez-vous retenu de ces échanges ? </a:t>
            </a:r>
          </a:p>
        </p:txBody>
      </p:sp>
      <p:pic>
        <p:nvPicPr>
          <p:cNvPr id="14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 23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148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9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A51CE7-91D2-B967-1953-9C144360500A}"/>
              </a:ext>
            </a:extLst>
          </p:cNvPr>
          <p:cNvSpPr txBox="1"/>
          <p:nvPr/>
        </p:nvSpPr>
        <p:spPr>
          <a:xfrm>
            <a:off x="6255867" y="2848957"/>
            <a:ext cx="5794961" cy="2308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Utilisez vous l’IA dans votre travail, un abonnement payant ou gratuit et à quelle fréquence?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L’IA est il une force ou une faiblesse pour votre métier?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Pensez vous que ca vous fait perdre ou gagner de l’argent?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Etes vous prêt à former dans le futur?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Vous sentez vous menacer si oui dans combien de temps? 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2B983B-13F2-1A8C-DD59-F6E21DED5DE8}"/>
              </a:ext>
            </a:extLst>
          </p:cNvPr>
          <p:cNvSpPr txBox="1"/>
          <p:nvPr/>
        </p:nvSpPr>
        <p:spPr>
          <a:xfrm>
            <a:off x="1042416" y="2872814"/>
            <a:ext cx="4049348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Designer : par appel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DA8AFC-83C5-54AE-A6DA-E153FD9A35A3}"/>
              </a:ext>
            </a:extLst>
          </p:cNvPr>
          <p:cNvSpPr txBox="1"/>
          <p:nvPr/>
        </p:nvSpPr>
        <p:spPr>
          <a:xfrm>
            <a:off x="1014986" y="4061861"/>
            <a:ext cx="4586917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Directeur artistique: par message </a:t>
            </a:r>
            <a:endParaRPr kumimoji="0" lang="fr-F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6BD461-5B94-1601-9C10-CE2BAF315C4A}"/>
              </a:ext>
            </a:extLst>
          </p:cNvPr>
          <p:cNvSpPr txBox="1"/>
          <p:nvPr/>
        </p:nvSpPr>
        <p:spPr>
          <a:xfrm>
            <a:off x="1042416" y="5054253"/>
            <a:ext cx="3590223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Photographe: par message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1"/>
          <p:cNvSpPr txBox="1"/>
          <p:nvPr/>
        </p:nvSpPr>
        <p:spPr>
          <a:xfrm>
            <a:off x="566927" y="547530"/>
            <a:ext cx="1143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152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TEMPLATE 5 / 5</a:t>
            </a:r>
          </a:p>
        </p:txBody>
      </p:sp>
      <p:sp>
        <p:nvSpPr>
          <p:cNvPr id="153" name="Text 3"/>
          <p:cNvSpPr txBox="1"/>
          <p:nvPr/>
        </p:nvSpPr>
        <p:spPr>
          <a:xfrm>
            <a:off x="566926" y="1005838"/>
            <a:ext cx="110578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mini plan d'action</a:t>
            </a:r>
          </a:p>
        </p:txBody>
      </p:sp>
      <p:sp>
        <p:nvSpPr>
          <p:cNvPr id="154" name="Text 4"/>
          <p:cNvSpPr txBox="1"/>
          <p:nvPr/>
        </p:nvSpPr>
        <p:spPr>
          <a:xfrm>
            <a:off x="566927" y="1755648"/>
            <a:ext cx="108749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500" i="1">
                <a:solidFill>
                  <a:srgbClr val="6E6E6E"/>
                </a:solidFill>
              </a:defRPr>
            </a:lvl1pPr>
          </a:lstStyle>
          <a:p>
            <a:r>
              <a:t>Concrètement, qu’avez-vous prévu de faire après le coaching pour avancer sur votre projet.</a:t>
            </a:r>
          </a:p>
        </p:txBody>
      </p:sp>
      <p:sp>
        <p:nvSpPr>
          <p:cNvPr id="155" name="Shape 5"/>
          <p:cNvSpPr/>
          <p:nvPr/>
        </p:nvSpPr>
        <p:spPr>
          <a:xfrm>
            <a:off x="566927" y="2240278"/>
            <a:ext cx="3503068" cy="31821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6" name="Shape 6"/>
          <p:cNvSpPr/>
          <p:nvPr/>
        </p:nvSpPr>
        <p:spPr>
          <a:xfrm>
            <a:off x="731519" y="2404872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7" name="Text 7"/>
          <p:cNvSpPr txBox="1"/>
          <p:nvPr/>
        </p:nvSpPr>
        <p:spPr>
          <a:xfrm>
            <a:off x="731519" y="2495800"/>
            <a:ext cx="502920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1</a:t>
            </a:r>
          </a:p>
        </p:txBody>
      </p:sp>
      <p:sp>
        <p:nvSpPr>
          <p:cNvPr id="158" name="Text 8"/>
          <p:cNvSpPr txBox="1"/>
          <p:nvPr/>
        </p:nvSpPr>
        <p:spPr>
          <a:xfrm>
            <a:off x="1344166" y="2551496"/>
            <a:ext cx="258866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Notre 1ᵉʳ pas</a:t>
            </a:r>
          </a:p>
        </p:txBody>
      </p:sp>
      <p:sp>
        <p:nvSpPr>
          <p:cNvPr id="159" name="Text 9"/>
          <p:cNvSpPr txBox="1"/>
          <p:nvPr/>
        </p:nvSpPr>
        <p:spPr>
          <a:xfrm>
            <a:off x="749808" y="3141771"/>
            <a:ext cx="31373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QUOI ?</a:t>
            </a:r>
          </a:p>
        </p:txBody>
      </p:sp>
      <p:sp>
        <p:nvSpPr>
          <p:cNvPr id="160" name="Text 10"/>
          <p:cNvSpPr txBox="1"/>
          <p:nvPr/>
        </p:nvSpPr>
        <p:spPr>
          <a:xfrm>
            <a:off x="1298447" y="3165899"/>
            <a:ext cx="2588667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9A9A9A"/>
                </a:solidFill>
              </a:defRPr>
            </a:lvl1pPr>
          </a:lstStyle>
          <a:p>
            <a:r>
              <a:t>l'action concrète</a:t>
            </a:r>
          </a:p>
        </p:txBody>
      </p:sp>
      <p:sp>
        <p:nvSpPr>
          <p:cNvPr id="161" name="Text 12"/>
          <p:cNvSpPr txBox="1"/>
          <p:nvPr/>
        </p:nvSpPr>
        <p:spPr>
          <a:xfrm>
            <a:off x="749808" y="3979971"/>
            <a:ext cx="31373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?</a:t>
            </a:r>
          </a:p>
        </p:txBody>
      </p:sp>
      <p:sp>
        <p:nvSpPr>
          <p:cNvPr id="162" name="Text 15"/>
          <p:cNvSpPr txBox="1"/>
          <p:nvPr/>
        </p:nvSpPr>
        <p:spPr>
          <a:xfrm>
            <a:off x="749808" y="4818171"/>
            <a:ext cx="313730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QUAND ?</a:t>
            </a:r>
          </a:p>
        </p:txBody>
      </p:sp>
      <p:sp>
        <p:nvSpPr>
          <p:cNvPr id="163" name="Shape 18"/>
          <p:cNvSpPr/>
          <p:nvPr/>
        </p:nvSpPr>
        <p:spPr>
          <a:xfrm>
            <a:off x="4338115" y="2240278"/>
            <a:ext cx="3503069" cy="31821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4" name="Shape 19"/>
          <p:cNvSpPr/>
          <p:nvPr/>
        </p:nvSpPr>
        <p:spPr>
          <a:xfrm>
            <a:off x="4508906" y="2404872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5" name="Text 20"/>
          <p:cNvSpPr txBox="1"/>
          <p:nvPr/>
        </p:nvSpPr>
        <p:spPr>
          <a:xfrm>
            <a:off x="4508906" y="2495800"/>
            <a:ext cx="502920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2</a:t>
            </a:r>
          </a:p>
        </p:txBody>
      </p:sp>
      <p:sp>
        <p:nvSpPr>
          <p:cNvPr id="166" name="Text 21"/>
          <p:cNvSpPr txBox="1"/>
          <p:nvPr/>
        </p:nvSpPr>
        <p:spPr>
          <a:xfrm>
            <a:off x="5121554" y="2551496"/>
            <a:ext cx="258866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Notre 2ᵉ pas</a:t>
            </a:r>
          </a:p>
        </p:txBody>
      </p:sp>
      <p:sp>
        <p:nvSpPr>
          <p:cNvPr id="167" name="Shape 31"/>
          <p:cNvSpPr/>
          <p:nvPr/>
        </p:nvSpPr>
        <p:spPr>
          <a:xfrm>
            <a:off x="8121701" y="2240278"/>
            <a:ext cx="3503068" cy="31821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8" name="Shape 32"/>
          <p:cNvSpPr/>
          <p:nvPr/>
        </p:nvSpPr>
        <p:spPr>
          <a:xfrm>
            <a:off x="8286291" y="2404872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9" name="Text 33"/>
          <p:cNvSpPr txBox="1"/>
          <p:nvPr/>
        </p:nvSpPr>
        <p:spPr>
          <a:xfrm>
            <a:off x="8286291" y="2495800"/>
            <a:ext cx="502920" cy="32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3</a:t>
            </a:r>
          </a:p>
        </p:txBody>
      </p:sp>
      <p:sp>
        <p:nvSpPr>
          <p:cNvPr id="170" name="Text 34"/>
          <p:cNvSpPr txBox="1"/>
          <p:nvPr/>
        </p:nvSpPr>
        <p:spPr>
          <a:xfrm>
            <a:off x="8898941" y="2551496"/>
            <a:ext cx="258866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Notre 3ᵉ pas</a:t>
            </a:r>
          </a:p>
        </p:txBody>
      </p:sp>
      <p:sp>
        <p:nvSpPr>
          <p:cNvPr id="171" name="Text 45"/>
          <p:cNvSpPr txBox="1"/>
          <p:nvPr/>
        </p:nvSpPr>
        <p:spPr>
          <a:xfrm>
            <a:off x="780186" y="5908311"/>
            <a:ext cx="10618928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sz="1500" b="1">
                <a:solidFill>
                  <a:srgbClr val="111111"/>
                </a:solidFill>
              </a:defRPr>
            </a:pPr>
            <a:r>
              <a:t>UN BON 1ᵉʳ PAS </a:t>
            </a:r>
            <a:r>
              <a:rPr b="0"/>
              <a:t>est petit, précis, faisable tout de suite. Challenger ces mini-étapes avec vote coach.</a:t>
            </a:r>
          </a:p>
        </p:txBody>
      </p:sp>
      <p:pic>
        <p:nvPicPr>
          <p:cNvPr id="1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 46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174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5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176" name="Ligne"/>
          <p:cNvSpPr/>
          <p:nvPr/>
        </p:nvSpPr>
        <p:spPr>
          <a:xfrm flipV="1">
            <a:off x="624715" y="5795771"/>
            <a:ext cx="2" cy="321062"/>
          </a:xfrm>
          <a:prstGeom prst="line">
            <a:avLst/>
          </a:prstGeom>
          <a:ln w="88900">
            <a:solidFill>
              <a:srgbClr val="3E6AF6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7" name="Text 9"/>
          <p:cNvSpPr txBox="1"/>
          <p:nvPr/>
        </p:nvSpPr>
        <p:spPr>
          <a:xfrm>
            <a:off x="4527193" y="3165900"/>
            <a:ext cx="31373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QUOI ?</a:t>
            </a:r>
          </a:p>
        </p:txBody>
      </p:sp>
      <p:sp>
        <p:nvSpPr>
          <p:cNvPr id="178" name="Text 10"/>
          <p:cNvSpPr txBox="1"/>
          <p:nvPr/>
        </p:nvSpPr>
        <p:spPr>
          <a:xfrm>
            <a:off x="5075832" y="3190030"/>
            <a:ext cx="258866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9A9A9A"/>
                </a:solidFill>
              </a:defRPr>
            </a:lvl1pPr>
          </a:lstStyle>
          <a:p>
            <a:r>
              <a:t>l'action concrète</a:t>
            </a:r>
          </a:p>
        </p:txBody>
      </p:sp>
      <p:sp>
        <p:nvSpPr>
          <p:cNvPr id="179" name="Text 12"/>
          <p:cNvSpPr txBox="1"/>
          <p:nvPr/>
        </p:nvSpPr>
        <p:spPr>
          <a:xfrm>
            <a:off x="4527193" y="4004100"/>
            <a:ext cx="31373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?</a:t>
            </a:r>
          </a:p>
        </p:txBody>
      </p:sp>
      <p:sp>
        <p:nvSpPr>
          <p:cNvPr id="180" name="Text 15"/>
          <p:cNvSpPr txBox="1"/>
          <p:nvPr/>
        </p:nvSpPr>
        <p:spPr>
          <a:xfrm>
            <a:off x="4527193" y="4842300"/>
            <a:ext cx="31373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QUAND ?</a:t>
            </a:r>
          </a:p>
        </p:txBody>
      </p:sp>
      <p:sp>
        <p:nvSpPr>
          <p:cNvPr id="181" name="Text 9"/>
          <p:cNvSpPr txBox="1"/>
          <p:nvPr/>
        </p:nvSpPr>
        <p:spPr>
          <a:xfrm>
            <a:off x="8304579" y="3163678"/>
            <a:ext cx="3137308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QUOI ?</a:t>
            </a:r>
          </a:p>
        </p:txBody>
      </p:sp>
      <p:sp>
        <p:nvSpPr>
          <p:cNvPr id="182" name="Text 10"/>
          <p:cNvSpPr txBox="1"/>
          <p:nvPr/>
        </p:nvSpPr>
        <p:spPr>
          <a:xfrm>
            <a:off x="8853220" y="3187807"/>
            <a:ext cx="2588668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i="1">
                <a:solidFill>
                  <a:srgbClr val="9A9A9A"/>
                </a:solidFill>
              </a:defRPr>
            </a:lvl1pPr>
          </a:lstStyle>
          <a:p>
            <a:r>
              <a:t>l'action concrète</a:t>
            </a:r>
          </a:p>
        </p:txBody>
      </p:sp>
      <p:sp>
        <p:nvSpPr>
          <p:cNvPr id="183" name="Text 12"/>
          <p:cNvSpPr txBox="1"/>
          <p:nvPr/>
        </p:nvSpPr>
        <p:spPr>
          <a:xfrm>
            <a:off x="8304579" y="4001878"/>
            <a:ext cx="3137308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QUI ?</a:t>
            </a:r>
          </a:p>
        </p:txBody>
      </p:sp>
      <p:sp>
        <p:nvSpPr>
          <p:cNvPr id="184" name="Text 15"/>
          <p:cNvSpPr txBox="1"/>
          <p:nvPr/>
        </p:nvSpPr>
        <p:spPr>
          <a:xfrm>
            <a:off x="8304579" y="4840078"/>
            <a:ext cx="3137308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 spc="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QUAND ?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2"/>
          <p:cNvSpPr txBox="1"/>
          <p:nvPr/>
        </p:nvSpPr>
        <p:spPr>
          <a:xfrm>
            <a:off x="5046390" y="2508062"/>
            <a:ext cx="6771753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Journal IA - 1 réponse par équipe </a:t>
            </a:r>
          </a:p>
        </p:txBody>
      </p:sp>
      <p:sp>
        <p:nvSpPr>
          <p:cNvPr id="187" name="Text 3"/>
          <p:cNvSpPr txBox="1"/>
          <p:nvPr/>
        </p:nvSpPr>
        <p:spPr>
          <a:xfrm>
            <a:off x="5070604" y="3236939"/>
            <a:ext cx="3289957" cy="875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i="1">
                <a:solidFill>
                  <a:srgbClr val="6E6E6E"/>
                </a:solidFill>
              </a:defRPr>
            </a:lvl1pPr>
          </a:lstStyle>
          <a:p>
            <a:r>
              <a:t>Il ne s’agit pas d’évaluer votre utilisation de l’IA, mais d’observer comment l’IA influence concrètement votre travail et de vous aider à prendre du recul sur l’usage.</a:t>
            </a:r>
          </a:p>
        </p:txBody>
      </p:sp>
      <p:sp>
        <p:nvSpPr>
          <p:cNvPr id="188" name="Shape 25"/>
          <p:cNvSpPr/>
          <p:nvPr/>
        </p:nvSpPr>
        <p:spPr>
          <a:xfrm>
            <a:off x="587720" y="2100027"/>
            <a:ext cx="3270908" cy="42033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8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81" y="2358662"/>
            <a:ext cx="274322" cy="274322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 26"/>
          <p:cNvSpPr txBox="1"/>
          <p:nvPr/>
        </p:nvSpPr>
        <p:spPr>
          <a:xfrm>
            <a:off x="1121291" y="2507348"/>
            <a:ext cx="2602317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 b="1" spc="7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LE QUESTIONNAIRE INDIVIDUEL </a:t>
            </a:r>
          </a:p>
        </p:txBody>
      </p:sp>
      <p:pic>
        <p:nvPicPr>
          <p:cNvPr id="19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7" y="6382510"/>
            <a:ext cx="868682" cy="223116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28"/>
          <p:cNvSpPr txBox="1"/>
          <p:nvPr/>
        </p:nvSpPr>
        <p:spPr>
          <a:xfrm>
            <a:off x="8515807" y="6428738"/>
            <a:ext cx="3108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 b="1" spc="200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IDDIC 2026  ·  BREAKING AI</a:t>
            </a:r>
          </a:p>
        </p:txBody>
      </p:sp>
      <p:sp>
        <p:nvSpPr>
          <p:cNvPr id="193" name="Text 2"/>
          <p:cNvSpPr txBox="1"/>
          <p:nvPr/>
        </p:nvSpPr>
        <p:spPr>
          <a:xfrm>
            <a:off x="566926" y="877959"/>
            <a:ext cx="6496421" cy="85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Deux questionnaires doivent être complétés à la fin du jour 1 </a:t>
            </a:r>
          </a:p>
        </p:txBody>
      </p:sp>
      <p:sp>
        <p:nvSpPr>
          <p:cNvPr id="194" name="Text 1"/>
          <p:cNvSpPr txBox="1"/>
          <p:nvPr/>
        </p:nvSpPr>
        <p:spPr>
          <a:xfrm>
            <a:off x="566927" y="547530"/>
            <a:ext cx="11430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2E6B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195" name="Text 2"/>
          <p:cNvSpPr txBox="1"/>
          <p:nvPr/>
        </p:nvSpPr>
        <p:spPr>
          <a:xfrm>
            <a:off x="1865376" y="553672"/>
            <a:ext cx="6400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 spc="3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QUESTIONNAIRES</a:t>
            </a:r>
          </a:p>
        </p:txBody>
      </p:sp>
      <p:sp>
        <p:nvSpPr>
          <p:cNvPr id="196" name="Shape 0"/>
          <p:cNvSpPr/>
          <p:nvPr/>
        </p:nvSpPr>
        <p:spPr>
          <a:xfrm>
            <a:off x="566927" y="457200"/>
            <a:ext cx="1207011" cy="36576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 w="12700"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97" name="Text 1"/>
          <p:cNvSpPr txBox="1"/>
          <p:nvPr/>
        </p:nvSpPr>
        <p:spPr>
          <a:xfrm>
            <a:off x="566927" y="547530"/>
            <a:ext cx="120701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 b="1" spc="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JOUR 1</a:t>
            </a:r>
          </a:p>
        </p:txBody>
      </p:sp>
      <p:sp>
        <p:nvSpPr>
          <p:cNvPr id="198" name="Text 26"/>
          <p:cNvSpPr txBox="1"/>
          <p:nvPr/>
        </p:nvSpPr>
        <p:spPr>
          <a:xfrm>
            <a:off x="827100" y="5705739"/>
            <a:ext cx="2792148" cy="45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 b="1" spc="7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NOTER VOTRE NUMERO DE SUIVI.</a:t>
            </a:r>
            <a:br/>
            <a:r>
              <a:t>IL SERA NÉCESSAIRE À LA FIN DE L’IDDIC</a:t>
            </a:r>
          </a:p>
        </p:txBody>
      </p:sp>
      <p:sp>
        <p:nvSpPr>
          <p:cNvPr id="199" name="Text 3"/>
          <p:cNvSpPr txBox="1"/>
          <p:nvPr/>
        </p:nvSpPr>
        <p:spPr>
          <a:xfrm>
            <a:off x="827100" y="2765726"/>
            <a:ext cx="279214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 i="1">
                <a:solidFill>
                  <a:srgbClr val="6E6E6E"/>
                </a:solidFill>
              </a:defRPr>
            </a:lvl1pPr>
          </a:lstStyle>
          <a:p>
            <a:r>
              <a:t>A remplir une seule fois par étudiant</a:t>
            </a:r>
          </a:p>
        </p:txBody>
      </p:sp>
      <p:pic>
        <p:nvPicPr>
          <p:cNvPr id="200" name="vidéo-collée.png" descr="vidéo-collé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02" y="3179227"/>
            <a:ext cx="2281377" cy="23023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vidéo-collée.png" descr="vidéo-collé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213" y="3090233"/>
            <a:ext cx="2792148" cy="2759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Personnalisé</PresentationFormat>
  <Paragraphs>139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Levana</dc:creator>
  <cp:lastModifiedBy>BENISTI Levana</cp:lastModifiedBy>
  <cp:revision>1</cp:revision>
  <dcterms:modified xsi:type="dcterms:W3CDTF">2026-09-01T10:49:07Z</dcterms:modified>
</cp:coreProperties>
</file>